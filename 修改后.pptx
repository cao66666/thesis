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p:sldMasterIdLst>
    <p:sldMasterId id="2147483687" r:id="rId1"/>
  </p:sldMasterIdLst>
  <p:notesMasterIdLst>
    <p:notesMasterId r:id="rId22"/>
  </p:notesMasterIdLst>
  <p:handoutMasterIdLst>
    <p:handoutMasterId r:id="rId23"/>
  </p:handoutMasterIdLst>
  <p:sldIdLst>
    <p:sldId id="570" r:id="rId2"/>
    <p:sldId id="511" r:id="rId3"/>
    <p:sldId id="588" r:id="rId4"/>
    <p:sldId id="605" r:id="rId5"/>
    <p:sldId id="594" r:id="rId6"/>
    <p:sldId id="606" r:id="rId7"/>
    <p:sldId id="607" r:id="rId8"/>
    <p:sldId id="608" r:id="rId9"/>
    <p:sldId id="586" r:id="rId10"/>
    <p:sldId id="610" r:id="rId11"/>
    <p:sldId id="609" r:id="rId12"/>
    <p:sldId id="611" r:id="rId13"/>
    <p:sldId id="591" r:id="rId14"/>
    <p:sldId id="612" r:id="rId15"/>
    <p:sldId id="613" r:id="rId16"/>
    <p:sldId id="601" r:id="rId17"/>
    <p:sldId id="587" r:id="rId18"/>
    <p:sldId id="597" r:id="rId19"/>
    <p:sldId id="590" r:id="rId20"/>
    <p:sldId id="604" r:id="rId21"/>
  </p:sldIdLst>
  <p:sldSz cx="11520488" cy="6480175"/>
  <p:notesSz cx="6858000" cy="9144000"/>
  <p:embeddedFontLst>
    <p:embeddedFont>
      <p:font typeface="等线" panose="02010600030101010101" pitchFamily="2" charset="-122"/>
      <p:regular r:id="rId24"/>
      <p:bold r:id="rId25"/>
    </p:embeddedFont>
    <p:embeddedFont>
      <p:font typeface="微软雅黑" panose="020B0503020204020204" pitchFamily="34" charset="-122"/>
      <p:regular r:id="rId26"/>
      <p:bold r:id="rId27"/>
    </p:embeddedFont>
    <p:embeddedFont>
      <p:font typeface="Impact" panose="020B0806030902050204" pitchFamily="34" charset="0"/>
      <p:regular r:id="rId28"/>
    </p:embeddedFont>
  </p:embeddedFontLst>
  <p:custDataLst>
    <p:tags r:id="rId29"/>
  </p:custDataLst>
  <p:defaultTextStyle>
    <a:defPPr>
      <a:defRPr lang="en-US"/>
    </a:defPPr>
    <a:lvl1pPr algn="ctr" rtl="0" fontAlgn="base">
      <a:spcBef>
        <a:spcPct val="0"/>
      </a:spcBef>
      <a:spcAft>
        <a:spcPct val="0"/>
      </a:spcAft>
      <a:defRPr b="1" kern="1200">
        <a:solidFill>
          <a:schemeClr val="tx1"/>
        </a:solidFill>
        <a:latin typeface="Arial" pitchFamily="34" charset="0"/>
        <a:ea typeface="黑体" pitchFamily="49" charset="-122"/>
        <a:cs typeface="+mn-cs"/>
      </a:defRPr>
    </a:lvl1pPr>
    <a:lvl2pPr marL="575815" algn="ctr" rtl="0" fontAlgn="base">
      <a:spcBef>
        <a:spcPct val="0"/>
      </a:spcBef>
      <a:spcAft>
        <a:spcPct val="0"/>
      </a:spcAft>
      <a:defRPr b="1" kern="1200">
        <a:solidFill>
          <a:schemeClr val="tx1"/>
        </a:solidFill>
        <a:latin typeface="Arial" pitchFamily="34" charset="0"/>
        <a:ea typeface="黑体" pitchFamily="49" charset="-122"/>
        <a:cs typeface="+mn-cs"/>
      </a:defRPr>
    </a:lvl2pPr>
    <a:lvl3pPr marL="1151628" algn="ctr" rtl="0" fontAlgn="base">
      <a:spcBef>
        <a:spcPct val="0"/>
      </a:spcBef>
      <a:spcAft>
        <a:spcPct val="0"/>
      </a:spcAft>
      <a:defRPr b="1" kern="1200">
        <a:solidFill>
          <a:schemeClr val="tx1"/>
        </a:solidFill>
        <a:latin typeface="Arial" pitchFamily="34" charset="0"/>
        <a:ea typeface="黑体" pitchFamily="49" charset="-122"/>
        <a:cs typeface="+mn-cs"/>
      </a:defRPr>
    </a:lvl3pPr>
    <a:lvl4pPr marL="1727443" algn="ctr" rtl="0" fontAlgn="base">
      <a:spcBef>
        <a:spcPct val="0"/>
      </a:spcBef>
      <a:spcAft>
        <a:spcPct val="0"/>
      </a:spcAft>
      <a:defRPr b="1" kern="1200">
        <a:solidFill>
          <a:schemeClr val="tx1"/>
        </a:solidFill>
        <a:latin typeface="Arial" pitchFamily="34" charset="0"/>
        <a:ea typeface="黑体" pitchFamily="49" charset="-122"/>
        <a:cs typeface="+mn-cs"/>
      </a:defRPr>
    </a:lvl4pPr>
    <a:lvl5pPr marL="2303258" algn="ctr" rtl="0" fontAlgn="base">
      <a:spcBef>
        <a:spcPct val="0"/>
      </a:spcBef>
      <a:spcAft>
        <a:spcPct val="0"/>
      </a:spcAft>
      <a:defRPr b="1" kern="1200">
        <a:solidFill>
          <a:schemeClr val="tx1"/>
        </a:solidFill>
        <a:latin typeface="Arial" pitchFamily="34" charset="0"/>
        <a:ea typeface="黑体" pitchFamily="49" charset="-122"/>
        <a:cs typeface="+mn-cs"/>
      </a:defRPr>
    </a:lvl5pPr>
    <a:lvl6pPr marL="2879073" algn="l" defTabSz="1151628" rtl="0" eaLnBrk="1" latinLnBrk="0" hangingPunct="1">
      <a:defRPr b="1" kern="1200">
        <a:solidFill>
          <a:schemeClr val="tx1"/>
        </a:solidFill>
        <a:latin typeface="Arial" pitchFamily="34" charset="0"/>
        <a:ea typeface="黑体" pitchFamily="49" charset="-122"/>
        <a:cs typeface="+mn-cs"/>
      </a:defRPr>
    </a:lvl6pPr>
    <a:lvl7pPr marL="3454888" algn="l" defTabSz="1151628" rtl="0" eaLnBrk="1" latinLnBrk="0" hangingPunct="1">
      <a:defRPr b="1" kern="1200">
        <a:solidFill>
          <a:schemeClr val="tx1"/>
        </a:solidFill>
        <a:latin typeface="Arial" pitchFamily="34" charset="0"/>
        <a:ea typeface="黑体" pitchFamily="49" charset="-122"/>
        <a:cs typeface="+mn-cs"/>
      </a:defRPr>
    </a:lvl7pPr>
    <a:lvl8pPr marL="4030702" algn="l" defTabSz="1151628" rtl="0" eaLnBrk="1" latinLnBrk="0" hangingPunct="1">
      <a:defRPr b="1" kern="1200">
        <a:solidFill>
          <a:schemeClr val="tx1"/>
        </a:solidFill>
        <a:latin typeface="Arial" pitchFamily="34" charset="0"/>
        <a:ea typeface="黑体" pitchFamily="49" charset="-122"/>
        <a:cs typeface="+mn-cs"/>
      </a:defRPr>
    </a:lvl8pPr>
    <a:lvl9pPr marL="4606516" algn="l" defTabSz="1151628" rtl="0" eaLnBrk="1" latinLnBrk="0" hangingPunct="1">
      <a:defRPr b="1" kern="1200">
        <a:solidFill>
          <a:schemeClr val="tx1"/>
        </a:solidFill>
        <a:latin typeface="Arial" pitchFamily="34" charset="0"/>
        <a:ea typeface="黑体" pitchFamily="49" charset="-122"/>
        <a:cs typeface="+mn-cs"/>
      </a:defRPr>
    </a:lvl9pPr>
  </p:defaultTextStyle>
  <p:extLst>
    <p:ext uri="{EFAFB233-063F-42B5-8137-9DF3F51BA10A}">
      <p15:sldGuideLst xmlns:p15="http://schemas.microsoft.com/office/powerpoint/2012/main">
        <p15:guide id="1" orient="horz" pos="2042" userDrawn="1">
          <p15:clr>
            <a:srgbClr val="A4A3A4"/>
          </p15:clr>
        </p15:guide>
        <p15:guide id="2" pos="362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BD2"/>
    <a:srgbClr val="0282D0"/>
    <a:srgbClr val="004D86"/>
    <a:srgbClr val="0067B4"/>
    <a:srgbClr val="FF9900"/>
    <a:srgbClr val="0547A7"/>
    <a:srgbClr val="202A36"/>
    <a:srgbClr val="FFFFFF"/>
    <a:srgbClr val="FF6600"/>
    <a:srgbClr val="EAB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772" autoAdjust="0"/>
    <p:restoredTop sz="89111" autoAdjust="0"/>
  </p:normalViewPr>
  <p:slideViewPr>
    <p:cSldViewPr>
      <p:cViewPr varScale="1">
        <p:scale>
          <a:sx n="78" d="100"/>
          <a:sy n="78" d="100"/>
        </p:scale>
        <p:origin x="638" y="106"/>
      </p:cViewPr>
      <p:guideLst>
        <p:guide orient="horz" pos="2042"/>
        <p:guide pos="3629"/>
      </p:guideLst>
    </p:cSldViewPr>
  </p:slideViewPr>
  <p:notesTextViewPr>
    <p:cViewPr>
      <p:scale>
        <a:sx n="100" d="100"/>
        <a:sy n="100" d="100"/>
      </p:scale>
      <p:origin x="0" y="0"/>
    </p:cViewPr>
  </p:notesTextViewPr>
  <p:sorterViewPr>
    <p:cViewPr>
      <p:scale>
        <a:sx n="200" d="100"/>
        <a:sy n="200" d="100"/>
      </p:scale>
      <p:origin x="0" y="14736"/>
    </p:cViewPr>
  </p:sorterViewPr>
  <p:notesViewPr>
    <p:cSldViewPr>
      <p:cViewPr varScale="1">
        <p:scale>
          <a:sx n="80" d="100"/>
          <a:sy n="80" d="100"/>
        </p:scale>
        <p:origin x="-210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A1F06A6-C76E-4613-9D4A-F774CCB060B7}" type="datetimeFigureOut">
              <a:rPr lang="zh-CN" altLang="en-US" smtClean="0"/>
              <a:t>2026/9/16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E742805-9F79-4236-86D3-43973FCD73F4}" type="slidenum">
              <a:rPr lang="zh-CN" altLang="en-US" smtClean="0"/>
              <a:t>‹#›</a:t>
            </a:fld>
            <a:endParaRPr lang="zh-CN" altLang="en-US"/>
          </a:p>
        </p:txBody>
      </p:sp>
    </p:spTree>
    <p:extLst>
      <p:ext uri="{BB962C8B-B14F-4D97-AF65-F5344CB8AC3E}">
        <p14:creationId xmlns:p14="http://schemas.microsoft.com/office/powerpoint/2010/main" val="398443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b="0">
                <a:ea typeface="宋体" pitchFamily="2" charset="-122"/>
              </a:defRPr>
            </a:lvl1pPr>
          </a:lstStyle>
          <a:p>
            <a:endParaRPr lang="zh-CN" altLang="en-US"/>
          </a:p>
        </p:txBody>
      </p:sp>
      <p:sp>
        <p:nvSpPr>
          <p:cNvPr id="12800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ea typeface="宋体" pitchFamily="2" charset="-122"/>
              </a:defRPr>
            </a:lvl1pPr>
          </a:lstStyle>
          <a:p>
            <a:endParaRPr lang="en-US" altLang="zh-CN"/>
          </a:p>
        </p:txBody>
      </p:sp>
      <p:sp>
        <p:nvSpPr>
          <p:cNvPr id="12800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800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2800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b="0">
                <a:ea typeface="宋体" pitchFamily="2" charset="-122"/>
              </a:defRPr>
            </a:lvl1pPr>
          </a:lstStyle>
          <a:p>
            <a:endParaRPr lang="en-US" altLang="zh-CN"/>
          </a:p>
        </p:txBody>
      </p:sp>
      <p:sp>
        <p:nvSpPr>
          <p:cNvPr id="12800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ea typeface="宋体" pitchFamily="2" charset="-122"/>
              </a:defRPr>
            </a:lvl1pPr>
          </a:lstStyle>
          <a:p>
            <a:fld id="{20DEAE63-D6C4-437F-B8DA-DA689F991AA7}" type="slidenum">
              <a:rPr lang="zh-CN" altLang="en-US"/>
              <a:pPr/>
              <a:t>‹#›</a:t>
            </a:fld>
            <a:endParaRPr lang="en-US" altLang="zh-CN"/>
          </a:p>
        </p:txBody>
      </p:sp>
    </p:spTree>
    <p:extLst>
      <p:ext uri="{BB962C8B-B14F-4D97-AF65-F5344CB8AC3E}">
        <p14:creationId xmlns:p14="http://schemas.microsoft.com/office/powerpoint/2010/main" val="3631942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512" kern="1200">
        <a:solidFill>
          <a:schemeClr val="tx1"/>
        </a:solidFill>
        <a:latin typeface="Arial" pitchFamily="34" charset="0"/>
        <a:ea typeface="+mn-ea"/>
        <a:cs typeface="+mn-cs"/>
      </a:defRPr>
    </a:lvl1pPr>
    <a:lvl2pPr marL="575815" algn="l" rtl="0" fontAlgn="base">
      <a:spcBef>
        <a:spcPct val="30000"/>
      </a:spcBef>
      <a:spcAft>
        <a:spcPct val="0"/>
      </a:spcAft>
      <a:defRPr sz="1512" kern="1200">
        <a:solidFill>
          <a:schemeClr val="tx1"/>
        </a:solidFill>
        <a:latin typeface="Arial" pitchFamily="34" charset="0"/>
        <a:ea typeface="+mn-ea"/>
        <a:cs typeface="+mn-cs"/>
      </a:defRPr>
    </a:lvl2pPr>
    <a:lvl3pPr marL="1151628" algn="l" rtl="0" fontAlgn="base">
      <a:spcBef>
        <a:spcPct val="30000"/>
      </a:spcBef>
      <a:spcAft>
        <a:spcPct val="0"/>
      </a:spcAft>
      <a:defRPr sz="1512" kern="1200">
        <a:solidFill>
          <a:schemeClr val="tx1"/>
        </a:solidFill>
        <a:latin typeface="Arial" pitchFamily="34" charset="0"/>
        <a:ea typeface="+mn-ea"/>
        <a:cs typeface="+mn-cs"/>
      </a:defRPr>
    </a:lvl3pPr>
    <a:lvl4pPr marL="1727443" algn="l" rtl="0" fontAlgn="base">
      <a:spcBef>
        <a:spcPct val="30000"/>
      </a:spcBef>
      <a:spcAft>
        <a:spcPct val="0"/>
      </a:spcAft>
      <a:defRPr sz="1512" kern="1200">
        <a:solidFill>
          <a:schemeClr val="tx1"/>
        </a:solidFill>
        <a:latin typeface="Arial" pitchFamily="34" charset="0"/>
        <a:ea typeface="+mn-ea"/>
        <a:cs typeface="+mn-cs"/>
      </a:defRPr>
    </a:lvl4pPr>
    <a:lvl5pPr marL="2303258" algn="l" rtl="0" fontAlgn="base">
      <a:spcBef>
        <a:spcPct val="30000"/>
      </a:spcBef>
      <a:spcAft>
        <a:spcPct val="0"/>
      </a:spcAft>
      <a:defRPr sz="1512" kern="1200">
        <a:solidFill>
          <a:schemeClr val="tx1"/>
        </a:solidFill>
        <a:latin typeface="Arial" pitchFamily="34" charset="0"/>
        <a:ea typeface="+mn-ea"/>
        <a:cs typeface="+mn-cs"/>
      </a:defRPr>
    </a:lvl5pPr>
    <a:lvl6pPr marL="2879073" algn="l" defTabSz="1151628" rtl="0" eaLnBrk="1" latinLnBrk="0" hangingPunct="1">
      <a:defRPr sz="1512" kern="1200">
        <a:solidFill>
          <a:schemeClr val="tx1"/>
        </a:solidFill>
        <a:latin typeface="+mn-lt"/>
        <a:ea typeface="+mn-ea"/>
        <a:cs typeface="+mn-cs"/>
      </a:defRPr>
    </a:lvl6pPr>
    <a:lvl7pPr marL="3454888" algn="l" defTabSz="1151628" rtl="0" eaLnBrk="1" latinLnBrk="0" hangingPunct="1">
      <a:defRPr sz="1512" kern="1200">
        <a:solidFill>
          <a:schemeClr val="tx1"/>
        </a:solidFill>
        <a:latin typeface="+mn-lt"/>
        <a:ea typeface="+mn-ea"/>
        <a:cs typeface="+mn-cs"/>
      </a:defRPr>
    </a:lvl7pPr>
    <a:lvl8pPr marL="4030702" algn="l" defTabSz="1151628" rtl="0" eaLnBrk="1" latinLnBrk="0" hangingPunct="1">
      <a:defRPr sz="1512" kern="1200">
        <a:solidFill>
          <a:schemeClr val="tx1"/>
        </a:solidFill>
        <a:latin typeface="+mn-lt"/>
        <a:ea typeface="+mn-ea"/>
        <a:cs typeface="+mn-cs"/>
      </a:defRPr>
    </a:lvl8pPr>
    <a:lvl9pPr marL="4606516" algn="l" defTabSz="1151628" rtl="0" eaLnBrk="1" latinLnBrk="0" hangingPunct="1">
      <a:defRPr sz="151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21FD59-C920-460C-B1C9-0346C59420B0}" type="slidenum">
              <a:rPr lang="zh-CN" altLang="en-US" smtClean="0"/>
              <a:t>1</a:t>
            </a:fld>
            <a:endParaRPr lang="zh-CN" altLang="en-US"/>
          </a:p>
        </p:txBody>
      </p:sp>
    </p:spTree>
    <p:extLst>
      <p:ext uri="{BB962C8B-B14F-4D97-AF65-F5344CB8AC3E}">
        <p14:creationId xmlns:p14="http://schemas.microsoft.com/office/powerpoint/2010/main" val="2955868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DEAE63-D6C4-437F-B8DA-DA689F991AA7}" type="slidenum">
              <a:rPr lang="zh-CN" altLang="en-US" smtClean="0"/>
              <a:pPr/>
              <a:t>2</a:t>
            </a:fld>
            <a:endParaRPr lang="en-US" altLang="zh-CN"/>
          </a:p>
        </p:txBody>
      </p:sp>
    </p:spTree>
    <p:extLst>
      <p:ext uri="{BB962C8B-B14F-4D97-AF65-F5344CB8AC3E}">
        <p14:creationId xmlns:p14="http://schemas.microsoft.com/office/powerpoint/2010/main" val="3644387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3</a:t>
            </a:fld>
            <a:endParaRPr lang="zh-CN" altLang="en-US"/>
          </a:p>
        </p:txBody>
      </p:sp>
    </p:spTree>
    <p:extLst>
      <p:ext uri="{BB962C8B-B14F-4D97-AF65-F5344CB8AC3E}">
        <p14:creationId xmlns:p14="http://schemas.microsoft.com/office/powerpoint/2010/main" val="3401264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4</a:t>
            </a:fld>
            <a:endParaRPr lang="zh-CN" altLang="en-US"/>
          </a:p>
        </p:txBody>
      </p:sp>
    </p:spTree>
    <p:extLst>
      <p:ext uri="{BB962C8B-B14F-4D97-AF65-F5344CB8AC3E}">
        <p14:creationId xmlns:p14="http://schemas.microsoft.com/office/powerpoint/2010/main" val="42241120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5</a:t>
            </a:fld>
            <a:endParaRPr lang="zh-CN" altLang="en-US"/>
          </a:p>
        </p:txBody>
      </p:sp>
    </p:spTree>
    <p:extLst>
      <p:ext uri="{BB962C8B-B14F-4D97-AF65-F5344CB8AC3E}">
        <p14:creationId xmlns:p14="http://schemas.microsoft.com/office/powerpoint/2010/main" val="15392564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6</a:t>
            </a:fld>
            <a:endParaRPr lang="zh-CN" altLang="en-US"/>
          </a:p>
        </p:txBody>
      </p:sp>
    </p:spTree>
    <p:extLst>
      <p:ext uri="{BB962C8B-B14F-4D97-AF65-F5344CB8AC3E}">
        <p14:creationId xmlns:p14="http://schemas.microsoft.com/office/powerpoint/2010/main" val="3910790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7</a:t>
            </a:fld>
            <a:endParaRPr lang="zh-CN" altLang="en-US"/>
          </a:p>
        </p:txBody>
      </p:sp>
    </p:spTree>
    <p:extLst>
      <p:ext uri="{BB962C8B-B14F-4D97-AF65-F5344CB8AC3E}">
        <p14:creationId xmlns:p14="http://schemas.microsoft.com/office/powerpoint/2010/main" val="37766581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8</a:t>
            </a:fld>
            <a:endParaRPr lang="zh-CN" altLang="en-US"/>
          </a:p>
        </p:txBody>
      </p:sp>
    </p:spTree>
    <p:extLst>
      <p:ext uri="{BB962C8B-B14F-4D97-AF65-F5344CB8AC3E}">
        <p14:creationId xmlns:p14="http://schemas.microsoft.com/office/powerpoint/2010/main" val="11842301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9</a:t>
            </a:fld>
            <a:endParaRPr lang="zh-CN" altLang="en-US"/>
          </a:p>
        </p:txBody>
      </p:sp>
    </p:spTree>
    <p:extLst>
      <p:ext uri="{BB962C8B-B14F-4D97-AF65-F5344CB8AC3E}">
        <p14:creationId xmlns:p14="http://schemas.microsoft.com/office/powerpoint/2010/main" val="4071746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10</a:t>
            </a:fld>
            <a:endParaRPr lang="zh-CN" altLang="en-US"/>
          </a:p>
        </p:txBody>
      </p:sp>
    </p:spTree>
    <p:extLst>
      <p:ext uri="{BB962C8B-B14F-4D97-AF65-F5344CB8AC3E}">
        <p14:creationId xmlns:p14="http://schemas.microsoft.com/office/powerpoint/2010/main" val="34601448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11</a:t>
            </a:fld>
            <a:endParaRPr lang="zh-CN" altLang="en-US"/>
          </a:p>
        </p:txBody>
      </p:sp>
    </p:spTree>
    <p:extLst>
      <p:ext uri="{BB962C8B-B14F-4D97-AF65-F5344CB8AC3E}">
        <p14:creationId xmlns:p14="http://schemas.microsoft.com/office/powerpoint/2010/main" val="42097952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12</a:t>
            </a:fld>
            <a:endParaRPr lang="zh-CN" altLang="en-US"/>
          </a:p>
        </p:txBody>
      </p:sp>
    </p:spTree>
    <p:extLst>
      <p:ext uri="{BB962C8B-B14F-4D97-AF65-F5344CB8AC3E}">
        <p14:creationId xmlns:p14="http://schemas.microsoft.com/office/powerpoint/2010/main" val="3333791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13</a:t>
            </a:fld>
            <a:endParaRPr lang="zh-CN" altLang="en-US"/>
          </a:p>
        </p:txBody>
      </p:sp>
    </p:spTree>
    <p:extLst>
      <p:ext uri="{BB962C8B-B14F-4D97-AF65-F5344CB8AC3E}">
        <p14:creationId xmlns:p14="http://schemas.microsoft.com/office/powerpoint/2010/main" val="30587996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14</a:t>
            </a:fld>
            <a:endParaRPr lang="zh-CN" altLang="en-US"/>
          </a:p>
        </p:txBody>
      </p:sp>
    </p:spTree>
    <p:extLst>
      <p:ext uri="{BB962C8B-B14F-4D97-AF65-F5344CB8AC3E}">
        <p14:creationId xmlns:p14="http://schemas.microsoft.com/office/powerpoint/2010/main" val="34466991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15</a:t>
            </a:fld>
            <a:endParaRPr lang="zh-CN" altLang="en-US"/>
          </a:p>
        </p:txBody>
      </p:sp>
    </p:spTree>
    <p:extLst>
      <p:ext uri="{BB962C8B-B14F-4D97-AF65-F5344CB8AC3E}">
        <p14:creationId xmlns:p14="http://schemas.microsoft.com/office/powerpoint/2010/main" val="2996241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16</a:t>
            </a:fld>
            <a:endParaRPr lang="zh-CN" altLang="en-US"/>
          </a:p>
        </p:txBody>
      </p:sp>
    </p:spTree>
    <p:extLst>
      <p:ext uri="{BB962C8B-B14F-4D97-AF65-F5344CB8AC3E}">
        <p14:creationId xmlns:p14="http://schemas.microsoft.com/office/powerpoint/2010/main" val="8104113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17</a:t>
            </a:fld>
            <a:endParaRPr lang="zh-CN" altLang="en-US"/>
          </a:p>
        </p:txBody>
      </p:sp>
    </p:spTree>
    <p:extLst>
      <p:ext uri="{BB962C8B-B14F-4D97-AF65-F5344CB8AC3E}">
        <p14:creationId xmlns:p14="http://schemas.microsoft.com/office/powerpoint/2010/main" val="731941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18</a:t>
            </a:fld>
            <a:endParaRPr lang="zh-CN" altLang="en-US"/>
          </a:p>
        </p:txBody>
      </p:sp>
    </p:spTree>
    <p:extLst>
      <p:ext uri="{BB962C8B-B14F-4D97-AF65-F5344CB8AC3E}">
        <p14:creationId xmlns:p14="http://schemas.microsoft.com/office/powerpoint/2010/main" val="11403723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19</a:t>
            </a:fld>
            <a:endParaRPr lang="zh-CN" altLang="en-US"/>
          </a:p>
        </p:txBody>
      </p:sp>
    </p:spTree>
    <p:extLst>
      <p:ext uri="{BB962C8B-B14F-4D97-AF65-F5344CB8AC3E}">
        <p14:creationId xmlns:p14="http://schemas.microsoft.com/office/powerpoint/2010/main" val="38654577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21FD59-C920-460C-B1C9-0346C59420B0}" type="slidenum">
              <a:rPr lang="zh-CN" altLang="en-US" smtClean="0"/>
              <a:t>20</a:t>
            </a:fld>
            <a:endParaRPr lang="zh-CN" altLang="en-US"/>
          </a:p>
        </p:txBody>
      </p:sp>
    </p:spTree>
    <p:extLst>
      <p:ext uri="{BB962C8B-B14F-4D97-AF65-F5344CB8AC3E}">
        <p14:creationId xmlns:p14="http://schemas.microsoft.com/office/powerpoint/2010/main" val="2955868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864038" y="576018"/>
            <a:ext cx="9792415" cy="4032109"/>
          </a:xfrm>
          <a:prstGeom prst="rect">
            <a:avLst/>
          </a:prstGeom>
        </p:spPr>
        <p:txBody>
          <a:bodyPr lIns="91432" tIns="45716" rIns="91432" bIns="45716" anchor="b">
            <a:noAutofit/>
          </a:bodyPr>
          <a:lstStyle>
            <a:lvl1pPr>
              <a:lnSpc>
                <a:spcPct val="100000"/>
              </a:lnSpc>
              <a:defRPr sz="8000"/>
            </a:lvl1pPr>
          </a:lstStyle>
          <a:p>
            <a:r>
              <a:rPr lang="zh-CN" altLang="en-US"/>
              <a:t>单击此处编辑母版标题样式</a:t>
            </a:r>
            <a:endParaRPr lang="en-US" dirty="0"/>
          </a:p>
        </p:txBody>
      </p:sp>
      <p:sp>
        <p:nvSpPr>
          <p:cNvPr id="3" name="Subtitle 2"/>
          <p:cNvSpPr>
            <a:spLocks noGrp="1"/>
          </p:cNvSpPr>
          <p:nvPr>
            <p:ph type="subTitle" idx="1"/>
          </p:nvPr>
        </p:nvSpPr>
        <p:spPr>
          <a:xfrm>
            <a:off x="1728073" y="4680126"/>
            <a:ext cx="8064342" cy="1152031"/>
          </a:xfrm>
          <a:prstGeom prst="rect">
            <a:avLst/>
          </a:prstGeom>
        </p:spPr>
        <p:txBody>
          <a:bodyPr lIns="91432" tIns="45716" rIns="91432" bIns="45716">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7" name="Date Placeholder 6"/>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dirty="0">
              <a:solidFill>
                <a:srgbClr val="FFFFFF"/>
              </a:solidFill>
            </a:endParaRPr>
          </a:p>
        </p:txBody>
      </p:sp>
      <p:sp>
        <p:nvSpPr>
          <p:cNvPr id="8" name="Slide Number Placeholder 7"/>
          <p:cNvSpPr>
            <a:spLocks noGrp="1"/>
          </p:cNvSpPr>
          <p:nvPr>
            <p:ph type="sldNum" sz="quarter" idx="11"/>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dirty="0">
              <a:solidFill>
                <a:srgbClr val="FFFFFF"/>
              </a:solidFill>
            </a:endParaRPr>
          </a:p>
        </p:txBody>
      </p:sp>
      <p:sp>
        <p:nvSpPr>
          <p:cNvPr id="9" name="Footer Placeholder 8"/>
          <p:cNvSpPr>
            <a:spLocks noGrp="1"/>
          </p:cNvSpPr>
          <p:nvPr>
            <p:ph type="ftr" sz="quarter" idx="12"/>
          </p:nvPr>
        </p:nvSpPr>
        <p:spPr>
          <a:xfrm>
            <a:off x="830481" y="6006163"/>
            <a:ext cx="3588153" cy="345009"/>
          </a:xfrm>
          <a:prstGeom prst="rect">
            <a:avLst/>
          </a:prstGeom>
        </p:spPr>
        <p:txBody>
          <a:bodyPr lIns="91432" tIns="45716" rIns="91432" bIns="45716"/>
          <a:lstStyle/>
          <a:p>
            <a:endParaRPr kumimoji="0" lang="en-US">
              <a:solidFill>
                <a:schemeClr val="accent1">
                  <a:tint val="20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p>
            <a:r>
              <a:rPr lang="zh-CN" altLang="en-US"/>
              <a:t>单击此处编辑母版标题样式</a:t>
            </a:r>
            <a:endParaRPr lang="en-US" dirty="0"/>
          </a:p>
        </p:txBody>
      </p:sp>
      <p:sp>
        <p:nvSpPr>
          <p:cNvPr id="3" name="Content Placeholder 2"/>
          <p:cNvSpPr>
            <a:spLocks noGrp="1"/>
          </p:cNvSpPr>
          <p:nvPr>
            <p:ph idx="1"/>
          </p:nvPr>
        </p:nvSpPr>
        <p:spPr>
          <a:xfrm>
            <a:off x="576030" y="1512041"/>
            <a:ext cx="10368439" cy="4276616"/>
          </a:xfrm>
          <a:prstGeom prst="rect">
            <a:avLst/>
          </a:prstGeom>
        </p:spPr>
        <p:txBody>
          <a:bodyPr lIns="91432" tIns="45716" rIns="91432" bIns="45716"/>
          <a:lstStyle>
            <a:lvl5pPr>
              <a:defRPr/>
            </a:lvl5pPr>
            <a:lvl6pPr>
              <a:defRPr/>
            </a:lvl6pPr>
            <a:lvl7pPr>
              <a:defRPr/>
            </a:lvl7pPr>
            <a:lvl8pPr>
              <a:defRPr/>
            </a:lvl8pPr>
            <a:lvl9pPr>
              <a:buFont typeface="Arial" pitchFamily="34" charset="0"/>
              <a:buChar char="•"/>
              <a:defRPr/>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p>
        </p:txBody>
      </p:sp>
      <p:sp>
        <p:nvSpPr>
          <p:cNvPr id="5" name="Footer Placeholder 4"/>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6" name="Slide Number Placeholder 5"/>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10040" y="1296035"/>
            <a:ext cx="9792415" cy="2367064"/>
          </a:xfrm>
          <a:prstGeom prst="rect">
            <a:avLst/>
          </a:prstGeom>
        </p:spPr>
        <p:txBody>
          <a:bodyPr lIns="91432" tIns="45716" rIns="91432" bIns="45716"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910040" y="3844607"/>
            <a:ext cx="9792415" cy="1069528"/>
          </a:xfrm>
          <a:prstGeom prst="rect">
            <a:avLst/>
          </a:prstGeom>
        </p:spPr>
        <p:txBody>
          <a:bodyPr lIns="91432" tIns="45716" rIns="91432" bIns="45716"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p>
        </p:txBody>
      </p:sp>
      <p:sp>
        <p:nvSpPr>
          <p:cNvPr id="5" name="Footer Placeholder 4"/>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6" name="Slide Number Placeholder 5"/>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
        <p:nvSpPr>
          <p:cNvPr id="7" name="Oval 6"/>
          <p:cNvSpPr/>
          <p:nvPr/>
        </p:nvSpPr>
        <p:spPr>
          <a:xfrm>
            <a:off x="5664243" y="3708101"/>
            <a:ext cx="106804" cy="8010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algn="ctr"/>
            <a:endParaRPr lang="en-US"/>
          </a:p>
        </p:txBody>
      </p:sp>
      <p:sp>
        <p:nvSpPr>
          <p:cNvPr id="8" name="Oval 7"/>
          <p:cNvSpPr/>
          <p:nvPr/>
        </p:nvSpPr>
        <p:spPr>
          <a:xfrm>
            <a:off x="5916252" y="3708101"/>
            <a:ext cx="106804" cy="8010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algn="ctr"/>
            <a:endParaRPr lang="en-US"/>
          </a:p>
        </p:txBody>
      </p:sp>
      <p:sp>
        <p:nvSpPr>
          <p:cNvPr id="9" name="Oval 8"/>
          <p:cNvSpPr/>
          <p:nvPr/>
        </p:nvSpPr>
        <p:spPr>
          <a:xfrm>
            <a:off x="5413434" y="3708101"/>
            <a:ext cx="106804" cy="8010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p>
            <a:r>
              <a:rPr lang="zh-CN" altLang="en-US"/>
              <a:t>单击此处编辑母版标题样式</a:t>
            </a:r>
            <a:endParaRPr lang="en-US"/>
          </a:p>
        </p:txBody>
      </p:sp>
      <p:sp>
        <p:nvSpPr>
          <p:cNvPr id="4" name="Content Placeholder 3"/>
          <p:cNvSpPr>
            <a:spLocks noGrp="1"/>
          </p:cNvSpPr>
          <p:nvPr>
            <p:ph sz="half" idx="2"/>
          </p:nvPr>
        </p:nvSpPr>
        <p:spPr>
          <a:xfrm>
            <a:off x="5856250" y="1512041"/>
            <a:ext cx="5088215" cy="4276616"/>
          </a:xfrm>
          <a:prstGeom prst="rect">
            <a:avLst/>
          </a:prstGeom>
        </p:spPr>
        <p:txBody>
          <a:bodyPr lIns="91432" tIns="45716" rIns="91432" bIns="45716"/>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p>
        </p:txBody>
      </p:sp>
      <p:sp>
        <p:nvSpPr>
          <p:cNvPr id="6" name="Footer Placeholder 5"/>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7" name="Slide Number Placeholder 6"/>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
        <p:nvSpPr>
          <p:cNvPr id="9" name="Content Placeholder 8"/>
          <p:cNvSpPr>
            <a:spLocks noGrp="1"/>
          </p:cNvSpPr>
          <p:nvPr>
            <p:ph sz="quarter" idx="13"/>
          </p:nvPr>
        </p:nvSpPr>
        <p:spPr>
          <a:xfrm>
            <a:off x="460819" y="1512043"/>
            <a:ext cx="5092056" cy="4276915"/>
          </a:xfrm>
          <a:prstGeom prst="rect">
            <a:avLst/>
          </a:prstGeom>
        </p:spPr>
        <p:txBody>
          <a:bodyPr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576025" y="1512046"/>
            <a:ext cx="5090217" cy="576015"/>
          </a:xfrm>
          <a:prstGeom prst="rect">
            <a:avLst/>
          </a:prstGeom>
        </p:spPr>
        <p:txBody>
          <a:bodyPr lIns="91432" tIns="45716" rIns="91432" bIns="45716"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Text Placeholder 4"/>
          <p:cNvSpPr>
            <a:spLocks noGrp="1"/>
          </p:cNvSpPr>
          <p:nvPr>
            <p:ph type="body" sz="quarter" idx="3"/>
          </p:nvPr>
        </p:nvSpPr>
        <p:spPr>
          <a:xfrm>
            <a:off x="5856251" y="1512046"/>
            <a:ext cx="5092216" cy="576015"/>
          </a:xfrm>
          <a:prstGeom prst="rect">
            <a:avLst/>
          </a:prstGeom>
        </p:spPr>
        <p:txBody>
          <a:bodyPr lIns="91432" tIns="45716" rIns="91432" bIns="45716"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7" name="Date Placeholder 6"/>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p>
        </p:txBody>
      </p:sp>
      <p:sp>
        <p:nvSpPr>
          <p:cNvPr id="8" name="Footer Placeholder 7"/>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9" name="Slide Number Placeholder 8"/>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
        <p:nvSpPr>
          <p:cNvPr id="11" name="Content Placeholder 10"/>
          <p:cNvSpPr>
            <a:spLocks noGrp="1"/>
          </p:cNvSpPr>
          <p:nvPr>
            <p:ph sz="quarter" idx="13"/>
          </p:nvPr>
        </p:nvSpPr>
        <p:spPr>
          <a:xfrm>
            <a:off x="576024" y="2090937"/>
            <a:ext cx="5092056" cy="3698020"/>
          </a:xfrm>
          <a:prstGeom prst="rect">
            <a:avLst/>
          </a:prstGeom>
        </p:spPr>
        <p:txBody>
          <a:bodyPr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3" name="Content Placeholder 12"/>
          <p:cNvSpPr>
            <a:spLocks noGrp="1"/>
          </p:cNvSpPr>
          <p:nvPr>
            <p:ph sz="quarter" idx="14"/>
          </p:nvPr>
        </p:nvSpPr>
        <p:spPr>
          <a:xfrm>
            <a:off x="5886969" y="2090937"/>
            <a:ext cx="5092056" cy="3697599"/>
          </a:xfrm>
          <a:prstGeom prst="rect">
            <a:avLst/>
          </a:prstGeom>
        </p:spPr>
        <p:txBody>
          <a:bodyPr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p>
            <a:r>
              <a:rPr lang="zh-CN" altLang="en-US"/>
              <a:t>单击此处编辑母版标题样式</a:t>
            </a:r>
            <a:endParaRPr lang="en-US" dirty="0"/>
          </a:p>
        </p:txBody>
      </p:sp>
      <p:sp>
        <p:nvSpPr>
          <p:cNvPr id="3" name="Date Placeholder 2"/>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p>
        </p:txBody>
      </p:sp>
      <p:sp>
        <p:nvSpPr>
          <p:cNvPr id="4" name="Footer Placeholder 3"/>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5" name="Slide Number Placeholder 4"/>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7442318" y="252007"/>
            <a:ext cx="3790161" cy="1980053"/>
          </a:xfrm>
          <a:prstGeom prst="rect">
            <a:avLst/>
          </a:prstGeom>
        </p:spPr>
        <p:txBody>
          <a:bodyPr lIns="91432" tIns="45716" rIns="91432" bIns="45716" anchor="b"/>
          <a:lstStyle>
            <a:lvl1pPr algn="ctr">
              <a:lnSpc>
                <a:spcPct val="100000"/>
              </a:lnSpc>
              <a:defRPr sz="2800" b="0">
                <a:effectLst>
                  <a:outerShdw blurRad="50800" dist="25400" dir="5400000" algn="t" rotWithShape="0">
                    <a:prstClr val="black">
                      <a:alpha val="25000"/>
                    </a:prstClr>
                  </a:outerShdw>
                </a:effectLst>
              </a:defRPr>
            </a:lvl1pPr>
          </a:lstStyle>
          <a:p>
            <a:r>
              <a:rPr lang="zh-CN" altLang="en-US"/>
              <a:t>单击此处编辑母版标题样式</a:t>
            </a:r>
            <a:endParaRPr lang="en-US" dirty="0"/>
          </a:p>
        </p:txBody>
      </p:sp>
      <p:sp>
        <p:nvSpPr>
          <p:cNvPr id="3" name="Content Placeholder 2"/>
          <p:cNvSpPr>
            <a:spLocks noGrp="1"/>
          </p:cNvSpPr>
          <p:nvPr>
            <p:ph idx="1"/>
          </p:nvPr>
        </p:nvSpPr>
        <p:spPr>
          <a:xfrm>
            <a:off x="906042" y="258007"/>
            <a:ext cx="6294268" cy="5530650"/>
          </a:xfrm>
          <a:prstGeom prst="rect">
            <a:avLst/>
          </a:prstGeom>
        </p:spPr>
        <p:txBody>
          <a:bodyPr lIns="91432" tIns="45716" rIns="91432" bIns="45716"/>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7442318" y="2304063"/>
            <a:ext cx="3790161" cy="3484594"/>
          </a:xfrm>
          <a:prstGeom prst="rect">
            <a:avLst/>
          </a:prstGeom>
        </p:spPr>
        <p:txBody>
          <a:bodyPr lIns="91432" tIns="45716" rIns="91432" bIns="45716">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p>
        </p:txBody>
      </p:sp>
      <p:sp>
        <p:nvSpPr>
          <p:cNvPr id="6" name="Footer Placeholder 5"/>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7" name="Slide Number Placeholder 6"/>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116091" y="216006"/>
            <a:ext cx="7196304" cy="846023"/>
          </a:xfrm>
          <a:prstGeom prst="rect">
            <a:avLst/>
          </a:prstGeom>
        </p:spPr>
        <p:txBody>
          <a:bodyPr lIns="91432" tIns="45716" rIns="91432" bIns="45716" anchor="b"/>
          <a:lstStyle>
            <a:lvl1pPr algn="ctr">
              <a:lnSpc>
                <a:spcPct val="100000"/>
              </a:lnSpc>
              <a:defRPr sz="28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1900086" y="1080031"/>
            <a:ext cx="7628321" cy="4290865"/>
          </a:xfrm>
          <a:prstGeom prst="rect">
            <a:avLst/>
          </a:prstGeom>
          <a:ln w="76200">
            <a:solidFill>
              <a:schemeClr val="bg1"/>
            </a:solidFill>
          </a:ln>
          <a:effectLst>
            <a:outerShdw blurRad="88900" dist="50800" dir="5400000" algn="ctr" rotWithShape="0">
              <a:srgbClr val="000000">
                <a:alpha val="25000"/>
              </a:srgbClr>
            </a:outerShdw>
          </a:effectLst>
        </p:spPr>
        <p:txBody>
          <a:bodyPr lIns="91432" tIns="45716" rIns="91432" bIns="45716"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2116091" y="5490149"/>
            <a:ext cx="7196304" cy="504014"/>
          </a:xfrm>
          <a:prstGeom prst="rect">
            <a:avLst/>
          </a:prstGeom>
        </p:spPr>
        <p:txBody>
          <a:bodyPr lIns="91432" tIns="45716" rIns="91432" bIns="45716">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solidFill>
                <a:schemeClr val="tx1"/>
              </a:solidFill>
            </a:endParaRPr>
          </a:p>
        </p:txBody>
      </p:sp>
      <p:sp>
        <p:nvSpPr>
          <p:cNvPr id="6" name="Footer Placeholder 5"/>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solidFill>
                <a:schemeClr val="tx1"/>
              </a:solidFill>
            </a:endParaRPr>
          </a:p>
        </p:txBody>
      </p:sp>
      <p:sp>
        <p:nvSpPr>
          <p:cNvPr id="7" name="Slide Number Placeholder 6"/>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76030" y="1512041"/>
            <a:ext cx="10368439" cy="4276616"/>
          </a:xfrm>
          <a:prstGeom prst="rect">
            <a:avLst/>
          </a:prstGeom>
        </p:spPr>
        <p:txBody>
          <a:bodyPr vert="eaVert"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p>
        </p:txBody>
      </p:sp>
      <p:sp>
        <p:nvSpPr>
          <p:cNvPr id="5" name="Footer Placeholder 4"/>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6" name="Slide Number Placeholder 5"/>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52356" y="259510"/>
            <a:ext cx="2592109" cy="5529150"/>
          </a:xfrm>
          <a:prstGeom prst="rect">
            <a:avLst/>
          </a:prstGeom>
        </p:spPr>
        <p:txBody>
          <a:bodyPr vert="eaVert" lIns="91432" tIns="45716" rIns="91432" bIns="45716"/>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76029" y="259510"/>
            <a:ext cx="7584321" cy="5529150"/>
          </a:xfrm>
          <a:prstGeom prst="rect">
            <a:avLst/>
          </a:prstGeom>
        </p:spPr>
        <p:txBody>
          <a:bodyPr vert="eaVert"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p>
        </p:txBody>
      </p:sp>
      <p:sp>
        <p:nvSpPr>
          <p:cNvPr id="5" name="Footer Placeholder 4"/>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6" name="Slide Number Placeholder 5"/>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内容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5894246"/>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5995399"/>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5_标题和内容">
    <p:spTree>
      <p:nvGrpSpPr>
        <p:cNvPr id="1" name=""/>
        <p:cNvGrpSpPr/>
        <p:nvPr/>
      </p:nvGrpSpPr>
      <p:grpSpPr>
        <a:xfrm>
          <a:off x="0" y="0"/>
          <a:ext cx="0" cy="0"/>
          <a:chOff x="0" y="0"/>
          <a:chExt cx="0" cy="0"/>
        </a:xfrm>
      </p:grpSpPr>
      <p:grpSp>
        <p:nvGrpSpPr>
          <p:cNvPr id="3" name="组合 1"/>
          <p:cNvGrpSpPr>
            <a:grpSpLocks/>
          </p:cNvGrpSpPr>
          <p:nvPr userDrawn="1"/>
        </p:nvGrpSpPr>
        <p:grpSpPr bwMode="auto">
          <a:xfrm>
            <a:off x="319724" y="-25119"/>
            <a:ext cx="850160" cy="748278"/>
            <a:chOff x="2506532" y="465192"/>
            <a:chExt cx="675190" cy="593837"/>
          </a:xfrm>
        </p:grpSpPr>
        <p:sp>
          <p:nvSpPr>
            <p:cNvPr id="4" name="文本框 2"/>
            <p:cNvSpPr txBox="1">
              <a:spLocks noChangeArrowheads="1"/>
            </p:cNvSpPr>
            <p:nvPr/>
          </p:nvSpPr>
          <p:spPr bwMode="auto">
            <a:xfrm>
              <a:off x="2506532" y="465192"/>
              <a:ext cx="236653" cy="512932"/>
            </a:xfrm>
            <a:prstGeom prst="rect">
              <a:avLst/>
            </a:prstGeom>
            <a:noFill/>
            <a:ln w="9525">
              <a:noFill/>
              <a:miter lim="800000"/>
              <a:headEnd/>
              <a:tailEnd/>
            </a:ln>
          </p:spPr>
          <p:txBody>
            <a:bodyPr>
              <a:spAutoFit/>
            </a:bodyPr>
            <a:lstStyle/>
            <a:p>
              <a:r>
                <a:rPr lang="en-US" altLang="zh-CN" sz="3600" dirty="0">
                  <a:solidFill>
                    <a:srgbClr val="005292"/>
                  </a:solidFill>
                  <a:latin typeface="Impact" pitchFamily="34" charset="0"/>
                </a:rPr>
                <a:t>4</a:t>
              </a:r>
              <a:endParaRPr lang="zh-CN" altLang="en-US" sz="3600" dirty="0">
                <a:solidFill>
                  <a:srgbClr val="005292"/>
                </a:solidFill>
                <a:latin typeface="Impact" pitchFamily="34" charset="0"/>
              </a:endParaRPr>
            </a:p>
          </p:txBody>
        </p:sp>
        <p:cxnSp>
          <p:nvCxnSpPr>
            <p:cNvPr id="7" name="直接连接符 6"/>
            <p:cNvCxnSpPr/>
            <p:nvPr/>
          </p:nvCxnSpPr>
          <p:spPr>
            <a:xfrm flipH="1">
              <a:off x="2722573" y="599954"/>
              <a:ext cx="459149" cy="459075"/>
            </a:xfrm>
            <a:prstGeom prst="line">
              <a:avLst/>
            </a:prstGeom>
            <a:ln w="28575">
              <a:solidFill>
                <a:srgbClr val="005292"/>
              </a:solidFill>
            </a:ln>
          </p:spPr>
          <p:style>
            <a:lnRef idx="1">
              <a:schemeClr val="accent1"/>
            </a:lnRef>
            <a:fillRef idx="0">
              <a:schemeClr val="accent1"/>
            </a:fillRef>
            <a:effectRef idx="0">
              <a:schemeClr val="accent1"/>
            </a:effectRef>
            <a:fontRef idx="minor">
              <a:schemeClr val="tx1"/>
            </a:fontRef>
          </p:style>
        </p:cxnSp>
      </p:grpSp>
      <p:sp>
        <p:nvSpPr>
          <p:cNvPr id="8" name="矩形 7"/>
          <p:cNvSpPr/>
          <p:nvPr userDrawn="1"/>
        </p:nvSpPr>
        <p:spPr>
          <a:xfrm>
            <a:off x="3" y="720834"/>
            <a:ext cx="11512992" cy="43190"/>
          </a:xfrm>
          <a:prstGeom prst="rect">
            <a:avLst/>
          </a:prstGeom>
          <a:solidFill>
            <a:srgbClr val="005292"/>
          </a:solidFill>
          <a:ln>
            <a:solidFill>
              <a:srgbClr val="005292"/>
            </a:solid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algn="ctr" fontAlgn="auto">
              <a:spcBef>
                <a:spcPts val="0"/>
              </a:spcBef>
              <a:spcAft>
                <a:spcPts val="0"/>
              </a:spcAft>
              <a:defRPr/>
            </a:pPr>
            <a:endParaRPr lang="zh-CN" altLang="en-US"/>
          </a:p>
        </p:txBody>
      </p:sp>
    </p:spTree>
    <p:extLst>
      <p:ext uri="{BB962C8B-B14F-4D97-AF65-F5344CB8AC3E}">
        <p14:creationId xmlns:p14="http://schemas.microsoft.com/office/powerpoint/2010/main" val="268023665"/>
      </p:ext>
    </p:extLst>
  </p:cSld>
  <p:clrMapOvr>
    <a:masterClrMapping/>
  </p:clrMapOvr>
  <p:transition spd="med" advTm="0">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3_标题和内容">
    <p:spTree>
      <p:nvGrpSpPr>
        <p:cNvPr id="1" name=""/>
        <p:cNvGrpSpPr/>
        <p:nvPr/>
      </p:nvGrpSpPr>
      <p:grpSpPr>
        <a:xfrm>
          <a:off x="0" y="0"/>
          <a:ext cx="0" cy="0"/>
          <a:chOff x="0" y="0"/>
          <a:chExt cx="0" cy="0"/>
        </a:xfrm>
      </p:grpSpPr>
      <p:grpSp>
        <p:nvGrpSpPr>
          <p:cNvPr id="3" name="组合 1"/>
          <p:cNvGrpSpPr>
            <a:grpSpLocks/>
          </p:cNvGrpSpPr>
          <p:nvPr userDrawn="1"/>
        </p:nvGrpSpPr>
        <p:grpSpPr bwMode="auto">
          <a:xfrm>
            <a:off x="319724" y="-25119"/>
            <a:ext cx="850160" cy="748278"/>
            <a:chOff x="2506532" y="465192"/>
            <a:chExt cx="675190" cy="593837"/>
          </a:xfrm>
        </p:grpSpPr>
        <p:sp>
          <p:nvSpPr>
            <p:cNvPr id="4" name="文本框 2"/>
            <p:cNvSpPr txBox="1">
              <a:spLocks noChangeArrowheads="1"/>
            </p:cNvSpPr>
            <p:nvPr/>
          </p:nvSpPr>
          <p:spPr bwMode="auto">
            <a:xfrm>
              <a:off x="2506532" y="465192"/>
              <a:ext cx="236653" cy="512932"/>
            </a:xfrm>
            <a:prstGeom prst="rect">
              <a:avLst/>
            </a:prstGeom>
            <a:noFill/>
            <a:ln w="9525">
              <a:noFill/>
              <a:miter lim="800000"/>
              <a:headEnd/>
              <a:tailEnd/>
            </a:ln>
          </p:spPr>
          <p:txBody>
            <a:bodyPr>
              <a:spAutoFit/>
            </a:bodyPr>
            <a:lstStyle/>
            <a:p>
              <a:r>
                <a:rPr lang="en-US" altLang="zh-CN" sz="3600" dirty="0">
                  <a:solidFill>
                    <a:srgbClr val="005292"/>
                  </a:solidFill>
                  <a:latin typeface="Impact" pitchFamily="34" charset="0"/>
                </a:rPr>
                <a:t>2</a:t>
              </a:r>
              <a:endParaRPr lang="zh-CN" altLang="en-US" sz="3600" dirty="0">
                <a:solidFill>
                  <a:srgbClr val="005292"/>
                </a:solidFill>
                <a:latin typeface="Impact" pitchFamily="34" charset="0"/>
              </a:endParaRPr>
            </a:p>
          </p:txBody>
        </p:sp>
        <p:cxnSp>
          <p:nvCxnSpPr>
            <p:cNvPr id="7" name="直接连接符 6"/>
            <p:cNvCxnSpPr/>
            <p:nvPr/>
          </p:nvCxnSpPr>
          <p:spPr>
            <a:xfrm flipH="1">
              <a:off x="2722573" y="599954"/>
              <a:ext cx="459149" cy="459075"/>
            </a:xfrm>
            <a:prstGeom prst="line">
              <a:avLst/>
            </a:prstGeom>
            <a:ln w="28575">
              <a:solidFill>
                <a:srgbClr val="005292"/>
              </a:solidFill>
            </a:ln>
          </p:spPr>
          <p:style>
            <a:lnRef idx="1">
              <a:schemeClr val="accent1"/>
            </a:lnRef>
            <a:fillRef idx="0">
              <a:schemeClr val="accent1"/>
            </a:fillRef>
            <a:effectRef idx="0">
              <a:schemeClr val="accent1"/>
            </a:effectRef>
            <a:fontRef idx="minor">
              <a:schemeClr val="tx1"/>
            </a:fontRef>
          </p:style>
        </p:cxnSp>
      </p:grpSp>
      <p:sp>
        <p:nvSpPr>
          <p:cNvPr id="8" name="矩形 7"/>
          <p:cNvSpPr/>
          <p:nvPr userDrawn="1"/>
        </p:nvSpPr>
        <p:spPr>
          <a:xfrm>
            <a:off x="3" y="720834"/>
            <a:ext cx="11512992" cy="43190"/>
          </a:xfrm>
          <a:prstGeom prst="rect">
            <a:avLst/>
          </a:prstGeom>
          <a:solidFill>
            <a:srgbClr val="005292"/>
          </a:solidFill>
          <a:ln>
            <a:solidFill>
              <a:srgbClr val="005292"/>
            </a:solid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algn="ctr" fontAlgn="auto">
              <a:spcBef>
                <a:spcPts val="0"/>
              </a:spcBef>
              <a:spcAft>
                <a:spcPts val="0"/>
              </a:spcAft>
              <a:defRPr/>
            </a:pPr>
            <a:endParaRPr lang="zh-CN" altLang="en-US"/>
          </a:p>
        </p:txBody>
      </p:sp>
    </p:spTree>
    <p:extLst>
      <p:ext uri="{BB962C8B-B14F-4D97-AF65-F5344CB8AC3E}">
        <p14:creationId xmlns:p14="http://schemas.microsoft.com/office/powerpoint/2010/main" val="1794047852"/>
      </p:ext>
    </p:extLst>
  </p:cSld>
  <p:clrMapOvr>
    <a:masterClrMapping/>
  </p:clrMapOvr>
  <p:transition spd="med" advTm="0">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6_标题和内容">
    <p:spTree>
      <p:nvGrpSpPr>
        <p:cNvPr id="1" name=""/>
        <p:cNvGrpSpPr/>
        <p:nvPr/>
      </p:nvGrpSpPr>
      <p:grpSpPr>
        <a:xfrm>
          <a:off x="0" y="0"/>
          <a:ext cx="0" cy="0"/>
          <a:chOff x="0" y="0"/>
          <a:chExt cx="0" cy="0"/>
        </a:xfrm>
      </p:grpSpPr>
      <p:grpSp>
        <p:nvGrpSpPr>
          <p:cNvPr id="3" name="组合 1"/>
          <p:cNvGrpSpPr>
            <a:grpSpLocks/>
          </p:cNvGrpSpPr>
          <p:nvPr userDrawn="1"/>
        </p:nvGrpSpPr>
        <p:grpSpPr bwMode="auto">
          <a:xfrm>
            <a:off x="319724" y="-25119"/>
            <a:ext cx="850160" cy="748278"/>
            <a:chOff x="2506532" y="465192"/>
            <a:chExt cx="675190" cy="593837"/>
          </a:xfrm>
        </p:grpSpPr>
        <p:sp>
          <p:nvSpPr>
            <p:cNvPr id="4" name="文本框 2"/>
            <p:cNvSpPr txBox="1">
              <a:spLocks noChangeArrowheads="1"/>
            </p:cNvSpPr>
            <p:nvPr/>
          </p:nvSpPr>
          <p:spPr bwMode="auto">
            <a:xfrm>
              <a:off x="2506532" y="465192"/>
              <a:ext cx="236653" cy="512932"/>
            </a:xfrm>
            <a:prstGeom prst="rect">
              <a:avLst/>
            </a:prstGeom>
            <a:noFill/>
            <a:ln w="9525">
              <a:noFill/>
              <a:miter lim="800000"/>
              <a:headEnd/>
              <a:tailEnd/>
            </a:ln>
          </p:spPr>
          <p:txBody>
            <a:bodyPr>
              <a:spAutoFit/>
            </a:bodyPr>
            <a:lstStyle/>
            <a:p>
              <a:r>
                <a:rPr lang="en-US" altLang="zh-CN" sz="3600" dirty="0">
                  <a:solidFill>
                    <a:srgbClr val="005292"/>
                  </a:solidFill>
                  <a:latin typeface="Impact" pitchFamily="34" charset="0"/>
                </a:rPr>
                <a:t>5</a:t>
              </a:r>
              <a:endParaRPr lang="zh-CN" altLang="en-US" sz="3600" dirty="0">
                <a:solidFill>
                  <a:srgbClr val="005292"/>
                </a:solidFill>
                <a:latin typeface="Impact" pitchFamily="34" charset="0"/>
              </a:endParaRPr>
            </a:p>
          </p:txBody>
        </p:sp>
        <p:cxnSp>
          <p:nvCxnSpPr>
            <p:cNvPr id="7" name="直接连接符 6"/>
            <p:cNvCxnSpPr/>
            <p:nvPr/>
          </p:nvCxnSpPr>
          <p:spPr>
            <a:xfrm flipH="1">
              <a:off x="2722573" y="599954"/>
              <a:ext cx="459149" cy="459075"/>
            </a:xfrm>
            <a:prstGeom prst="line">
              <a:avLst/>
            </a:prstGeom>
            <a:ln w="28575">
              <a:solidFill>
                <a:srgbClr val="005292"/>
              </a:solidFill>
            </a:ln>
          </p:spPr>
          <p:style>
            <a:lnRef idx="1">
              <a:schemeClr val="accent1"/>
            </a:lnRef>
            <a:fillRef idx="0">
              <a:schemeClr val="accent1"/>
            </a:fillRef>
            <a:effectRef idx="0">
              <a:schemeClr val="accent1"/>
            </a:effectRef>
            <a:fontRef idx="minor">
              <a:schemeClr val="tx1"/>
            </a:fontRef>
          </p:style>
        </p:cxnSp>
      </p:grpSp>
      <p:sp>
        <p:nvSpPr>
          <p:cNvPr id="8" name="矩形 7"/>
          <p:cNvSpPr/>
          <p:nvPr userDrawn="1"/>
        </p:nvSpPr>
        <p:spPr>
          <a:xfrm>
            <a:off x="3" y="720834"/>
            <a:ext cx="11512992" cy="43190"/>
          </a:xfrm>
          <a:prstGeom prst="rect">
            <a:avLst/>
          </a:prstGeom>
          <a:solidFill>
            <a:srgbClr val="005292"/>
          </a:solidFill>
          <a:ln>
            <a:solidFill>
              <a:srgbClr val="005292"/>
            </a:solid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algn="ctr" fontAlgn="auto">
              <a:spcBef>
                <a:spcPts val="0"/>
              </a:spcBef>
              <a:spcAft>
                <a:spcPts val="0"/>
              </a:spcAft>
              <a:defRPr/>
            </a:pPr>
            <a:endParaRPr lang="zh-CN" altLang="en-US"/>
          </a:p>
        </p:txBody>
      </p:sp>
    </p:spTree>
    <p:extLst>
      <p:ext uri="{BB962C8B-B14F-4D97-AF65-F5344CB8AC3E}">
        <p14:creationId xmlns:p14="http://schemas.microsoft.com/office/powerpoint/2010/main" val="464757093"/>
      </p:ext>
    </p:extLst>
  </p:cSld>
  <p:clrMapOvr>
    <a:masterClrMapping/>
  </p:clrMapOvr>
  <p:transition spd="med" advTm="0">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pic>
        <p:nvPicPr>
          <p:cNvPr id="10" name="Picture 2" descr="C:\Users\Administrator\Desktop\图片1.jpg"/>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11998" y="-4998"/>
            <a:ext cx="11508491" cy="648517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658" r:id="rId13"/>
    <p:sldLayoutId id="2147483700" r:id="rId14"/>
    <p:sldLayoutId id="2147483702" r:id="rId15"/>
    <p:sldLayoutId id="2147483703" r:id="rId16"/>
    <p:sldLayoutId id="2147483704" r:id="rId17"/>
  </p:sldLayoutIdLst>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9.png"/><Relationship Id="rId7"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9.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9.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 Id="rId9"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1453896" y="2980944"/>
            <a:ext cx="5760720" cy="1280160"/>
          </a:xfrm>
          <a:prstGeom prst="rect">
            <a:avLst/>
          </a:prstGeom>
          <a:noFill/>
        </p:spPr>
        <p:txBody>
          <a:bodyPr wrap="square" rtlCol="0">
            <a:spAutoFit/>
          </a:bodyPr>
          <a:lstStyle/>
          <a:p>
            <a:pPr algn="l"/>
            <a:r>
              <a:rPr lang="zh-CN" altLang="en-US" sz="3200" dirty="0">
                <a:solidFill>
                  <a:srgbClr val="0067B4"/>
                </a:solidFill>
                <a:latin typeface="微软雅黑" panose="020B0503020204020204" pitchFamily="34" charset="-122"/>
                <a:ea typeface="微软雅黑" panose="020B0503020204020204" pitchFamily="34" charset="-122"/>
              </a:rPr>
              <a:t>可见光红外融合的船舶</a:t>
            </a:r>
          </a:p>
          <a:p>
            <a:pPr algn="l"/>
            <a:r>
              <a:rPr lang="zh-CN" altLang="en-US" sz="3200" dirty="0">
                <a:solidFill>
                  <a:srgbClr val="0067B4"/>
                </a:solidFill>
                <a:latin typeface="微软雅黑" panose="020B0503020204020204" pitchFamily="34" charset="-122"/>
                <a:ea typeface="微软雅黑" panose="020B0503020204020204" pitchFamily="34" charset="-122"/>
              </a:rPr>
              <a:t>多目标跟踪算法研究</a:t>
            </a:r>
          </a:p>
        </p:txBody>
      </p:sp>
      <p:sp>
        <p:nvSpPr>
          <p:cNvPr id="3" name="TextBox 2"/>
          <p:cNvSpPr txBox="1"/>
          <p:nvPr/>
        </p:nvSpPr>
        <p:spPr>
          <a:xfrm>
            <a:off x="1416844" y="1838570"/>
            <a:ext cx="5410200" cy="1631216"/>
          </a:xfrm>
          <a:prstGeom prst="rect">
            <a:avLst/>
          </a:prstGeom>
          <a:noFill/>
        </p:spPr>
        <p:txBody>
          <a:bodyPr wrap="square" rtlCol="0">
            <a:spAutoFit/>
          </a:bodyPr>
          <a:lstStyle/>
          <a:p>
            <a:pPr algn="l"/>
            <a:r>
              <a:rPr lang="en-US" altLang="zh-CN" sz="7200" dirty="0">
                <a:solidFill>
                  <a:srgbClr val="00B0F0"/>
                </a:solidFill>
                <a:latin typeface="微软雅黑" panose="020B0503020204020204" pitchFamily="34" charset="-122"/>
                <a:ea typeface="微软雅黑" panose="020B0503020204020204" pitchFamily="34" charset="-122"/>
              </a:rPr>
              <a:t>开题报告</a:t>
            </a:r>
            <a:endParaRPr lang="zh-CN" altLang="en-US" sz="10000" dirty="0">
              <a:solidFill>
                <a:srgbClr val="00B0F0"/>
              </a:solidFill>
              <a:latin typeface="微软雅黑" panose="020B0503020204020204" pitchFamily="34" charset="-122"/>
              <a:ea typeface="微软雅黑" panose="020B0503020204020204" pitchFamily="34" charset="-122"/>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0244" y="268287"/>
            <a:ext cx="6072642" cy="5943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6244" y="3011487"/>
            <a:ext cx="4953000" cy="4953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1490472" y="5120640"/>
            <a:ext cx="3507772" cy="584775"/>
          </a:xfrm>
          <a:prstGeom prst="rect">
            <a:avLst/>
          </a:prstGeom>
          <a:noFill/>
        </p:spPr>
        <p:txBody>
          <a:bodyPr wrap="square" rtlCol="0">
            <a:spAutoFit/>
          </a:bodyPr>
          <a:lstStyle/>
          <a:p>
            <a:pPr algn="l"/>
            <a:r>
              <a:rPr lang="zh-CN" altLang="en-US" sz="1600" dirty="0">
                <a:latin typeface="微软雅黑" panose="020B0503020204020204" pitchFamily="34" charset="-122"/>
                <a:ea typeface="微软雅黑" panose="020B0503020204020204" pitchFamily="34" charset="-122"/>
              </a:rPr>
              <a:t>专业：电子信息  ｜  导师：苏丽</a:t>
            </a:r>
          </a:p>
          <a:p>
            <a:pPr algn="l"/>
            <a:r>
              <a:rPr lang="zh-CN" altLang="en-US" sz="1600" dirty="0">
                <a:latin typeface="微软雅黑" panose="020B0503020204020204" pitchFamily="34" charset="-122"/>
                <a:ea typeface="微软雅黑" panose="020B0503020204020204" pitchFamily="34" charset="-122"/>
              </a:rPr>
              <a:t>汇报人：曹志博  ｜  2026 年 9 月</a:t>
            </a:r>
          </a:p>
        </p:txBody>
      </p:sp>
      <p:pic>
        <p:nvPicPr>
          <p:cNvPr id="5" name="图片 4">
            <a:extLst>
              <a:ext uri="{FF2B5EF4-FFF2-40B4-BE49-F238E27FC236}">
                <a16:creationId xmlns:a16="http://schemas.microsoft.com/office/drawing/2014/main" id="{FE2F7760-7E34-4588-A578-199FF7E56E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9535824" y="2748251"/>
            <a:ext cx="1953419" cy="3057525"/>
          </a:xfrm>
          <a:prstGeom prst="rect">
            <a:avLst/>
          </a:prstGeom>
        </p:spPr>
      </p:pic>
      <p:pic>
        <p:nvPicPr>
          <p:cNvPr id="7" name="图片 6">
            <a:extLst>
              <a:ext uri="{FF2B5EF4-FFF2-40B4-BE49-F238E27FC236}">
                <a16:creationId xmlns:a16="http://schemas.microsoft.com/office/drawing/2014/main" id="{9E8F9693-A891-424B-A546-25FFB32F722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3844" y="285475"/>
            <a:ext cx="3048000" cy="914400"/>
          </a:xfrm>
          <a:prstGeom prst="rect">
            <a:avLst/>
          </a:prstGeom>
        </p:spPr>
      </p:pic>
    </p:spTree>
    <p:extLst>
      <p:ext uri="{BB962C8B-B14F-4D97-AF65-F5344CB8AC3E}">
        <p14:creationId xmlns:p14="http://schemas.microsoft.com/office/powerpoint/2010/main" val="25865841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6" name="Picture 2" descr="C:\Users\Administrator\Desktop\图片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6975" y="663575"/>
            <a:ext cx="9136064" cy="5149056"/>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326C8462-613A-46DC-B735-41CD468F0B5E}"/>
              </a:ext>
            </a:extLst>
          </p:cNvPr>
          <p:cNvPicPr>
            <a:picLocks noChangeAspect="1"/>
          </p:cNvPicPr>
          <p:nvPr/>
        </p:nvPicPr>
        <p:blipFill rotWithShape="1">
          <a:blip r:embed="rId4">
            <a:extLst>
              <a:ext uri="{28A0092B-C50C-407E-A947-70E740481C1C}">
                <a14:useLocalDpi xmlns:a14="http://schemas.microsoft.com/office/drawing/2010/main" val="0"/>
              </a:ext>
            </a:extLst>
          </a:blip>
          <a:srcRect t="-1" b="36605"/>
          <a:stretch/>
        </p:blipFill>
        <p:spPr>
          <a:xfrm>
            <a:off x="1264445" y="913637"/>
            <a:ext cx="8991598" cy="5566538"/>
          </a:xfrm>
          <a:prstGeom prst="rect">
            <a:avLst/>
          </a:prstGeom>
        </p:spPr>
      </p:pic>
      <p:sp>
        <p:nvSpPr>
          <p:cNvPr id="26" name="TextBox 25"/>
          <p:cNvSpPr txBox="1"/>
          <p:nvPr/>
        </p:nvSpPr>
        <p:spPr>
          <a:xfrm>
            <a:off x="2493167" y="954087"/>
            <a:ext cx="1159292" cy="677108"/>
          </a:xfrm>
          <a:prstGeom prst="rect">
            <a:avLst/>
          </a:prstGeom>
          <a:noFill/>
        </p:spPr>
        <p:txBody>
          <a:bodyPr wrap="none" rtlCol="0">
            <a:spAutoFit/>
          </a:bodyPr>
          <a:lstStyle/>
          <a:p>
            <a:pPr defTabSz="914492" fontAlgn="auto">
              <a:spcBef>
                <a:spcPts val="0"/>
              </a:spcBef>
              <a:spcAft>
                <a:spcPts val="0"/>
              </a:spcAft>
            </a:pPr>
            <a:r>
              <a:rPr lang="zh-CN" altLang="en-US" sz="3800" dirty="0">
                <a:solidFill>
                  <a:srgbClr val="0282D0"/>
                </a:solidFill>
                <a:latin typeface="微软雅黑" pitchFamily="34" charset="-122"/>
                <a:ea typeface="微软雅黑" pitchFamily="34" charset="-122"/>
              </a:rPr>
              <a:t>目录</a:t>
            </a:r>
          </a:p>
        </p:txBody>
      </p:sp>
      <p:sp>
        <p:nvSpPr>
          <p:cNvPr id="27" name="TextBox 26"/>
          <p:cNvSpPr txBox="1"/>
          <p:nvPr/>
        </p:nvSpPr>
        <p:spPr>
          <a:xfrm>
            <a:off x="2026447" y="1631195"/>
            <a:ext cx="2997615" cy="477054"/>
          </a:xfrm>
          <a:prstGeom prst="rect">
            <a:avLst/>
          </a:prstGeom>
          <a:noFill/>
        </p:spPr>
        <p:txBody>
          <a:bodyPr wrap="none" rtlCol="0">
            <a:spAutoFit/>
          </a:bodyPr>
          <a:lstStyle/>
          <a:p>
            <a:pPr defTabSz="914492" fontAlgn="auto">
              <a:spcBef>
                <a:spcPts val="0"/>
              </a:spcBef>
              <a:spcAft>
                <a:spcPts val="0"/>
              </a:spcAft>
            </a:pPr>
            <a:r>
              <a:rPr lang="en-US" altLang="zh-CN" sz="2500" dirty="0">
                <a:solidFill>
                  <a:schemeClr val="accent6">
                    <a:lumMod val="65000"/>
                  </a:schemeClr>
                </a:solidFill>
                <a:latin typeface="微软雅黑" pitchFamily="34" charset="-122"/>
                <a:ea typeface="微软雅黑" pitchFamily="34" charset="-122"/>
              </a:rPr>
              <a:t>PAGE DIRECTORY</a:t>
            </a:r>
            <a:endParaRPr lang="zh-CN" altLang="en-US" sz="2500" dirty="0">
              <a:solidFill>
                <a:schemeClr val="accent6">
                  <a:lumMod val="65000"/>
                </a:schemeClr>
              </a:solidFill>
              <a:latin typeface="微软雅黑" pitchFamily="34" charset="-122"/>
              <a:ea typeface="微软雅黑" pitchFamily="34" charset="-122"/>
            </a:endParaRPr>
          </a:p>
        </p:txBody>
      </p:sp>
      <p:sp>
        <p:nvSpPr>
          <p:cNvPr id="33" name="矩形 7"/>
          <p:cNvSpPr/>
          <p:nvPr/>
        </p:nvSpPr>
        <p:spPr>
          <a:xfrm>
            <a:off x="2829786" y="2313877"/>
            <a:ext cx="2997614"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研究背景与意义</a:t>
            </a:r>
          </a:p>
        </p:txBody>
      </p:sp>
      <p:grpSp>
        <p:nvGrpSpPr>
          <p:cNvPr id="34" name="组合 33"/>
          <p:cNvGrpSpPr/>
          <p:nvPr/>
        </p:nvGrpSpPr>
        <p:grpSpPr>
          <a:xfrm>
            <a:off x="2331247" y="2402124"/>
            <a:ext cx="460019" cy="396623"/>
            <a:chOff x="2051142" y="1275606"/>
            <a:chExt cx="607778" cy="523947"/>
          </a:xfrm>
        </p:grpSpPr>
        <p:sp>
          <p:nvSpPr>
            <p:cNvPr id="35" name="六边形 34"/>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36" name="TextBox 35"/>
            <p:cNvSpPr txBox="1"/>
            <p:nvPr/>
          </p:nvSpPr>
          <p:spPr>
            <a:xfrm>
              <a:off x="2085608" y="1293630"/>
              <a:ext cx="553193" cy="487897"/>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01</a:t>
              </a:r>
              <a:endParaRPr lang="zh-CN" altLang="en-US" kern="0" dirty="0">
                <a:solidFill>
                  <a:srgbClr val="FFFFFF"/>
                </a:solidFill>
                <a:latin typeface="Calibri"/>
                <a:ea typeface="宋体"/>
              </a:endParaRPr>
            </a:p>
          </p:txBody>
        </p:sp>
      </p:grpSp>
      <p:sp>
        <p:nvSpPr>
          <p:cNvPr id="37" name="矩形 7"/>
          <p:cNvSpPr/>
          <p:nvPr/>
        </p:nvSpPr>
        <p:spPr>
          <a:xfrm>
            <a:off x="2829786" y="2771077"/>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拟解决的关键问题</a:t>
            </a:r>
          </a:p>
        </p:txBody>
      </p:sp>
      <p:grpSp>
        <p:nvGrpSpPr>
          <p:cNvPr id="38" name="组合 37"/>
          <p:cNvGrpSpPr/>
          <p:nvPr/>
        </p:nvGrpSpPr>
        <p:grpSpPr>
          <a:xfrm>
            <a:off x="2331247" y="2859324"/>
            <a:ext cx="460019" cy="396623"/>
            <a:chOff x="2051142" y="1275606"/>
            <a:chExt cx="607778" cy="523947"/>
          </a:xfrm>
        </p:grpSpPr>
        <p:sp>
          <p:nvSpPr>
            <p:cNvPr id="39" name="六边形 38"/>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40" name="TextBox 39"/>
            <p:cNvSpPr txBox="1"/>
            <p:nvPr/>
          </p:nvSpPr>
          <p:spPr>
            <a:xfrm>
              <a:off x="2085608" y="1293630"/>
              <a:ext cx="553193" cy="487897"/>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02</a:t>
              </a:r>
              <a:endParaRPr lang="zh-CN" altLang="en-US" kern="0" dirty="0">
                <a:solidFill>
                  <a:srgbClr val="FFFFFF"/>
                </a:solidFill>
                <a:latin typeface="Calibri"/>
                <a:ea typeface="宋体"/>
              </a:endParaRPr>
            </a:p>
          </p:txBody>
        </p:sp>
      </p:grpSp>
      <p:sp>
        <p:nvSpPr>
          <p:cNvPr id="41" name="矩形 7"/>
          <p:cNvSpPr/>
          <p:nvPr/>
        </p:nvSpPr>
        <p:spPr>
          <a:xfrm>
            <a:off x="2829786" y="3228277"/>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总体技术架构</a:t>
            </a:r>
          </a:p>
        </p:txBody>
      </p:sp>
      <p:grpSp>
        <p:nvGrpSpPr>
          <p:cNvPr id="42" name="组合 41"/>
          <p:cNvGrpSpPr/>
          <p:nvPr/>
        </p:nvGrpSpPr>
        <p:grpSpPr>
          <a:xfrm>
            <a:off x="2331247" y="3316524"/>
            <a:ext cx="460019" cy="396623"/>
            <a:chOff x="2051142" y="1275606"/>
            <a:chExt cx="607778" cy="523947"/>
          </a:xfrm>
        </p:grpSpPr>
        <p:sp>
          <p:nvSpPr>
            <p:cNvPr id="43" name="六边形 42"/>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44" name="TextBox 43"/>
            <p:cNvSpPr txBox="1"/>
            <p:nvPr/>
          </p:nvSpPr>
          <p:spPr>
            <a:xfrm>
              <a:off x="2085608" y="1293630"/>
              <a:ext cx="553193" cy="487895"/>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03</a:t>
              </a:r>
              <a:endParaRPr lang="zh-CN" altLang="en-US" kern="0" dirty="0">
                <a:solidFill>
                  <a:srgbClr val="FFFFFF"/>
                </a:solidFill>
                <a:latin typeface="Calibri"/>
                <a:ea typeface="宋体"/>
              </a:endParaRPr>
            </a:p>
          </p:txBody>
        </p:sp>
      </p:grpSp>
      <p:sp>
        <p:nvSpPr>
          <p:cNvPr id="59" name="矩形 7"/>
          <p:cNvSpPr/>
          <p:nvPr/>
        </p:nvSpPr>
        <p:spPr>
          <a:xfrm>
            <a:off x="2829786" y="3713144"/>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创新点与研究内容</a:t>
            </a:r>
          </a:p>
        </p:txBody>
      </p:sp>
      <p:grpSp>
        <p:nvGrpSpPr>
          <p:cNvPr id="60" name="组合 59"/>
          <p:cNvGrpSpPr/>
          <p:nvPr/>
        </p:nvGrpSpPr>
        <p:grpSpPr>
          <a:xfrm>
            <a:off x="2331247" y="3764432"/>
            <a:ext cx="460019" cy="396623"/>
            <a:chOff x="2051142" y="1275606"/>
            <a:chExt cx="607778" cy="523947"/>
          </a:xfrm>
        </p:grpSpPr>
        <p:sp>
          <p:nvSpPr>
            <p:cNvPr id="61" name="六边形 60"/>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64" name="TextBox 63"/>
            <p:cNvSpPr txBox="1"/>
            <p:nvPr/>
          </p:nvSpPr>
          <p:spPr>
            <a:xfrm>
              <a:off x="2085608" y="1293630"/>
              <a:ext cx="553193" cy="487895"/>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04</a:t>
              </a:r>
              <a:endParaRPr lang="zh-CN" altLang="en-US" kern="0" dirty="0">
                <a:solidFill>
                  <a:srgbClr val="FFFFFF"/>
                </a:solidFill>
                <a:latin typeface="Calibri"/>
                <a:ea typeface="宋体"/>
              </a:endParaRPr>
            </a:p>
          </p:txBody>
        </p:sp>
      </p:grpSp>
      <p:sp>
        <p:nvSpPr>
          <p:cNvPr id="82" name="矩形 7"/>
          <p:cNvSpPr/>
          <p:nvPr/>
        </p:nvSpPr>
        <p:spPr>
          <a:xfrm>
            <a:off x="2829786" y="4167521"/>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预期时间安排</a:t>
            </a:r>
          </a:p>
        </p:txBody>
      </p:sp>
      <p:grpSp>
        <p:nvGrpSpPr>
          <p:cNvPr id="83" name="组合 82"/>
          <p:cNvGrpSpPr/>
          <p:nvPr/>
        </p:nvGrpSpPr>
        <p:grpSpPr>
          <a:xfrm>
            <a:off x="2331247" y="4218809"/>
            <a:ext cx="460019" cy="396623"/>
            <a:chOff x="2051142" y="1275606"/>
            <a:chExt cx="607778" cy="523947"/>
          </a:xfrm>
        </p:grpSpPr>
        <p:sp>
          <p:nvSpPr>
            <p:cNvPr id="84" name="六边形 83"/>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85" name="TextBox 84"/>
            <p:cNvSpPr txBox="1"/>
            <p:nvPr/>
          </p:nvSpPr>
          <p:spPr>
            <a:xfrm>
              <a:off x="2085608" y="1293630"/>
              <a:ext cx="553193" cy="487895"/>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05</a:t>
              </a:r>
              <a:endParaRPr lang="zh-CN" altLang="en-US" kern="0" dirty="0">
                <a:solidFill>
                  <a:srgbClr val="FFFFFF"/>
                </a:solidFill>
                <a:latin typeface="Calibri"/>
                <a:ea typeface="宋体"/>
              </a:endParaRPr>
            </a:p>
          </p:txBody>
        </p:sp>
      </p:grpSp>
      <p:sp>
        <p:nvSpPr>
          <p:cNvPr id="86" name="矩形 7"/>
          <p:cNvSpPr/>
          <p:nvPr/>
        </p:nvSpPr>
        <p:spPr>
          <a:xfrm>
            <a:off x="2829786" y="4620979"/>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致    谢</a:t>
            </a:r>
          </a:p>
        </p:txBody>
      </p:sp>
      <p:grpSp>
        <p:nvGrpSpPr>
          <p:cNvPr id="87" name="组合 86"/>
          <p:cNvGrpSpPr/>
          <p:nvPr/>
        </p:nvGrpSpPr>
        <p:grpSpPr>
          <a:xfrm>
            <a:off x="2331247" y="4672267"/>
            <a:ext cx="460019" cy="396623"/>
            <a:chOff x="2051142" y="1275606"/>
            <a:chExt cx="607778" cy="523947"/>
          </a:xfrm>
        </p:grpSpPr>
        <p:sp>
          <p:nvSpPr>
            <p:cNvPr id="88" name="六边形 87"/>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89" name="TextBox 88"/>
            <p:cNvSpPr txBox="1"/>
            <p:nvPr/>
          </p:nvSpPr>
          <p:spPr>
            <a:xfrm>
              <a:off x="2085608" y="1293630"/>
              <a:ext cx="553193" cy="487895"/>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06</a:t>
              </a:r>
              <a:endParaRPr lang="zh-CN" altLang="en-US" kern="0" dirty="0">
                <a:solidFill>
                  <a:srgbClr val="FFFFFF"/>
                </a:solidFill>
                <a:latin typeface="Calibri"/>
                <a:ea typeface="宋体"/>
              </a:endParaRPr>
            </a:p>
          </p:txBody>
        </p:sp>
      </p:grpSp>
      <p:pic>
        <p:nvPicPr>
          <p:cNvPr id="32" name="Picture 28" descr="E:\熊猫PPT\00001PNG素材\底边条\分层菱形.png">
            <a:extLst>
              <a:ext uri="{FF2B5EF4-FFF2-40B4-BE49-F238E27FC236}">
                <a16:creationId xmlns:a16="http://schemas.microsoft.com/office/drawing/2014/main" id="{3C888521-BC86-4CCE-9611-DA395F07B360}"/>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95043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0" name="Picture 28">
            <a:extLst>
              <a:ext uri="{FF2B5EF4-FFF2-40B4-BE49-F238E27FC236}">
                <a16:creationId xmlns:a16="http://schemas.microsoft.com/office/drawing/2014/main" id="{5E4C5D59-2DA3-4959-B2BE-256FF79D5AB5}"/>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组合 3">
            <a:extLst>
              <a:ext uri="{FF2B5EF4-FFF2-40B4-BE49-F238E27FC236}">
                <a16:creationId xmlns:a16="http://schemas.microsoft.com/office/drawing/2014/main" id="{3422E615-F7DC-48E9-8588-DEA5043D3682}"/>
              </a:ext>
            </a:extLst>
          </p:cNvPr>
          <p:cNvGrpSpPr>
            <a:grpSpLocks/>
          </p:cNvGrpSpPr>
          <p:nvPr/>
        </p:nvGrpSpPr>
        <p:grpSpPr bwMode="auto">
          <a:xfrm>
            <a:off x="464577" y="165395"/>
            <a:ext cx="433338" cy="535447"/>
            <a:chOff x="10675" y="7633"/>
            <a:chExt cx="433171" cy="534549"/>
          </a:xfrm>
        </p:grpSpPr>
        <p:sp>
          <p:nvSpPr>
            <p:cNvPr id="42" name="圆角矩形 10">
              <a:extLst>
                <a:ext uri="{FF2B5EF4-FFF2-40B4-BE49-F238E27FC236}">
                  <a16:creationId xmlns:a16="http://schemas.microsoft.com/office/drawing/2014/main" id="{42EA4784-E3AD-41B1-9566-4ADB9CA4D7CD}"/>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43" name="图片 50">
              <a:extLst>
                <a:ext uri="{FF2B5EF4-FFF2-40B4-BE49-F238E27FC236}">
                  <a16:creationId xmlns:a16="http://schemas.microsoft.com/office/drawing/2014/main" id="{7B2B86D7-21CF-425F-9AF5-6ACF532AB0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4" name="图片 43">
            <a:extLst>
              <a:ext uri="{FF2B5EF4-FFF2-40B4-BE49-F238E27FC236}">
                <a16:creationId xmlns:a16="http://schemas.microsoft.com/office/drawing/2014/main" id="{C57ECE66-0013-45DA-BA2C-6DAD4399660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45" name="TextBox 29">
            <a:extLst>
              <a:ext uri="{FF2B5EF4-FFF2-40B4-BE49-F238E27FC236}">
                <a16:creationId xmlns:a16="http://schemas.microsoft.com/office/drawing/2014/main" id="{AD33044A-D3CD-4FD5-80ED-E084A0D821EE}"/>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研究背景与意义</a:t>
            </a:r>
          </a:p>
        </p:txBody>
      </p:sp>
      <p:sp>
        <p:nvSpPr>
          <p:cNvPr id="48" name="Rectangle 47"/>
          <p:cNvSpPr/>
          <p:nvPr/>
        </p:nvSpPr>
        <p:spPr>
          <a:xfrm>
            <a:off x="6995160" y="1444752"/>
            <a:ext cx="3794760" cy="2136123"/>
          </a:xfrm>
          <a:prstGeom prst="rect">
            <a:avLst/>
          </a:prstGeom>
          <a:noFill/>
          <a:ln w="12700">
            <a:solidFill>
              <a:srgbClr val="C2D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6995160" y="3968496"/>
            <a:ext cx="3794760" cy="2133213"/>
          </a:xfrm>
          <a:prstGeom prst="rect">
            <a:avLst/>
          </a:prstGeom>
          <a:noFill/>
          <a:ln w="12700">
            <a:solidFill>
              <a:srgbClr val="C2D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566928" y="1252728"/>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01</a:t>
            </a:r>
          </a:p>
        </p:txBody>
      </p:sp>
      <p:sp>
        <p:nvSpPr>
          <p:cNvPr id="53" name="TextBox 52"/>
          <p:cNvSpPr txBox="1"/>
          <p:nvPr/>
        </p:nvSpPr>
        <p:spPr>
          <a:xfrm>
            <a:off x="1133856" y="1197864"/>
            <a:ext cx="542239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需求牵引</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全球约</a:t>
            </a:r>
            <a:r>
              <a:rPr sz="1700" b="0" dirty="0">
                <a:solidFill>
                  <a:srgbClr val="333F4F"/>
                </a:solidFill>
                <a:latin typeface="微软雅黑"/>
                <a:ea typeface="微软雅黑"/>
              </a:rPr>
              <a:t> 80% </a:t>
            </a:r>
            <a:r>
              <a:rPr sz="1700" b="0" dirty="0" err="1">
                <a:solidFill>
                  <a:srgbClr val="333F4F"/>
                </a:solidFill>
                <a:latin typeface="微软雅黑"/>
                <a:ea typeface="微软雅黑"/>
              </a:rPr>
              <a:t>货物贸易量经海运完成，航行安全与海事监管对船舶自动跟踪提出更高要求</a:t>
            </a:r>
            <a:r>
              <a:rPr sz="1700" b="0" dirty="0">
                <a:solidFill>
                  <a:srgbClr val="333F4F"/>
                </a:solidFill>
                <a:latin typeface="微软雅黑"/>
                <a:ea typeface="微软雅黑"/>
              </a:rPr>
              <a:t>。</a:t>
            </a:r>
          </a:p>
        </p:txBody>
      </p:sp>
      <p:sp>
        <p:nvSpPr>
          <p:cNvPr id="54" name="Rounded Rectangle 53"/>
          <p:cNvSpPr/>
          <p:nvPr/>
        </p:nvSpPr>
        <p:spPr>
          <a:xfrm>
            <a:off x="566928" y="2478024"/>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02</a:t>
            </a:r>
          </a:p>
        </p:txBody>
      </p:sp>
      <p:sp>
        <p:nvSpPr>
          <p:cNvPr id="55" name="TextBox 54"/>
          <p:cNvSpPr txBox="1"/>
          <p:nvPr/>
        </p:nvSpPr>
        <p:spPr>
          <a:xfrm>
            <a:off x="1133856" y="2423160"/>
            <a:ext cx="5422392" cy="1050609"/>
          </a:xfrm>
          <a:prstGeom prst="rect">
            <a:avLst/>
          </a:prstGeom>
          <a:noFill/>
        </p:spPr>
        <p:txBody>
          <a:bodyPr wrap="square" lIns="0" tIns="0" rIns="0" bIns="0" anchor="t">
            <a:spAutoFit/>
          </a:bodyPr>
          <a:lstStyle/>
          <a:p>
            <a:pPr algn="l">
              <a:lnSpc>
                <a:spcPct val="128000"/>
              </a:lnSpc>
              <a:spcAft>
                <a:spcPts val="300"/>
              </a:spcAft>
            </a:pPr>
            <a:r>
              <a:rPr lang="zh-CN" altLang="en-US" sz="1900" b="1" dirty="0">
                <a:solidFill>
                  <a:srgbClr val="172B4B"/>
                </a:solidFill>
                <a:latin typeface="微软雅黑"/>
                <a:ea typeface="微软雅黑"/>
              </a:rPr>
              <a:t>漏检</a:t>
            </a:r>
            <a:r>
              <a:rPr lang="zh-CN" altLang="en-US" sz="1900" dirty="0">
                <a:solidFill>
                  <a:srgbClr val="172B4B"/>
                </a:solidFill>
                <a:latin typeface="微软雅黑"/>
                <a:ea typeface="微软雅黑"/>
              </a:rPr>
              <a:t>误</a:t>
            </a:r>
            <a:r>
              <a:rPr lang="zh-CN" altLang="en-US" sz="1900" b="1" dirty="0">
                <a:solidFill>
                  <a:srgbClr val="172B4B"/>
                </a:solidFill>
                <a:latin typeface="微软雅黑"/>
                <a:ea typeface="微软雅黑"/>
              </a:rPr>
              <a:t>检</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海面反光</a:t>
            </a:r>
            <a:r>
              <a:rPr sz="1700" b="0" dirty="0">
                <a:solidFill>
                  <a:srgbClr val="333F4F"/>
                </a:solidFill>
                <a:latin typeface="微软雅黑"/>
                <a:ea typeface="微软雅黑"/>
              </a:rPr>
              <a:t>、</a:t>
            </a:r>
            <a:r>
              <a:rPr lang="zh-CN" altLang="en-US" sz="1700" b="0" dirty="0">
                <a:solidFill>
                  <a:srgbClr val="333F4F"/>
                </a:solidFill>
                <a:latin typeface="微软雅黑"/>
                <a:ea typeface="微软雅黑"/>
              </a:rPr>
              <a:t>黄昏</a:t>
            </a:r>
            <a:r>
              <a:rPr sz="1700" b="0" dirty="0" err="1">
                <a:solidFill>
                  <a:srgbClr val="333F4F"/>
                </a:solidFill>
                <a:latin typeface="微软雅黑"/>
                <a:ea typeface="微软雅黑"/>
              </a:rPr>
              <a:t>导致漏检误检；目标交汇与遮挡引发身份切换、轨迹碎片</a:t>
            </a:r>
            <a:r>
              <a:rPr sz="1700" b="0" dirty="0">
                <a:solidFill>
                  <a:srgbClr val="333F4F"/>
                </a:solidFill>
                <a:latin typeface="微软雅黑"/>
                <a:ea typeface="微软雅黑"/>
              </a:rPr>
              <a:t>。</a:t>
            </a:r>
          </a:p>
        </p:txBody>
      </p:sp>
      <p:sp>
        <p:nvSpPr>
          <p:cNvPr id="56" name="Rounded Rectangle 55"/>
          <p:cNvSpPr/>
          <p:nvPr/>
        </p:nvSpPr>
        <p:spPr>
          <a:xfrm>
            <a:off x="566928" y="3703320"/>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03</a:t>
            </a:r>
          </a:p>
        </p:txBody>
      </p:sp>
      <p:sp>
        <p:nvSpPr>
          <p:cNvPr id="57" name="TextBox 56"/>
          <p:cNvSpPr txBox="1"/>
          <p:nvPr/>
        </p:nvSpPr>
        <p:spPr>
          <a:xfrm>
            <a:off x="1133856" y="3648456"/>
            <a:ext cx="542239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模态互补</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可见光纹理丰富但夜间与恶劣天气退化；红外不依赖照明却缺少颜色与纹理细节</a:t>
            </a:r>
            <a:r>
              <a:rPr sz="1700" b="0" dirty="0">
                <a:solidFill>
                  <a:srgbClr val="333F4F"/>
                </a:solidFill>
                <a:latin typeface="微软雅黑"/>
                <a:ea typeface="微软雅黑"/>
              </a:rPr>
              <a:t>。</a:t>
            </a:r>
          </a:p>
        </p:txBody>
      </p:sp>
      <p:sp>
        <p:nvSpPr>
          <p:cNvPr id="58" name="Rounded Rectangle 57"/>
          <p:cNvSpPr/>
          <p:nvPr/>
        </p:nvSpPr>
        <p:spPr>
          <a:xfrm>
            <a:off x="566928" y="4928616"/>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04</a:t>
            </a:r>
          </a:p>
        </p:txBody>
      </p:sp>
      <p:sp>
        <p:nvSpPr>
          <p:cNvPr id="59" name="TextBox 58"/>
          <p:cNvSpPr txBox="1"/>
          <p:nvPr/>
        </p:nvSpPr>
        <p:spPr>
          <a:xfrm>
            <a:off x="1133856" y="4873752"/>
            <a:ext cx="542239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研究空白</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双模态研究多集中于图像融合与单目标跟踪，面向多目标身份维持的工作仍然有限</a:t>
            </a:r>
            <a:r>
              <a:rPr sz="1700" b="0" dirty="0">
                <a:solidFill>
                  <a:srgbClr val="333F4F"/>
                </a:solidFill>
                <a:latin typeface="微软雅黑"/>
                <a:ea typeface="微软雅黑"/>
              </a:rPr>
              <a:t>。</a:t>
            </a:r>
          </a:p>
        </p:txBody>
      </p:sp>
      <p:pic>
        <p:nvPicPr>
          <p:cNvPr id="4" name="图片 3" descr="海上的风景">
            <a:extLst>
              <a:ext uri="{FF2B5EF4-FFF2-40B4-BE49-F238E27FC236}">
                <a16:creationId xmlns:a16="http://schemas.microsoft.com/office/drawing/2014/main" id="{86D2D8EA-7D8D-2AE7-E318-B6FA336DAD4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976961" y="1446322"/>
            <a:ext cx="3794760" cy="2134553"/>
          </a:xfrm>
          <a:prstGeom prst="rect">
            <a:avLst/>
          </a:prstGeom>
        </p:spPr>
      </p:pic>
      <p:pic>
        <p:nvPicPr>
          <p:cNvPr id="6" name="图片 5" descr="海上有艘船&#10;&#10;描述已自动生成">
            <a:extLst>
              <a:ext uri="{FF2B5EF4-FFF2-40B4-BE49-F238E27FC236}">
                <a16:creationId xmlns:a16="http://schemas.microsoft.com/office/drawing/2014/main" id="{BBF6DAE9-AE89-6F2E-4EB9-DED415ECB2C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995160" y="3965586"/>
            <a:ext cx="3797551" cy="2136123"/>
          </a:xfrm>
          <a:prstGeom prst="rect">
            <a:avLst/>
          </a:prstGeom>
        </p:spPr>
      </p:pic>
    </p:spTree>
    <p:extLst>
      <p:ext uri="{BB962C8B-B14F-4D97-AF65-F5344CB8AC3E}">
        <p14:creationId xmlns:p14="http://schemas.microsoft.com/office/powerpoint/2010/main" val="2335069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二、研究内容</a:t>
            </a:r>
          </a:p>
        </p:txBody>
      </p:sp>
      <p:sp>
        <p:nvSpPr>
          <p:cNvPr id="62" name="TextBox 61"/>
          <p:cNvSpPr txBox="1"/>
          <p:nvPr/>
        </p:nvSpPr>
        <p:spPr>
          <a:xfrm>
            <a:off x="566928" y="1152144"/>
            <a:ext cx="10378440" cy="667042"/>
          </a:xfrm>
          <a:prstGeom prst="rect">
            <a:avLst/>
          </a:prstGeom>
          <a:noFill/>
        </p:spPr>
        <p:txBody>
          <a:bodyPr wrap="square" lIns="0" tIns="0" rIns="0" bIns="0" anchor="t">
            <a:spAutoFit/>
          </a:bodyPr>
          <a:lstStyle/>
          <a:p>
            <a:pPr algn="l">
              <a:lnSpc>
                <a:spcPct val="130000"/>
              </a:lnSpc>
              <a:spcAft>
                <a:spcPts val="600"/>
              </a:spcAft>
            </a:pPr>
            <a:r>
              <a:rPr sz="1800" b="1" dirty="0" err="1">
                <a:solidFill>
                  <a:srgbClr val="172B4B"/>
                </a:solidFill>
                <a:latin typeface="微软雅黑"/>
                <a:ea typeface="微软雅黑"/>
              </a:rPr>
              <a:t>总体思路</a:t>
            </a:r>
            <a:r>
              <a:rPr sz="1800" b="1" dirty="0">
                <a:solidFill>
                  <a:srgbClr val="172B4B"/>
                </a:solidFill>
                <a:latin typeface="微软雅黑"/>
                <a:ea typeface="微软雅黑"/>
              </a:rPr>
              <a:t>：</a:t>
            </a:r>
            <a:r>
              <a:rPr lang="zh-CN" altLang="en-US" sz="1700" b="0" dirty="0">
                <a:solidFill>
                  <a:srgbClr val="333F4F"/>
                </a:solidFill>
                <a:latin typeface="微软雅黑"/>
                <a:ea typeface="微软雅黑"/>
              </a:rPr>
              <a:t>构建可见光红外数据集，按</a:t>
            </a:r>
            <a:r>
              <a:rPr sz="1700" b="0" dirty="0">
                <a:solidFill>
                  <a:srgbClr val="333F4F"/>
                </a:solidFill>
                <a:latin typeface="微软雅黑"/>
                <a:ea typeface="微软雅黑"/>
              </a:rPr>
              <a:t>“</a:t>
            </a:r>
            <a:r>
              <a:rPr sz="1700" b="0" dirty="0" err="1">
                <a:solidFill>
                  <a:srgbClr val="333F4F"/>
                </a:solidFill>
                <a:latin typeface="微软雅黑"/>
                <a:ea typeface="微软雅黑"/>
              </a:rPr>
              <a:t>检测后跟踪</a:t>
            </a:r>
            <a:r>
              <a:rPr sz="1700" b="0" dirty="0">
                <a:solidFill>
                  <a:srgbClr val="333F4F"/>
                </a:solidFill>
                <a:latin typeface="微软雅黑"/>
                <a:ea typeface="微软雅黑"/>
              </a:rPr>
              <a:t> — </a:t>
            </a:r>
            <a:r>
              <a:rPr sz="1700" b="0" dirty="0" err="1">
                <a:solidFill>
                  <a:srgbClr val="333F4F"/>
                </a:solidFill>
                <a:latin typeface="微软雅黑"/>
                <a:ea typeface="微软雅黑"/>
              </a:rPr>
              <a:t>联合检测与身份嵌入</a:t>
            </a:r>
            <a:r>
              <a:rPr sz="1700" b="0" dirty="0">
                <a:solidFill>
                  <a:srgbClr val="333F4F"/>
                </a:solidFill>
                <a:latin typeface="微软雅黑"/>
                <a:ea typeface="微软雅黑"/>
              </a:rPr>
              <a:t> — </a:t>
            </a:r>
            <a:r>
              <a:rPr sz="1700" b="0" dirty="0" err="1">
                <a:solidFill>
                  <a:srgbClr val="333F4F"/>
                </a:solidFill>
                <a:latin typeface="微软雅黑"/>
                <a:ea typeface="微软雅黑"/>
              </a:rPr>
              <a:t>联合检测跟踪”三条技术路线递进展开</a:t>
            </a:r>
            <a:endParaRPr sz="1700" b="0" dirty="0">
              <a:solidFill>
                <a:srgbClr val="333F4F"/>
              </a:solidFill>
              <a:latin typeface="微软雅黑"/>
              <a:ea typeface="微软雅黑"/>
            </a:endParaRPr>
          </a:p>
        </p:txBody>
      </p:sp>
      <p:sp>
        <p:nvSpPr>
          <p:cNvPr id="63" name="Rounded Rectangle 62"/>
          <p:cNvSpPr/>
          <p:nvPr/>
        </p:nvSpPr>
        <p:spPr>
          <a:xfrm>
            <a:off x="548640" y="2029968"/>
            <a:ext cx="4983480" cy="175564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64" name="Rounded Rectangle 63"/>
          <p:cNvSpPr/>
          <p:nvPr/>
        </p:nvSpPr>
        <p:spPr>
          <a:xfrm>
            <a:off x="786384" y="2322576"/>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01</a:t>
            </a:r>
          </a:p>
        </p:txBody>
      </p:sp>
      <p:sp>
        <p:nvSpPr>
          <p:cNvPr id="65" name="TextBox 64"/>
          <p:cNvSpPr txBox="1"/>
          <p:nvPr/>
        </p:nvSpPr>
        <p:spPr>
          <a:xfrm>
            <a:off x="1371600" y="2286000"/>
            <a:ext cx="3950208" cy="1371600"/>
          </a:xfrm>
          <a:prstGeom prst="rect">
            <a:avLst/>
          </a:prstGeom>
          <a:noFill/>
        </p:spPr>
        <p:txBody>
          <a:bodyPr wrap="square" lIns="0" tIns="0" rIns="0" bIns="0" anchor="t">
            <a:spAutoFit/>
          </a:bodyPr>
          <a:lstStyle/>
          <a:p>
            <a:pPr algn="l">
              <a:lnSpc>
                <a:spcPct val="126000"/>
              </a:lnSpc>
              <a:spcAft>
                <a:spcPts val="300"/>
              </a:spcAft>
            </a:pPr>
            <a:r>
              <a:rPr sz="1750" b="1" dirty="0" err="1">
                <a:solidFill>
                  <a:srgbClr val="172B4B"/>
                </a:solidFill>
                <a:latin typeface="微软雅黑"/>
                <a:ea typeface="微软雅黑"/>
              </a:rPr>
              <a:t>可见光</a:t>
            </a:r>
            <a:r>
              <a:rPr sz="1750" b="1" dirty="0">
                <a:solidFill>
                  <a:srgbClr val="172B4B"/>
                </a:solidFill>
                <a:latin typeface="微软雅黑"/>
                <a:ea typeface="微软雅黑"/>
              </a:rPr>
              <a:t>—</a:t>
            </a:r>
            <a:r>
              <a:rPr sz="1750" b="1" dirty="0" err="1">
                <a:solidFill>
                  <a:srgbClr val="172B4B"/>
                </a:solidFill>
                <a:latin typeface="微软雅黑"/>
                <a:ea typeface="微软雅黑"/>
              </a:rPr>
              <a:t>红外船舶数据集构建</a:t>
            </a:r>
            <a:endParaRPr sz="1750" b="1" dirty="0">
              <a:solidFill>
                <a:srgbClr val="172B4B"/>
              </a:solidFill>
              <a:latin typeface="微软雅黑"/>
              <a:ea typeface="微软雅黑"/>
            </a:endParaRPr>
          </a:p>
          <a:p>
            <a:pPr algn="l">
              <a:lnSpc>
                <a:spcPct val="126000"/>
              </a:lnSpc>
              <a:spcAft>
                <a:spcPts val="300"/>
              </a:spcAft>
            </a:pPr>
            <a:r>
              <a:rPr sz="1550" b="0" dirty="0" err="1">
                <a:solidFill>
                  <a:srgbClr val="333F4F"/>
                </a:solidFill>
                <a:latin typeface="微软雅黑"/>
                <a:ea typeface="微软雅黑"/>
              </a:rPr>
              <a:t>整理双模态船舶视频并核对时空配准，用</a:t>
            </a:r>
            <a:r>
              <a:rPr sz="1550" b="0" dirty="0">
                <a:solidFill>
                  <a:srgbClr val="333F4F"/>
                </a:solidFill>
                <a:latin typeface="微软雅黑"/>
                <a:ea typeface="微软雅黑"/>
              </a:rPr>
              <a:t> CVAT </a:t>
            </a:r>
            <a:r>
              <a:rPr sz="1550" b="0" dirty="0" err="1">
                <a:solidFill>
                  <a:srgbClr val="333F4F"/>
                </a:solidFill>
                <a:latin typeface="微软雅黑"/>
                <a:ea typeface="微软雅黑"/>
              </a:rPr>
              <a:t>标注边界框、类别与跨帧</a:t>
            </a:r>
            <a:r>
              <a:rPr sz="1550" b="0" dirty="0">
                <a:solidFill>
                  <a:srgbClr val="333F4F"/>
                </a:solidFill>
                <a:latin typeface="微软雅黑"/>
                <a:ea typeface="微软雅黑"/>
              </a:rPr>
              <a:t> Track </a:t>
            </a:r>
            <a:r>
              <a:rPr sz="1550" b="0" dirty="0" err="1">
                <a:solidFill>
                  <a:srgbClr val="333F4F"/>
                </a:solidFill>
                <a:latin typeface="微软雅黑"/>
                <a:ea typeface="微软雅黑"/>
              </a:rPr>
              <a:t>ID，按独立序列划分数据集</a:t>
            </a:r>
            <a:r>
              <a:rPr sz="1550" b="0" dirty="0">
                <a:solidFill>
                  <a:srgbClr val="333F4F"/>
                </a:solidFill>
                <a:latin typeface="微软雅黑"/>
                <a:ea typeface="微软雅黑"/>
              </a:rPr>
              <a:t>。</a:t>
            </a:r>
          </a:p>
        </p:txBody>
      </p:sp>
      <p:sp>
        <p:nvSpPr>
          <p:cNvPr id="66" name="Rounded Rectangle 65"/>
          <p:cNvSpPr/>
          <p:nvPr/>
        </p:nvSpPr>
        <p:spPr>
          <a:xfrm>
            <a:off x="5989320" y="2029968"/>
            <a:ext cx="4983480" cy="175564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67" name="Rounded Rectangle 66"/>
          <p:cNvSpPr/>
          <p:nvPr/>
        </p:nvSpPr>
        <p:spPr>
          <a:xfrm>
            <a:off x="6227064" y="2322576"/>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02</a:t>
            </a:r>
          </a:p>
        </p:txBody>
      </p:sp>
      <p:sp>
        <p:nvSpPr>
          <p:cNvPr id="68" name="TextBox 67"/>
          <p:cNvSpPr txBox="1"/>
          <p:nvPr/>
        </p:nvSpPr>
        <p:spPr>
          <a:xfrm>
            <a:off x="6812280" y="2286000"/>
            <a:ext cx="3950208" cy="1371600"/>
          </a:xfrm>
          <a:prstGeom prst="rect">
            <a:avLst/>
          </a:prstGeom>
          <a:noFill/>
        </p:spPr>
        <p:txBody>
          <a:bodyPr wrap="square" lIns="0" tIns="0" rIns="0" bIns="0" anchor="t">
            <a:spAutoFit/>
          </a:bodyPr>
          <a:lstStyle/>
          <a:p>
            <a:pPr algn="l">
              <a:lnSpc>
                <a:spcPct val="126000"/>
              </a:lnSpc>
              <a:spcAft>
                <a:spcPts val="300"/>
              </a:spcAft>
            </a:pPr>
            <a:r>
              <a:rPr sz="1750" b="1">
                <a:solidFill>
                  <a:srgbClr val="172B4B"/>
                </a:solidFill>
                <a:latin typeface="微软雅黑"/>
                <a:ea typeface="微软雅黑"/>
              </a:rPr>
              <a:t>检测后跟踪算法研究</a:t>
            </a:r>
          </a:p>
          <a:p>
            <a:pPr algn="l">
              <a:lnSpc>
                <a:spcPct val="126000"/>
              </a:lnSpc>
              <a:spcAft>
                <a:spcPts val="300"/>
              </a:spcAft>
            </a:pPr>
            <a:r>
              <a:rPr sz="1550" b="0">
                <a:solidFill>
                  <a:srgbClr val="333F4F"/>
                </a:solidFill>
                <a:latin typeface="微软雅黑"/>
                <a:ea typeface="微软雅黑"/>
              </a:rPr>
              <a:t>以 ByteTrack 为基线，研究红外与可见光检测结果在检测框融合、置信度协同与数据关联阶段的利用方式。</a:t>
            </a:r>
          </a:p>
        </p:txBody>
      </p:sp>
      <p:sp>
        <p:nvSpPr>
          <p:cNvPr id="69" name="Rounded Rectangle 68"/>
          <p:cNvSpPr/>
          <p:nvPr/>
        </p:nvSpPr>
        <p:spPr>
          <a:xfrm>
            <a:off x="548640" y="3950208"/>
            <a:ext cx="4983480" cy="175564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70" name="Rounded Rectangle 69"/>
          <p:cNvSpPr/>
          <p:nvPr/>
        </p:nvSpPr>
        <p:spPr>
          <a:xfrm>
            <a:off x="786384" y="4242816"/>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03</a:t>
            </a:r>
          </a:p>
        </p:txBody>
      </p:sp>
      <p:sp>
        <p:nvSpPr>
          <p:cNvPr id="71" name="TextBox 70"/>
          <p:cNvSpPr txBox="1"/>
          <p:nvPr/>
        </p:nvSpPr>
        <p:spPr>
          <a:xfrm>
            <a:off x="1371600" y="4206240"/>
            <a:ext cx="3950208" cy="1371600"/>
          </a:xfrm>
          <a:prstGeom prst="rect">
            <a:avLst/>
          </a:prstGeom>
          <a:noFill/>
        </p:spPr>
        <p:txBody>
          <a:bodyPr wrap="square" lIns="0" tIns="0" rIns="0" bIns="0" anchor="t">
            <a:spAutoFit/>
          </a:bodyPr>
          <a:lstStyle/>
          <a:p>
            <a:pPr algn="l">
              <a:lnSpc>
                <a:spcPct val="126000"/>
              </a:lnSpc>
              <a:spcAft>
                <a:spcPts val="300"/>
              </a:spcAft>
            </a:pPr>
            <a:r>
              <a:rPr sz="1750" b="1">
                <a:solidFill>
                  <a:srgbClr val="172B4B"/>
                </a:solidFill>
                <a:latin typeface="微软雅黑"/>
                <a:ea typeface="微软雅黑"/>
              </a:rPr>
              <a:t>联合检测与身份嵌入算法研究</a:t>
            </a:r>
          </a:p>
          <a:p>
            <a:pPr algn="l">
              <a:lnSpc>
                <a:spcPct val="126000"/>
              </a:lnSpc>
              <a:spcAft>
                <a:spcPts val="300"/>
              </a:spcAft>
            </a:pPr>
            <a:r>
              <a:rPr sz="1550" b="0">
                <a:solidFill>
                  <a:srgbClr val="333F4F"/>
                </a:solidFill>
                <a:latin typeface="微软雅黑"/>
                <a:ea typeface="微软雅黑"/>
              </a:rPr>
              <a:t>以 FairMOT 为基线，研究外观特征在船舶交汇、遮挡情况下减少身份切换、维持轨迹连续性的作用。</a:t>
            </a:r>
          </a:p>
        </p:txBody>
      </p:sp>
      <p:sp>
        <p:nvSpPr>
          <p:cNvPr id="72" name="Rounded Rectangle 71"/>
          <p:cNvSpPr/>
          <p:nvPr/>
        </p:nvSpPr>
        <p:spPr>
          <a:xfrm>
            <a:off x="5989320" y="3950208"/>
            <a:ext cx="4983480" cy="175564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73" name="Rounded Rectangle 72"/>
          <p:cNvSpPr/>
          <p:nvPr/>
        </p:nvSpPr>
        <p:spPr>
          <a:xfrm>
            <a:off x="6227064" y="4242816"/>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04</a:t>
            </a:r>
          </a:p>
        </p:txBody>
      </p:sp>
      <p:sp>
        <p:nvSpPr>
          <p:cNvPr id="74" name="TextBox 73"/>
          <p:cNvSpPr txBox="1"/>
          <p:nvPr/>
        </p:nvSpPr>
        <p:spPr>
          <a:xfrm>
            <a:off x="6812280" y="4206240"/>
            <a:ext cx="3950208" cy="1371600"/>
          </a:xfrm>
          <a:prstGeom prst="rect">
            <a:avLst/>
          </a:prstGeom>
          <a:noFill/>
        </p:spPr>
        <p:txBody>
          <a:bodyPr wrap="square" lIns="0" tIns="0" rIns="0" bIns="0" anchor="t">
            <a:spAutoFit/>
          </a:bodyPr>
          <a:lstStyle/>
          <a:p>
            <a:pPr algn="l">
              <a:lnSpc>
                <a:spcPct val="126000"/>
              </a:lnSpc>
              <a:spcAft>
                <a:spcPts val="300"/>
              </a:spcAft>
            </a:pPr>
            <a:r>
              <a:rPr sz="1750" b="1">
                <a:solidFill>
                  <a:srgbClr val="172B4B"/>
                </a:solidFill>
                <a:latin typeface="微软雅黑"/>
                <a:ea typeface="微软雅黑"/>
              </a:rPr>
              <a:t>联合检测跟踪算法研究</a:t>
            </a:r>
          </a:p>
          <a:p>
            <a:pPr algn="l">
              <a:lnSpc>
                <a:spcPct val="126000"/>
              </a:lnSpc>
              <a:spcAft>
                <a:spcPts val="300"/>
              </a:spcAft>
            </a:pPr>
            <a:r>
              <a:rPr sz="1550" b="0">
                <a:solidFill>
                  <a:srgbClr val="333F4F"/>
                </a:solidFill>
                <a:latin typeface="微软雅黑"/>
                <a:ea typeface="微软雅黑"/>
              </a:rPr>
              <a:t>以 MOTR 为基线，引入双模态特征融合模块，研究双模态特征对轨迹查询更新与目标身份保持的影响。</a:t>
            </a:r>
          </a:p>
        </p:txBody>
      </p:sp>
    </p:spTree>
    <p:extLst>
      <p:ext uri="{BB962C8B-B14F-4D97-AF65-F5344CB8AC3E}">
        <p14:creationId xmlns:p14="http://schemas.microsoft.com/office/powerpoint/2010/main" val="15529139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1" name="Picture 28">
            <a:extLst>
              <a:ext uri="{FF2B5EF4-FFF2-40B4-BE49-F238E27FC236}">
                <a16:creationId xmlns:a16="http://schemas.microsoft.com/office/drawing/2014/main" id="{AD4B22CA-C629-4BF9-BF5A-B57F9A84F586}"/>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4" name="组合 3">
            <a:extLst>
              <a:ext uri="{FF2B5EF4-FFF2-40B4-BE49-F238E27FC236}">
                <a16:creationId xmlns:a16="http://schemas.microsoft.com/office/drawing/2014/main" id="{529B9D8D-DBB7-4133-BFB1-9C0D9A8AF8D3}"/>
              </a:ext>
            </a:extLst>
          </p:cNvPr>
          <p:cNvGrpSpPr>
            <a:grpSpLocks/>
          </p:cNvGrpSpPr>
          <p:nvPr/>
        </p:nvGrpSpPr>
        <p:grpSpPr bwMode="auto">
          <a:xfrm>
            <a:off x="464577" y="165395"/>
            <a:ext cx="433338" cy="535447"/>
            <a:chOff x="10675" y="7633"/>
            <a:chExt cx="433171" cy="534549"/>
          </a:xfrm>
        </p:grpSpPr>
        <p:sp>
          <p:nvSpPr>
            <p:cNvPr id="55" name="圆角矩形 10">
              <a:extLst>
                <a:ext uri="{FF2B5EF4-FFF2-40B4-BE49-F238E27FC236}">
                  <a16:creationId xmlns:a16="http://schemas.microsoft.com/office/drawing/2014/main" id="{F68CD097-4358-4934-ABFA-8CC90AADE3D8}"/>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6" name="图片 50">
              <a:extLst>
                <a:ext uri="{FF2B5EF4-FFF2-40B4-BE49-F238E27FC236}">
                  <a16:creationId xmlns:a16="http://schemas.microsoft.com/office/drawing/2014/main" id="{E565A670-7902-47FC-AC03-A7514765D4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7" name="图片 56">
            <a:extLst>
              <a:ext uri="{FF2B5EF4-FFF2-40B4-BE49-F238E27FC236}">
                <a16:creationId xmlns:a16="http://schemas.microsoft.com/office/drawing/2014/main" id="{DDA90713-58AB-43AA-AF8A-E29CAA2188E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58" name="TextBox 29">
            <a:extLst>
              <a:ext uri="{FF2B5EF4-FFF2-40B4-BE49-F238E27FC236}">
                <a16:creationId xmlns:a16="http://schemas.microsoft.com/office/drawing/2014/main" id="{B1F89D1D-3ECE-434F-A564-C353D23C96D9}"/>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总体技术架构</a:t>
            </a:r>
          </a:p>
        </p:txBody>
      </p:sp>
      <p:sp>
        <p:nvSpPr>
          <p:cNvPr id="59" name="Rounded Rectangle 58"/>
          <p:cNvSpPr/>
          <p:nvPr/>
        </p:nvSpPr>
        <p:spPr>
          <a:xfrm>
            <a:off x="548640" y="2084831"/>
            <a:ext cx="3108960" cy="2670048"/>
          </a:xfrm>
          <a:prstGeom prst="roundRect">
            <a:avLst>
              <a:gd name="adj" fmla="val 5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60" name="Rounded Rectangle 59"/>
          <p:cNvSpPr/>
          <p:nvPr/>
        </p:nvSpPr>
        <p:spPr>
          <a:xfrm>
            <a:off x="4206240" y="2084831"/>
            <a:ext cx="3108960" cy="2670048"/>
          </a:xfrm>
          <a:prstGeom prst="roundRect">
            <a:avLst>
              <a:gd name="adj" fmla="val 5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61" name="Rounded Rectangle 60"/>
          <p:cNvSpPr/>
          <p:nvPr/>
        </p:nvSpPr>
        <p:spPr>
          <a:xfrm>
            <a:off x="7863840" y="2084831"/>
            <a:ext cx="3108960" cy="2670048"/>
          </a:xfrm>
          <a:prstGeom prst="roundRect">
            <a:avLst>
              <a:gd name="adj" fmla="val 5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62" name="Rounded Rectangle 61"/>
          <p:cNvSpPr/>
          <p:nvPr/>
        </p:nvSpPr>
        <p:spPr>
          <a:xfrm>
            <a:off x="548640" y="1097280"/>
            <a:ext cx="2331720" cy="475488"/>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500" b="1" dirty="0" err="1">
                <a:solidFill>
                  <a:srgbClr val="FFFFFF"/>
                </a:solidFill>
                <a:latin typeface="微软雅黑"/>
                <a:ea typeface="微软雅黑"/>
              </a:rPr>
              <a:t>可见光</a:t>
            </a:r>
            <a:r>
              <a:rPr sz="1500" b="1" dirty="0">
                <a:solidFill>
                  <a:srgbClr val="FFFFFF"/>
                </a:solidFill>
                <a:latin typeface="微软雅黑"/>
                <a:ea typeface="微软雅黑"/>
              </a:rPr>
              <a:t>—</a:t>
            </a:r>
            <a:r>
              <a:rPr sz="1500" b="1" dirty="0" err="1">
                <a:solidFill>
                  <a:srgbClr val="FFFFFF"/>
                </a:solidFill>
                <a:latin typeface="微软雅黑"/>
                <a:ea typeface="微软雅黑"/>
              </a:rPr>
              <a:t>红外船舶序列</a:t>
            </a:r>
            <a:endParaRPr sz="1500" b="1" dirty="0">
              <a:solidFill>
                <a:srgbClr val="FFFFFF"/>
              </a:solidFill>
              <a:latin typeface="微软雅黑"/>
              <a:ea typeface="微软雅黑"/>
            </a:endParaRPr>
          </a:p>
        </p:txBody>
      </p:sp>
      <p:sp>
        <p:nvSpPr>
          <p:cNvPr id="63" name="Right Arrow 62"/>
          <p:cNvSpPr/>
          <p:nvPr/>
        </p:nvSpPr>
        <p:spPr>
          <a:xfrm>
            <a:off x="2944368" y="1234439"/>
            <a:ext cx="237744" cy="201168"/>
          </a:xfrm>
          <a:prstGeom prst="rightArrow">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3246120" y="1097280"/>
            <a:ext cx="2331720" cy="475488"/>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lang="zh-CN" altLang="en-US" sz="1500" dirty="0">
                <a:solidFill>
                  <a:srgbClr val="FFFFFF"/>
                </a:solidFill>
                <a:latin typeface="微软雅黑"/>
                <a:ea typeface="微软雅黑"/>
              </a:rPr>
              <a:t>空间配准</a:t>
            </a:r>
            <a:endParaRPr sz="1500" b="1" dirty="0">
              <a:solidFill>
                <a:srgbClr val="FFFFFF"/>
              </a:solidFill>
              <a:latin typeface="微软雅黑"/>
              <a:ea typeface="微软雅黑"/>
            </a:endParaRPr>
          </a:p>
        </p:txBody>
      </p:sp>
      <p:sp>
        <p:nvSpPr>
          <p:cNvPr id="65" name="Right Arrow 64"/>
          <p:cNvSpPr/>
          <p:nvPr/>
        </p:nvSpPr>
        <p:spPr>
          <a:xfrm>
            <a:off x="5641848" y="1234439"/>
            <a:ext cx="237744" cy="201168"/>
          </a:xfrm>
          <a:prstGeom prst="rightArrow">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5943600" y="1097280"/>
            <a:ext cx="2331720" cy="475488"/>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500" b="1" dirty="0" err="1">
                <a:solidFill>
                  <a:srgbClr val="FFFFFF"/>
                </a:solidFill>
                <a:latin typeface="微软雅黑"/>
                <a:ea typeface="微软雅黑"/>
              </a:rPr>
              <a:t>质量核验</a:t>
            </a:r>
            <a:endParaRPr sz="1500" b="1" dirty="0">
              <a:solidFill>
                <a:srgbClr val="FFFFFF"/>
              </a:solidFill>
              <a:latin typeface="微软雅黑"/>
              <a:ea typeface="微软雅黑"/>
            </a:endParaRPr>
          </a:p>
        </p:txBody>
      </p:sp>
      <p:sp>
        <p:nvSpPr>
          <p:cNvPr id="67" name="Right Arrow 66"/>
          <p:cNvSpPr/>
          <p:nvPr/>
        </p:nvSpPr>
        <p:spPr>
          <a:xfrm>
            <a:off x="8339328" y="1234439"/>
            <a:ext cx="237744" cy="201168"/>
          </a:xfrm>
          <a:prstGeom prst="rightArrow">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p:cNvSpPr/>
          <p:nvPr/>
        </p:nvSpPr>
        <p:spPr>
          <a:xfrm>
            <a:off x="8641080" y="1097280"/>
            <a:ext cx="2331720" cy="475488"/>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500" b="1" dirty="0" err="1">
                <a:solidFill>
                  <a:srgbClr val="FFFFFF"/>
                </a:solidFill>
                <a:latin typeface="微软雅黑"/>
                <a:ea typeface="微软雅黑"/>
              </a:rPr>
              <a:t>统一划分</a:t>
            </a:r>
            <a:endParaRPr sz="1500" b="1" dirty="0">
              <a:solidFill>
                <a:srgbClr val="FFFFFF"/>
              </a:solidFill>
              <a:latin typeface="微软雅黑"/>
              <a:ea typeface="微软雅黑"/>
            </a:endParaRPr>
          </a:p>
        </p:txBody>
      </p:sp>
      <p:cxnSp>
        <p:nvCxnSpPr>
          <p:cNvPr id="70" name="Connector 69"/>
          <p:cNvCxnSpPr/>
          <p:nvPr/>
        </p:nvCxnSpPr>
        <p:spPr>
          <a:xfrm>
            <a:off x="5760720" y="1883664"/>
            <a:ext cx="0" cy="91440"/>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2103120" y="1975104"/>
            <a:ext cx="7315200" cy="0"/>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2103120" y="1975104"/>
            <a:ext cx="0" cy="36576"/>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sp>
        <p:nvSpPr>
          <p:cNvPr id="73" name="Isosceles Triangle 72"/>
          <p:cNvSpPr/>
          <p:nvPr/>
        </p:nvSpPr>
        <p:spPr>
          <a:xfrm rot="10800000">
            <a:off x="2011679" y="1993392"/>
            <a:ext cx="182880" cy="128016"/>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4" name="Connector 73"/>
          <p:cNvCxnSpPr/>
          <p:nvPr/>
        </p:nvCxnSpPr>
        <p:spPr>
          <a:xfrm>
            <a:off x="5760720" y="1975104"/>
            <a:ext cx="0" cy="36576"/>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sp>
        <p:nvSpPr>
          <p:cNvPr id="75" name="Isosceles Triangle 74"/>
          <p:cNvSpPr/>
          <p:nvPr/>
        </p:nvSpPr>
        <p:spPr>
          <a:xfrm rot="10800000">
            <a:off x="5669280" y="1993392"/>
            <a:ext cx="182880" cy="128016"/>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6" name="Connector 75"/>
          <p:cNvCxnSpPr/>
          <p:nvPr/>
        </p:nvCxnSpPr>
        <p:spPr>
          <a:xfrm>
            <a:off x="9418320" y="1975104"/>
            <a:ext cx="0" cy="36576"/>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sp>
        <p:nvSpPr>
          <p:cNvPr id="77" name="Isosceles Triangle 76"/>
          <p:cNvSpPr/>
          <p:nvPr/>
        </p:nvSpPr>
        <p:spPr>
          <a:xfrm rot="10800000">
            <a:off x="9326880" y="1993392"/>
            <a:ext cx="182880" cy="128016"/>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p:cNvSpPr/>
          <p:nvPr/>
        </p:nvSpPr>
        <p:spPr>
          <a:xfrm>
            <a:off x="658368" y="2212848"/>
            <a:ext cx="2889504" cy="457200"/>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01 ｜ 检测后跟踪 TBD</a:t>
            </a:r>
          </a:p>
        </p:txBody>
      </p:sp>
      <p:sp>
        <p:nvSpPr>
          <p:cNvPr id="79" name="Rounded Rectangle 78"/>
          <p:cNvSpPr/>
          <p:nvPr/>
        </p:nvSpPr>
        <p:spPr>
          <a:xfrm>
            <a:off x="804672" y="2798064"/>
            <a:ext cx="2596896" cy="457200"/>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0">
                <a:solidFill>
                  <a:srgbClr val="1F3864"/>
                </a:solidFill>
                <a:latin typeface="微软雅黑"/>
                <a:ea typeface="微软雅黑"/>
              </a:rPr>
              <a:t>基线：ByteTrack</a:t>
            </a:r>
          </a:p>
        </p:txBody>
      </p:sp>
      <p:sp>
        <p:nvSpPr>
          <p:cNvPr id="80" name="Isosceles Triangle 79"/>
          <p:cNvSpPr/>
          <p:nvPr/>
        </p:nvSpPr>
        <p:spPr>
          <a:xfrm rot="10800000">
            <a:off x="2011679" y="3273552"/>
            <a:ext cx="182880" cy="137160"/>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804672" y="3419856"/>
            <a:ext cx="2596896" cy="457200"/>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0" dirty="0" err="1">
                <a:solidFill>
                  <a:srgbClr val="1F3864"/>
                </a:solidFill>
                <a:latin typeface="微软雅黑"/>
                <a:ea typeface="微软雅黑"/>
              </a:rPr>
              <a:t>跨模态检测框匹配与融合</a:t>
            </a:r>
            <a:endParaRPr sz="1400" b="0" dirty="0">
              <a:solidFill>
                <a:srgbClr val="1F3864"/>
              </a:solidFill>
              <a:latin typeface="微软雅黑"/>
              <a:ea typeface="微软雅黑"/>
            </a:endParaRPr>
          </a:p>
        </p:txBody>
      </p:sp>
      <p:sp>
        <p:nvSpPr>
          <p:cNvPr id="82" name="Isosceles Triangle 81"/>
          <p:cNvSpPr/>
          <p:nvPr/>
        </p:nvSpPr>
        <p:spPr>
          <a:xfrm rot="10800000">
            <a:off x="2011679" y="3895344"/>
            <a:ext cx="182880" cy="137160"/>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ounded Rectangle 82"/>
          <p:cNvSpPr/>
          <p:nvPr/>
        </p:nvSpPr>
        <p:spPr>
          <a:xfrm>
            <a:off x="804672" y="4041648"/>
            <a:ext cx="2596896" cy="457200"/>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0" dirty="0" err="1">
                <a:solidFill>
                  <a:srgbClr val="1F3864"/>
                </a:solidFill>
                <a:latin typeface="微软雅黑"/>
                <a:ea typeface="微软雅黑"/>
              </a:rPr>
              <a:t>置信度协同</a:t>
            </a:r>
            <a:r>
              <a:rPr sz="1400" b="0" dirty="0">
                <a:solidFill>
                  <a:srgbClr val="1F3864"/>
                </a:solidFill>
                <a:latin typeface="微软雅黑"/>
                <a:ea typeface="微软雅黑"/>
              </a:rPr>
              <a:t> + </a:t>
            </a:r>
            <a:r>
              <a:rPr sz="1400" b="0" dirty="0" err="1">
                <a:solidFill>
                  <a:srgbClr val="1F3864"/>
                </a:solidFill>
                <a:latin typeface="微软雅黑"/>
                <a:ea typeface="微软雅黑"/>
              </a:rPr>
              <a:t>类别约束</a:t>
            </a:r>
            <a:endParaRPr sz="1400" b="0" dirty="0">
              <a:solidFill>
                <a:srgbClr val="1F3864"/>
              </a:solidFill>
              <a:latin typeface="微软雅黑"/>
              <a:ea typeface="微软雅黑"/>
            </a:endParaRPr>
          </a:p>
        </p:txBody>
      </p:sp>
      <p:sp>
        <p:nvSpPr>
          <p:cNvPr id="84" name="Rounded Rectangle 83"/>
          <p:cNvSpPr/>
          <p:nvPr/>
        </p:nvSpPr>
        <p:spPr>
          <a:xfrm>
            <a:off x="4315968" y="2212848"/>
            <a:ext cx="2889504" cy="457200"/>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02 ｜ 联合检测与身份嵌入 JDE</a:t>
            </a:r>
          </a:p>
        </p:txBody>
      </p:sp>
      <p:sp>
        <p:nvSpPr>
          <p:cNvPr id="85" name="Rounded Rectangle 84"/>
          <p:cNvSpPr/>
          <p:nvPr/>
        </p:nvSpPr>
        <p:spPr>
          <a:xfrm>
            <a:off x="4462272" y="2798064"/>
            <a:ext cx="2596896" cy="457200"/>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0">
                <a:solidFill>
                  <a:srgbClr val="1F3864"/>
                </a:solidFill>
                <a:latin typeface="微软雅黑"/>
                <a:ea typeface="微软雅黑"/>
              </a:rPr>
              <a:t>基线：FairMOT</a:t>
            </a:r>
          </a:p>
        </p:txBody>
      </p:sp>
      <p:sp>
        <p:nvSpPr>
          <p:cNvPr id="86" name="Isosceles Triangle 85"/>
          <p:cNvSpPr/>
          <p:nvPr/>
        </p:nvSpPr>
        <p:spPr>
          <a:xfrm rot="10800000">
            <a:off x="5669280" y="3273552"/>
            <a:ext cx="182880" cy="137160"/>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ounded Rectangle 86"/>
          <p:cNvSpPr/>
          <p:nvPr/>
        </p:nvSpPr>
        <p:spPr>
          <a:xfrm>
            <a:off x="4462272" y="3419856"/>
            <a:ext cx="2596896" cy="457200"/>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0">
                <a:solidFill>
                  <a:srgbClr val="1F3864"/>
                </a:solidFill>
                <a:latin typeface="微软雅黑"/>
                <a:ea typeface="微软雅黑"/>
              </a:rPr>
              <a:t>双分支编码与门控融合</a:t>
            </a:r>
          </a:p>
        </p:txBody>
      </p:sp>
      <p:sp>
        <p:nvSpPr>
          <p:cNvPr id="88" name="Isosceles Triangle 87"/>
          <p:cNvSpPr/>
          <p:nvPr/>
        </p:nvSpPr>
        <p:spPr>
          <a:xfrm rot="10800000">
            <a:off x="5669280" y="3895344"/>
            <a:ext cx="182880" cy="137160"/>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ounded Rectangle 88"/>
          <p:cNvSpPr/>
          <p:nvPr/>
        </p:nvSpPr>
        <p:spPr>
          <a:xfrm>
            <a:off x="4462272" y="4041648"/>
            <a:ext cx="2596896" cy="457200"/>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0">
                <a:solidFill>
                  <a:srgbClr val="1F3864"/>
                </a:solidFill>
                <a:latin typeface="微软雅黑"/>
                <a:ea typeface="微软雅黑"/>
              </a:rPr>
              <a:t>检测与 ID 嵌入联合学习</a:t>
            </a:r>
          </a:p>
        </p:txBody>
      </p:sp>
      <p:sp>
        <p:nvSpPr>
          <p:cNvPr id="90" name="Rounded Rectangle 89"/>
          <p:cNvSpPr/>
          <p:nvPr/>
        </p:nvSpPr>
        <p:spPr>
          <a:xfrm>
            <a:off x="7973567" y="2212848"/>
            <a:ext cx="2889504" cy="457200"/>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03 ｜ 联合检测跟踪 JDT</a:t>
            </a:r>
          </a:p>
        </p:txBody>
      </p:sp>
      <p:sp>
        <p:nvSpPr>
          <p:cNvPr id="91" name="Rounded Rectangle 90"/>
          <p:cNvSpPr/>
          <p:nvPr/>
        </p:nvSpPr>
        <p:spPr>
          <a:xfrm>
            <a:off x="8119871" y="2798064"/>
            <a:ext cx="2596896" cy="457200"/>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0">
                <a:solidFill>
                  <a:srgbClr val="1F3864"/>
                </a:solidFill>
                <a:latin typeface="微软雅黑"/>
                <a:ea typeface="微软雅黑"/>
              </a:rPr>
              <a:t>基线：MOTR</a:t>
            </a:r>
          </a:p>
        </p:txBody>
      </p:sp>
      <p:sp>
        <p:nvSpPr>
          <p:cNvPr id="92" name="Isosceles Triangle 91"/>
          <p:cNvSpPr/>
          <p:nvPr/>
        </p:nvSpPr>
        <p:spPr>
          <a:xfrm rot="10800000">
            <a:off x="9326880" y="3273552"/>
            <a:ext cx="182880" cy="137160"/>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ounded Rectangle 92"/>
          <p:cNvSpPr/>
          <p:nvPr/>
        </p:nvSpPr>
        <p:spPr>
          <a:xfrm>
            <a:off x="8119871" y="3419856"/>
            <a:ext cx="2596896" cy="457200"/>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0">
                <a:solidFill>
                  <a:srgbClr val="1F3864"/>
                </a:solidFill>
                <a:latin typeface="微软雅黑"/>
                <a:ea typeface="微软雅黑"/>
              </a:rPr>
              <a:t>双模态多尺度特征融合</a:t>
            </a:r>
          </a:p>
        </p:txBody>
      </p:sp>
      <p:sp>
        <p:nvSpPr>
          <p:cNvPr id="94" name="Isosceles Triangle 93"/>
          <p:cNvSpPr/>
          <p:nvPr/>
        </p:nvSpPr>
        <p:spPr>
          <a:xfrm rot="10800000">
            <a:off x="9326880" y="3895344"/>
            <a:ext cx="182880" cy="137160"/>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ounded Rectangle 94"/>
          <p:cNvSpPr/>
          <p:nvPr/>
        </p:nvSpPr>
        <p:spPr>
          <a:xfrm>
            <a:off x="8119871" y="4041648"/>
            <a:ext cx="2596896" cy="457200"/>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0" dirty="0" err="1">
                <a:solidFill>
                  <a:srgbClr val="1F3864"/>
                </a:solidFill>
                <a:latin typeface="微软雅黑"/>
                <a:ea typeface="微软雅黑"/>
              </a:rPr>
              <a:t>轨迹查询跨帧更新与记忆</a:t>
            </a:r>
            <a:endParaRPr sz="1400" b="0" dirty="0">
              <a:solidFill>
                <a:srgbClr val="1F3864"/>
              </a:solidFill>
              <a:latin typeface="微软雅黑"/>
              <a:ea typeface="微软雅黑"/>
            </a:endParaRPr>
          </a:p>
        </p:txBody>
      </p:sp>
      <p:cxnSp>
        <p:nvCxnSpPr>
          <p:cNvPr id="96" name="Connector 95"/>
          <p:cNvCxnSpPr/>
          <p:nvPr/>
        </p:nvCxnSpPr>
        <p:spPr>
          <a:xfrm>
            <a:off x="2103120" y="4773168"/>
            <a:ext cx="0" cy="182880"/>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760720" y="4773168"/>
            <a:ext cx="0" cy="182880"/>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418320" y="4773168"/>
            <a:ext cx="0" cy="182880"/>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2103120" y="4956048"/>
            <a:ext cx="7315200" cy="0"/>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5760720" y="4956048"/>
            <a:ext cx="0" cy="128016"/>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sp>
        <p:nvSpPr>
          <p:cNvPr id="101" name="Isosceles Triangle 100"/>
          <p:cNvSpPr/>
          <p:nvPr/>
        </p:nvSpPr>
        <p:spPr>
          <a:xfrm rot="10800000">
            <a:off x="5669280" y="5065776"/>
            <a:ext cx="182880" cy="137160"/>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ounded Rectangle 101"/>
          <p:cNvSpPr/>
          <p:nvPr/>
        </p:nvSpPr>
        <p:spPr>
          <a:xfrm>
            <a:off x="1920240" y="5230368"/>
            <a:ext cx="7680960" cy="530352"/>
          </a:xfrm>
          <a:prstGeom prst="roundRect">
            <a:avLst>
              <a:gd name="adj" fmla="val 16000"/>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600" b="1" dirty="0" err="1">
                <a:solidFill>
                  <a:srgbClr val="FFFFFF"/>
                </a:solidFill>
                <a:latin typeface="微软雅黑"/>
                <a:ea typeface="微软雅黑"/>
              </a:rPr>
              <a:t>统一对比</a:t>
            </a:r>
            <a:r>
              <a:rPr sz="1600" b="1" dirty="0">
                <a:solidFill>
                  <a:srgbClr val="FFFFFF"/>
                </a:solidFill>
                <a:latin typeface="微软雅黑"/>
                <a:ea typeface="微软雅黑"/>
              </a:rPr>
              <a:t> · </a:t>
            </a:r>
            <a:r>
              <a:rPr sz="1600" b="1" dirty="0" err="1">
                <a:solidFill>
                  <a:srgbClr val="FFFFFF"/>
                </a:solidFill>
                <a:latin typeface="微软雅黑"/>
                <a:ea typeface="微软雅黑"/>
              </a:rPr>
              <a:t>模块消融</a:t>
            </a:r>
            <a:r>
              <a:rPr sz="1600" b="1" dirty="0">
                <a:solidFill>
                  <a:srgbClr val="FFFFFF"/>
                </a:solidFill>
                <a:latin typeface="微软雅黑"/>
                <a:ea typeface="微软雅黑"/>
              </a:rPr>
              <a:t> · </a:t>
            </a:r>
            <a:r>
              <a:rPr sz="1600" b="1" dirty="0" err="1">
                <a:solidFill>
                  <a:srgbClr val="FFFFFF"/>
                </a:solidFill>
                <a:latin typeface="微软雅黑"/>
                <a:ea typeface="微软雅黑"/>
              </a:rPr>
              <a:t>失败案例分析</a:t>
            </a:r>
            <a:endParaRPr sz="1600" b="1" dirty="0">
              <a:solidFill>
                <a:srgbClr val="FFFFFF"/>
              </a:solidFill>
              <a:latin typeface="微软雅黑"/>
              <a:ea typeface="微软雅黑"/>
            </a:endParaRPr>
          </a:p>
        </p:txBody>
      </p:sp>
    </p:spTree>
    <p:extLst>
      <p:ext uri="{BB962C8B-B14F-4D97-AF65-F5344CB8AC3E}">
        <p14:creationId xmlns:p14="http://schemas.microsoft.com/office/powerpoint/2010/main" val="20841219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数据集构建</a:t>
            </a:r>
          </a:p>
        </p:txBody>
      </p:sp>
      <p:pic>
        <p:nvPicPr>
          <p:cNvPr id="2" name="图片 1">
            <a:extLst>
              <a:ext uri="{FF2B5EF4-FFF2-40B4-BE49-F238E27FC236}">
                <a16:creationId xmlns:a16="http://schemas.microsoft.com/office/drawing/2014/main" id="{EFCC27C2-8CE5-95CD-3CE8-2F5F3E9B2A3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39020" y="1401813"/>
            <a:ext cx="5274310" cy="2889250"/>
          </a:xfrm>
          <a:prstGeom prst="rect">
            <a:avLst/>
          </a:prstGeom>
        </p:spPr>
      </p:pic>
      <p:pic>
        <p:nvPicPr>
          <p:cNvPr id="3" name="图片 2">
            <a:extLst>
              <a:ext uri="{FF2B5EF4-FFF2-40B4-BE49-F238E27FC236}">
                <a16:creationId xmlns:a16="http://schemas.microsoft.com/office/drawing/2014/main" id="{4379411F-24F4-FCEA-770E-CE288DDB9FE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013074" y="1401813"/>
            <a:ext cx="5274310" cy="2927985"/>
          </a:xfrm>
          <a:prstGeom prst="rect">
            <a:avLst/>
          </a:prstGeom>
        </p:spPr>
      </p:pic>
      <p:sp>
        <p:nvSpPr>
          <p:cNvPr id="4" name="文本框 3">
            <a:extLst>
              <a:ext uri="{FF2B5EF4-FFF2-40B4-BE49-F238E27FC236}">
                <a16:creationId xmlns:a16="http://schemas.microsoft.com/office/drawing/2014/main" id="{9E633937-B2FE-8ADF-0483-2B857E65D3A1}"/>
              </a:ext>
            </a:extLst>
          </p:cNvPr>
          <p:cNvSpPr txBox="1"/>
          <p:nvPr/>
        </p:nvSpPr>
        <p:spPr>
          <a:xfrm>
            <a:off x="2671206" y="4818991"/>
            <a:ext cx="6178075" cy="758093"/>
          </a:xfrm>
          <a:prstGeom prst="rect">
            <a:avLst/>
          </a:prstGeom>
          <a:noFill/>
        </p:spPr>
        <p:txBody>
          <a:bodyPr wrap="square" rtlCol="0">
            <a:spAutoFit/>
          </a:bodyPr>
          <a:lstStyle/>
          <a:p>
            <a:pPr algn="l">
              <a:lnSpc>
                <a:spcPct val="126000"/>
              </a:lnSpc>
              <a:spcAft>
                <a:spcPts val="300"/>
              </a:spcAft>
            </a:pPr>
            <a:r>
              <a:rPr lang="zh-CN" altLang="en-US" sz="1800" b="0" dirty="0">
                <a:solidFill>
                  <a:srgbClr val="333F4F"/>
                </a:solidFill>
                <a:latin typeface="微软雅黑"/>
                <a:ea typeface="微软雅黑"/>
              </a:rPr>
              <a:t>用 </a:t>
            </a:r>
            <a:r>
              <a:rPr lang="en-US" altLang="zh-CN" sz="1800" b="0" dirty="0">
                <a:solidFill>
                  <a:srgbClr val="333F4F"/>
                </a:solidFill>
                <a:latin typeface="微软雅黑"/>
                <a:ea typeface="微软雅黑"/>
              </a:rPr>
              <a:t>CVAT </a:t>
            </a:r>
            <a:r>
              <a:rPr lang="zh-CN" altLang="en-US" sz="1800" b="0" dirty="0">
                <a:solidFill>
                  <a:srgbClr val="333F4F"/>
                </a:solidFill>
                <a:latin typeface="微软雅黑"/>
                <a:ea typeface="微软雅黑"/>
              </a:rPr>
              <a:t>标注边界框、类别与跨帧 </a:t>
            </a:r>
            <a:r>
              <a:rPr lang="en-US" altLang="zh-CN" sz="1800" b="0" dirty="0">
                <a:solidFill>
                  <a:srgbClr val="333F4F"/>
                </a:solidFill>
                <a:latin typeface="微软雅黑"/>
                <a:ea typeface="微软雅黑"/>
              </a:rPr>
              <a:t>Track ID</a:t>
            </a:r>
            <a:r>
              <a:rPr lang="zh-CN" altLang="en-US" sz="1800" b="0" dirty="0">
                <a:solidFill>
                  <a:srgbClr val="333F4F"/>
                </a:solidFill>
                <a:latin typeface="微软雅黑"/>
                <a:ea typeface="微软雅黑"/>
              </a:rPr>
              <a:t>，按独立序列划分数据集。</a:t>
            </a:r>
          </a:p>
        </p:txBody>
      </p:sp>
    </p:spTree>
    <p:extLst>
      <p:ext uri="{BB962C8B-B14F-4D97-AF65-F5344CB8AC3E}">
        <p14:creationId xmlns:p14="http://schemas.microsoft.com/office/powerpoint/2010/main" val="595482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数据集构建</a:t>
            </a:r>
          </a:p>
        </p:txBody>
      </p:sp>
      <p:pic>
        <p:nvPicPr>
          <p:cNvPr id="5" name="图片 4">
            <a:extLst>
              <a:ext uri="{FF2B5EF4-FFF2-40B4-BE49-F238E27FC236}">
                <a16:creationId xmlns:a16="http://schemas.microsoft.com/office/drawing/2014/main" id="{E8897BDE-3CB0-9EFC-2C19-291DA3EF1579}"/>
              </a:ext>
            </a:extLst>
          </p:cNvPr>
          <p:cNvPicPr>
            <a:picLocks noChangeAspect="1"/>
          </p:cNvPicPr>
          <p:nvPr/>
        </p:nvPicPr>
        <p:blipFill>
          <a:blip r:embed="rId7"/>
          <a:stretch>
            <a:fillRect/>
          </a:stretch>
        </p:blipFill>
        <p:spPr>
          <a:xfrm>
            <a:off x="853192" y="1487487"/>
            <a:ext cx="5277849" cy="3200400"/>
          </a:xfrm>
          <a:prstGeom prst="rect">
            <a:avLst/>
          </a:prstGeom>
        </p:spPr>
      </p:pic>
      <p:sp>
        <p:nvSpPr>
          <p:cNvPr id="3" name="文本框 2">
            <a:extLst>
              <a:ext uri="{FF2B5EF4-FFF2-40B4-BE49-F238E27FC236}">
                <a16:creationId xmlns:a16="http://schemas.microsoft.com/office/drawing/2014/main" id="{90B767D0-CFCD-CC16-DC48-C9C9D41561AD}"/>
              </a:ext>
            </a:extLst>
          </p:cNvPr>
          <p:cNvSpPr txBox="1"/>
          <p:nvPr/>
        </p:nvSpPr>
        <p:spPr>
          <a:xfrm>
            <a:off x="6628696" y="3770003"/>
            <a:ext cx="4038600" cy="369332"/>
          </a:xfrm>
          <a:prstGeom prst="rect">
            <a:avLst/>
          </a:prstGeom>
          <a:noFill/>
        </p:spPr>
        <p:txBody>
          <a:bodyPr wrap="square">
            <a:spAutoFit/>
          </a:bodyPr>
          <a:lstStyle/>
          <a:p>
            <a:r>
              <a:rPr lang="zh-CN" altLang="en-US" sz="1800" b="0" dirty="0">
                <a:solidFill>
                  <a:srgbClr val="333F4F"/>
                </a:solidFill>
                <a:latin typeface="微软雅黑"/>
                <a:ea typeface="微软雅黑"/>
              </a:rPr>
              <a:t>整理双模态船舶视频并核对时空配准</a:t>
            </a:r>
            <a:endParaRPr lang="zh-CN" altLang="en-US" dirty="0"/>
          </a:p>
        </p:txBody>
      </p:sp>
      <p:sp>
        <p:nvSpPr>
          <p:cNvPr id="2" name="TextBox 65">
            <a:extLst>
              <a:ext uri="{FF2B5EF4-FFF2-40B4-BE49-F238E27FC236}">
                <a16:creationId xmlns:a16="http://schemas.microsoft.com/office/drawing/2014/main" id="{841CF838-9F17-0CF2-AB5B-CA41A34F2B44}"/>
              </a:ext>
            </a:extLst>
          </p:cNvPr>
          <p:cNvSpPr txBox="1"/>
          <p:nvPr/>
        </p:nvSpPr>
        <p:spPr>
          <a:xfrm>
            <a:off x="6888395" y="2407140"/>
            <a:ext cx="3559588" cy="303032"/>
          </a:xfrm>
          <a:prstGeom prst="rect">
            <a:avLst/>
          </a:prstGeom>
          <a:noFill/>
        </p:spPr>
        <p:txBody>
          <a:bodyPr wrap="square" lIns="0" tIns="0" rIns="0" bIns="0" anchor="t">
            <a:spAutoFit/>
          </a:bodyPr>
          <a:lstStyle/>
          <a:p>
            <a:pPr algn="l">
              <a:lnSpc>
                <a:spcPct val="128000"/>
              </a:lnSpc>
              <a:spcAft>
                <a:spcPts val="300"/>
              </a:spcAft>
            </a:pPr>
            <a:r>
              <a:rPr sz="1700" b="0" dirty="0" err="1">
                <a:solidFill>
                  <a:srgbClr val="333F4F"/>
                </a:solidFill>
                <a:latin typeface="微软雅黑"/>
                <a:ea typeface="微软雅黑"/>
              </a:rPr>
              <a:t>红外与可见光存在空间配准偏差</a:t>
            </a:r>
            <a:endParaRPr sz="1700" b="0" dirty="0">
              <a:solidFill>
                <a:srgbClr val="333F4F"/>
              </a:solidFill>
              <a:latin typeface="微软雅黑"/>
              <a:ea typeface="微软雅黑"/>
            </a:endParaRPr>
          </a:p>
        </p:txBody>
      </p:sp>
    </p:spTree>
    <p:extLst>
      <p:ext uri="{BB962C8B-B14F-4D97-AF65-F5344CB8AC3E}">
        <p14:creationId xmlns:p14="http://schemas.microsoft.com/office/powerpoint/2010/main" val="17549292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检测后跟踪</a:t>
            </a:r>
          </a:p>
        </p:txBody>
      </p:sp>
      <p:graphicFrame>
        <p:nvGraphicFramePr>
          <p:cNvPr id="2" name="表格 1">
            <a:extLst>
              <a:ext uri="{FF2B5EF4-FFF2-40B4-BE49-F238E27FC236}">
                <a16:creationId xmlns:a16="http://schemas.microsoft.com/office/drawing/2014/main" id="{47B9DCCC-B867-3ABE-49BE-D099EEDE072E}"/>
              </a:ext>
            </a:extLst>
          </p:cNvPr>
          <p:cNvGraphicFramePr>
            <a:graphicFrameLocks noGrp="1"/>
          </p:cNvGraphicFramePr>
          <p:nvPr>
            <p:extLst>
              <p:ext uri="{D42A27DB-BD31-4B8C-83A1-F6EECF244321}">
                <p14:modId xmlns:p14="http://schemas.microsoft.com/office/powerpoint/2010/main" val="4200497129"/>
              </p:ext>
            </p:extLst>
          </p:nvPr>
        </p:nvGraphicFramePr>
        <p:xfrm>
          <a:off x="498045" y="1639887"/>
          <a:ext cx="7288800" cy="3733800"/>
        </p:xfrm>
        <a:graphic>
          <a:graphicData uri="http://schemas.openxmlformats.org/drawingml/2006/table">
            <a:tbl>
              <a:tblPr firstRow="1" firstCol="1" bandRow="1">
                <a:tableStyleId>{5C22544A-7EE6-4342-B048-85BDC9FD1C3A}</a:tableStyleId>
              </a:tblPr>
              <a:tblGrid>
                <a:gridCol w="1822200">
                  <a:extLst>
                    <a:ext uri="{9D8B030D-6E8A-4147-A177-3AD203B41FA5}">
                      <a16:colId xmlns:a16="http://schemas.microsoft.com/office/drawing/2014/main" val="1750087875"/>
                    </a:ext>
                  </a:extLst>
                </a:gridCol>
                <a:gridCol w="1822200">
                  <a:extLst>
                    <a:ext uri="{9D8B030D-6E8A-4147-A177-3AD203B41FA5}">
                      <a16:colId xmlns:a16="http://schemas.microsoft.com/office/drawing/2014/main" val="1189715279"/>
                    </a:ext>
                  </a:extLst>
                </a:gridCol>
                <a:gridCol w="1822200">
                  <a:extLst>
                    <a:ext uri="{9D8B030D-6E8A-4147-A177-3AD203B41FA5}">
                      <a16:colId xmlns:a16="http://schemas.microsoft.com/office/drawing/2014/main" val="1575439809"/>
                    </a:ext>
                  </a:extLst>
                </a:gridCol>
                <a:gridCol w="1822200">
                  <a:extLst>
                    <a:ext uri="{9D8B030D-6E8A-4147-A177-3AD203B41FA5}">
                      <a16:colId xmlns:a16="http://schemas.microsoft.com/office/drawing/2014/main" val="2468247559"/>
                    </a:ext>
                  </a:extLst>
                </a:gridCol>
              </a:tblGrid>
              <a:tr h="933450">
                <a:tc>
                  <a:txBody>
                    <a:bodyPr/>
                    <a:lstStyle/>
                    <a:p>
                      <a:pPr algn="just">
                        <a:lnSpc>
                          <a:spcPct val="150000"/>
                        </a:lnSpc>
                        <a:spcAft>
                          <a:spcPts val="600"/>
                        </a:spcAft>
                      </a:pPr>
                      <a:r>
                        <a:rPr lang="zh-CN" sz="2400" kern="0">
                          <a:effectLst/>
                        </a:rPr>
                        <a:t>方法</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HOTA/%</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MOTA/%</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IDF1/%</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53644652"/>
                  </a:ext>
                </a:extLst>
              </a:tr>
              <a:tr h="933450">
                <a:tc>
                  <a:txBody>
                    <a:bodyPr/>
                    <a:lstStyle/>
                    <a:p>
                      <a:pPr algn="just">
                        <a:lnSpc>
                          <a:spcPct val="150000"/>
                        </a:lnSpc>
                        <a:spcAft>
                          <a:spcPts val="800"/>
                        </a:spcAft>
                      </a:pPr>
                      <a:r>
                        <a:rPr lang="en-US" sz="2400" kern="0">
                          <a:effectLst/>
                        </a:rPr>
                        <a:t>SORT</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dirty="0">
                          <a:effectLst/>
                        </a:rPr>
                        <a:t>53.57</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37.56</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63.51</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1666979"/>
                  </a:ext>
                </a:extLst>
              </a:tr>
              <a:tr h="933450">
                <a:tc>
                  <a:txBody>
                    <a:bodyPr/>
                    <a:lstStyle/>
                    <a:p>
                      <a:pPr algn="just">
                        <a:lnSpc>
                          <a:spcPct val="150000"/>
                        </a:lnSpc>
                        <a:spcAft>
                          <a:spcPts val="800"/>
                        </a:spcAft>
                      </a:pPr>
                      <a:r>
                        <a:rPr lang="en-US" sz="2400" kern="0">
                          <a:effectLst/>
                        </a:rPr>
                        <a:t>OC-SORT</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dirty="0">
                          <a:effectLst/>
                        </a:rPr>
                        <a:t>48.60</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11.77</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54.18</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53263315"/>
                  </a:ext>
                </a:extLst>
              </a:tr>
              <a:tr h="933450">
                <a:tc>
                  <a:txBody>
                    <a:bodyPr/>
                    <a:lstStyle/>
                    <a:p>
                      <a:pPr algn="just">
                        <a:lnSpc>
                          <a:spcPct val="150000"/>
                        </a:lnSpc>
                        <a:spcAft>
                          <a:spcPts val="800"/>
                        </a:spcAft>
                      </a:pPr>
                      <a:r>
                        <a:rPr lang="en-US" sz="2400" kern="0" dirty="0" err="1">
                          <a:effectLst/>
                        </a:rPr>
                        <a:t>ByteTrack</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58.27</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43.50</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dirty="0">
                          <a:effectLst/>
                        </a:rPr>
                        <a:t>66.39</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640244905"/>
                  </a:ext>
                </a:extLst>
              </a:tr>
            </a:tbl>
          </a:graphicData>
        </a:graphic>
      </p:graphicFrame>
      <p:sp>
        <p:nvSpPr>
          <p:cNvPr id="3" name="文本框 2">
            <a:extLst>
              <a:ext uri="{FF2B5EF4-FFF2-40B4-BE49-F238E27FC236}">
                <a16:creationId xmlns:a16="http://schemas.microsoft.com/office/drawing/2014/main" id="{99D3F1CF-28F8-210B-B7CA-CC1164A5EBCB}"/>
              </a:ext>
            </a:extLst>
          </p:cNvPr>
          <p:cNvSpPr txBox="1"/>
          <p:nvPr/>
        </p:nvSpPr>
        <p:spPr>
          <a:xfrm>
            <a:off x="8046244" y="3137455"/>
            <a:ext cx="3147079" cy="369332"/>
          </a:xfrm>
          <a:prstGeom prst="rect">
            <a:avLst/>
          </a:prstGeom>
          <a:noFill/>
        </p:spPr>
        <p:txBody>
          <a:bodyPr wrap="none" rtlCol="0">
            <a:spAutoFit/>
          </a:bodyPr>
          <a:lstStyle/>
          <a:p>
            <a:r>
              <a:rPr lang="zh-CN" altLang="en-US" dirty="0"/>
              <a:t>选择</a:t>
            </a:r>
            <a:r>
              <a:rPr lang="en-US" altLang="zh-CN" dirty="0" err="1"/>
              <a:t>ByteTrack</a:t>
            </a:r>
            <a:r>
              <a:rPr lang="zh-CN" altLang="en-US" dirty="0"/>
              <a:t>作为基线算法</a:t>
            </a:r>
          </a:p>
        </p:txBody>
      </p:sp>
    </p:spTree>
    <p:extLst>
      <p:ext uri="{BB962C8B-B14F-4D97-AF65-F5344CB8AC3E}">
        <p14:creationId xmlns:p14="http://schemas.microsoft.com/office/powerpoint/2010/main" val="1608713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28">
            <a:extLst>
              <a:ext uri="{FF2B5EF4-FFF2-40B4-BE49-F238E27FC236}">
                <a16:creationId xmlns:a16="http://schemas.microsoft.com/office/drawing/2014/main" id="{054B3F82-9E9E-495D-B051-EC67ADFA039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组合 3">
            <a:extLst>
              <a:ext uri="{FF2B5EF4-FFF2-40B4-BE49-F238E27FC236}">
                <a16:creationId xmlns:a16="http://schemas.microsoft.com/office/drawing/2014/main" id="{912C391C-D6B2-45CD-99BD-5E96651F55AD}"/>
              </a:ext>
            </a:extLst>
          </p:cNvPr>
          <p:cNvGrpSpPr>
            <a:grpSpLocks/>
          </p:cNvGrpSpPr>
          <p:nvPr/>
        </p:nvGrpSpPr>
        <p:grpSpPr bwMode="auto">
          <a:xfrm>
            <a:off x="464577" y="165395"/>
            <a:ext cx="433338" cy="535447"/>
            <a:chOff x="10675" y="7633"/>
            <a:chExt cx="433171" cy="534549"/>
          </a:xfrm>
        </p:grpSpPr>
        <p:sp>
          <p:nvSpPr>
            <p:cNvPr id="45" name="圆角矩形 10">
              <a:extLst>
                <a:ext uri="{FF2B5EF4-FFF2-40B4-BE49-F238E27FC236}">
                  <a16:creationId xmlns:a16="http://schemas.microsoft.com/office/drawing/2014/main" id="{EA97013C-2911-4524-BC71-E4D9DF9620EC}"/>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46" name="图片 50">
              <a:extLst>
                <a:ext uri="{FF2B5EF4-FFF2-40B4-BE49-F238E27FC236}">
                  <a16:creationId xmlns:a16="http://schemas.microsoft.com/office/drawing/2014/main" id="{0EFB0B1F-1947-414E-A427-DC24E90746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7" name="图片 46">
            <a:extLst>
              <a:ext uri="{FF2B5EF4-FFF2-40B4-BE49-F238E27FC236}">
                <a16:creationId xmlns:a16="http://schemas.microsoft.com/office/drawing/2014/main" id="{85CAADC6-ADCB-44BE-B64A-EB8CDC23341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48" name="TextBox 29">
            <a:extLst>
              <a:ext uri="{FF2B5EF4-FFF2-40B4-BE49-F238E27FC236}">
                <a16:creationId xmlns:a16="http://schemas.microsoft.com/office/drawing/2014/main" id="{522475C8-BB36-467D-AE0F-FA1ACCBEE9C0}"/>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双模态检测协同的 ByteTrack 改进</a:t>
            </a:r>
          </a:p>
        </p:txBody>
      </p:sp>
      <p:sp>
        <p:nvSpPr>
          <p:cNvPr id="49" name="Rounded Rectangle 48"/>
          <p:cNvSpPr/>
          <p:nvPr/>
        </p:nvSpPr>
        <p:spPr>
          <a:xfrm>
            <a:off x="502920" y="1179576"/>
            <a:ext cx="1783080" cy="457200"/>
          </a:xfrm>
          <a:prstGeom prst="roundRect">
            <a:avLst>
              <a:gd name="adj" fmla="val 16000"/>
            </a:avLst>
          </a:prstGeom>
          <a:solidFill>
            <a:srgbClr val="2F8FD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1" dirty="0" err="1">
                <a:solidFill>
                  <a:srgbClr val="FFFFFF"/>
                </a:solidFill>
                <a:latin typeface="微软雅黑"/>
                <a:ea typeface="微软雅黑"/>
              </a:rPr>
              <a:t>可见光检测器</a:t>
            </a:r>
            <a:endParaRPr sz="1350" b="1" dirty="0">
              <a:solidFill>
                <a:srgbClr val="FFFFFF"/>
              </a:solidFill>
              <a:latin typeface="微软雅黑"/>
              <a:ea typeface="微软雅黑"/>
            </a:endParaRPr>
          </a:p>
        </p:txBody>
      </p:sp>
      <p:sp>
        <p:nvSpPr>
          <p:cNvPr id="50" name="Rounded Rectangle 49"/>
          <p:cNvSpPr/>
          <p:nvPr/>
        </p:nvSpPr>
        <p:spPr>
          <a:xfrm>
            <a:off x="502920" y="1728216"/>
            <a:ext cx="1783080" cy="457200"/>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1">
                <a:solidFill>
                  <a:srgbClr val="FFFFFF"/>
                </a:solidFill>
                <a:latin typeface="微软雅黑"/>
                <a:ea typeface="微软雅黑"/>
              </a:rPr>
              <a:t>红外检测器</a:t>
            </a:r>
          </a:p>
        </p:txBody>
      </p:sp>
      <p:cxnSp>
        <p:nvCxnSpPr>
          <p:cNvPr id="51" name="Connector 50"/>
          <p:cNvCxnSpPr/>
          <p:nvPr/>
        </p:nvCxnSpPr>
        <p:spPr>
          <a:xfrm>
            <a:off x="2286000" y="1408176"/>
            <a:ext cx="146304" cy="0"/>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286000" y="1956816"/>
            <a:ext cx="146304" cy="0"/>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432304" y="1408176"/>
            <a:ext cx="0" cy="548640"/>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2432304" y="1682496"/>
            <a:ext cx="128016" cy="0"/>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sp>
        <p:nvSpPr>
          <p:cNvPr id="55" name="Right Arrow 54"/>
          <p:cNvSpPr/>
          <p:nvPr/>
        </p:nvSpPr>
        <p:spPr>
          <a:xfrm>
            <a:off x="2542032" y="1600200"/>
            <a:ext cx="182880" cy="164592"/>
          </a:xfrm>
          <a:prstGeom prst="rightArrow">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2734056" y="1399032"/>
            <a:ext cx="1865376" cy="566928"/>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1F3864"/>
                </a:solidFill>
                <a:latin typeface="微软雅黑"/>
                <a:ea typeface="微软雅黑"/>
              </a:rPr>
              <a:t>跨模态框匹配与融合</a:t>
            </a:r>
          </a:p>
        </p:txBody>
      </p:sp>
      <p:sp>
        <p:nvSpPr>
          <p:cNvPr id="57" name="Right Arrow 56"/>
          <p:cNvSpPr/>
          <p:nvPr/>
        </p:nvSpPr>
        <p:spPr>
          <a:xfrm>
            <a:off x="4645152" y="1600200"/>
            <a:ext cx="182880" cy="164592"/>
          </a:xfrm>
          <a:prstGeom prst="rightArrow">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4873752" y="1399032"/>
            <a:ext cx="1865376" cy="566928"/>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1F3864"/>
                </a:solidFill>
                <a:latin typeface="微软雅黑"/>
                <a:ea typeface="微软雅黑"/>
              </a:rPr>
              <a:t>双模态置信度修正</a:t>
            </a:r>
          </a:p>
        </p:txBody>
      </p:sp>
      <p:sp>
        <p:nvSpPr>
          <p:cNvPr id="59" name="Right Arrow 58"/>
          <p:cNvSpPr/>
          <p:nvPr/>
        </p:nvSpPr>
        <p:spPr>
          <a:xfrm>
            <a:off x="6784848" y="1600200"/>
            <a:ext cx="182880" cy="164592"/>
          </a:xfrm>
          <a:prstGeom prst="rightArrow">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7013448" y="1399032"/>
            <a:ext cx="1865376" cy="566928"/>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1F3864"/>
                </a:solidFill>
                <a:latin typeface="微软雅黑"/>
                <a:ea typeface="微软雅黑"/>
              </a:rPr>
              <a:t>两阶段关联 + 类别约束</a:t>
            </a:r>
          </a:p>
        </p:txBody>
      </p:sp>
      <p:sp>
        <p:nvSpPr>
          <p:cNvPr id="61" name="Right Arrow 60"/>
          <p:cNvSpPr/>
          <p:nvPr/>
        </p:nvSpPr>
        <p:spPr>
          <a:xfrm>
            <a:off x="8924544" y="1600200"/>
            <a:ext cx="182880" cy="164592"/>
          </a:xfrm>
          <a:prstGeom prst="rightArrow">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9153144" y="1399032"/>
            <a:ext cx="1865376" cy="566928"/>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1F3864"/>
                </a:solidFill>
                <a:latin typeface="微软雅黑"/>
                <a:ea typeface="微软雅黑"/>
              </a:rPr>
              <a:t>轨迹管理与输出</a:t>
            </a:r>
          </a:p>
        </p:txBody>
      </p:sp>
      <p:sp>
        <p:nvSpPr>
          <p:cNvPr id="63" name="Rounded Rectangle 62"/>
          <p:cNvSpPr/>
          <p:nvPr/>
        </p:nvSpPr>
        <p:spPr>
          <a:xfrm>
            <a:off x="548640" y="2560320"/>
            <a:ext cx="4983480" cy="157276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64" name="Rounded Rectangle 63"/>
          <p:cNvSpPr/>
          <p:nvPr/>
        </p:nvSpPr>
        <p:spPr>
          <a:xfrm>
            <a:off x="786384" y="2834639"/>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01</a:t>
            </a:r>
          </a:p>
        </p:txBody>
      </p:sp>
      <p:sp>
        <p:nvSpPr>
          <p:cNvPr id="65" name="TextBox 64"/>
          <p:cNvSpPr txBox="1"/>
          <p:nvPr/>
        </p:nvSpPr>
        <p:spPr>
          <a:xfrm>
            <a:off x="1371600" y="2798063"/>
            <a:ext cx="3931920" cy="1143000"/>
          </a:xfrm>
          <a:prstGeom prst="rect">
            <a:avLst/>
          </a:prstGeom>
          <a:noFill/>
        </p:spPr>
        <p:txBody>
          <a:bodyPr wrap="square" lIns="0" tIns="0" rIns="0" bIns="0" anchor="t">
            <a:spAutoFit/>
          </a:bodyPr>
          <a:lstStyle/>
          <a:p>
            <a:pPr algn="l">
              <a:lnSpc>
                <a:spcPct val="126000"/>
              </a:lnSpc>
              <a:spcAft>
                <a:spcPts val="300"/>
              </a:spcAft>
            </a:pPr>
            <a:r>
              <a:rPr sz="1750" b="1" dirty="0" err="1">
                <a:solidFill>
                  <a:srgbClr val="172B4B"/>
                </a:solidFill>
                <a:latin typeface="微软雅黑"/>
                <a:ea typeface="微软雅黑"/>
              </a:rPr>
              <a:t>跨模态检测框匹配与融合</a:t>
            </a:r>
            <a:endParaRPr sz="1750" b="1" dirty="0">
              <a:solidFill>
                <a:srgbClr val="172B4B"/>
              </a:solidFill>
              <a:latin typeface="微软雅黑"/>
              <a:ea typeface="微软雅黑"/>
            </a:endParaRPr>
          </a:p>
          <a:p>
            <a:pPr algn="l">
              <a:lnSpc>
                <a:spcPct val="126000"/>
              </a:lnSpc>
              <a:spcAft>
                <a:spcPts val="300"/>
              </a:spcAft>
            </a:pPr>
            <a:r>
              <a:rPr sz="1600" b="0" dirty="0">
                <a:solidFill>
                  <a:srgbClr val="333F4F"/>
                </a:solidFill>
                <a:latin typeface="微软雅黑"/>
                <a:ea typeface="微软雅黑"/>
              </a:rPr>
              <a:t>按 </a:t>
            </a:r>
            <a:r>
              <a:rPr sz="1600" b="0" dirty="0" err="1">
                <a:solidFill>
                  <a:srgbClr val="333F4F"/>
                </a:solidFill>
                <a:latin typeface="微软雅黑"/>
                <a:ea typeface="微软雅黑"/>
              </a:rPr>
              <a:t>IoU、中心距与船型匹配双模态检测框，再以各自置信度加权融合目标位置</a:t>
            </a:r>
            <a:r>
              <a:rPr sz="1600" b="0" dirty="0">
                <a:solidFill>
                  <a:srgbClr val="333F4F"/>
                </a:solidFill>
                <a:latin typeface="微软雅黑"/>
                <a:ea typeface="微软雅黑"/>
              </a:rPr>
              <a:t>。</a:t>
            </a:r>
          </a:p>
        </p:txBody>
      </p:sp>
      <p:sp>
        <p:nvSpPr>
          <p:cNvPr id="66" name="Rounded Rectangle 65"/>
          <p:cNvSpPr/>
          <p:nvPr/>
        </p:nvSpPr>
        <p:spPr>
          <a:xfrm>
            <a:off x="5989320" y="2560320"/>
            <a:ext cx="4983480" cy="157276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67" name="Rounded Rectangle 66"/>
          <p:cNvSpPr/>
          <p:nvPr/>
        </p:nvSpPr>
        <p:spPr>
          <a:xfrm>
            <a:off x="6227064" y="2834639"/>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02</a:t>
            </a:r>
          </a:p>
        </p:txBody>
      </p:sp>
      <p:sp>
        <p:nvSpPr>
          <p:cNvPr id="68" name="TextBox 67"/>
          <p:cNvSpPr txBox="1"/>
          <p:nvPr/>
        </p:nvSpPr>
        <p:spPr>
          <a:xfrm>
            <a:off x="6812280" y="2798063"/>
            <a:ext cx="3931920" cy="1143000"/>
          </a:xfrm>
          <a:prstGeom prst="rect">
            <a:avLst/>
          </a:prstGeom>
          <a:noFill/>
        </p:spPr>
        <p:txBody>
          <a:bodyPr wrap="square" lIns="0" tIns="0" rIns="0" bIns="0" anchor="t">
            <a:spAutoFit/>
          </a:bodyPr>
          <a:lstStyle/>
          <a:p>
            <a:pPr algn="l">
              <a:lnSpc>
                <a:spcPct val="126000"/>
              </a:lnSpc>
              <a:spcAft>
                <a:spcPts val="300"/>
              </a:spcAft>
            </a:pPr>
            <a:r>
              <a:rPr sz="1750" b="1">
                <a:solidFill>
                  <a:srgbClr val="172B4B"/>
                </a:solidFill>
                <a:latin typeface="微软雅黑"/>
                <a:ea typeface="微软雅黑"/>
              </a:rPr>
              <a:t>双模态置信度协同修正</a:t>
            </a:r>
          </a:p>
          <a:p>
            <a:pPr algn="l">
              <a:lnSpc>
                <a:spcPct val="126000"/>
              </a:lnSpc>
              <a:spcAft>
                <a:spcPts val="300"/>
              </a:spcAft>
            </a:pPr>
            <a:r>
              <a:rPr sz="1600" b="0">
                <a:solidFill>
                  <a:srgbClr val="333F4F"/>
                </a:solidFill>
                <a:latin typeface="微软雅黑"/>
                <a:ea typeface="微软雅黑"/>
              </a:rPr>
              <a:t>引入跨模态一致性得分修正检测分数，使低照度下的弱检测获得另一模态的证据支持。</a:t>
            </a:r>
          </a:p>
        </p:txBody>
      </p:sp>
      <p:sp>
        <p:nvSpPr>
          <p:cNvPr id="69" name="Rounded Rectangle 68"/>
          <p:cNvSpPr/>
          <p:nvPr/>
        </p:nvSpPr>
        <p:spPr>
          <a:xfrm>
            <a:off x="548640" y="4315968"/>
            <a:ext cx="4983480" cy="157276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70" name="Rounded Rectangle 69"/>
          <p:cNvSpPr/>
          <p:nvPr/>
        </p:nvSpPr>
        <p:spPr>
          <a:xfrm>
            <a:off x="786384" y="4590288"/>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03</a:t>
            </a:r>
          </a:p>
        </p:txBody>
      </p:sp>
      <p:sp>
        <p:nvSpPr>
          <p:cNvPr id="71" name="TextBox 70"/>
          <p:cNvSpPr txBox="1"/>
          <p:nvPr/>
        </p:nvSpPr>
        <p:spPr>
          <a:xfrm>
            <a:off x="1371600" y="4553712"/>
            <a:ext cx="3931920" cy="1143000"/>
          </a:xfrm>
          <a:prstGeom prst="rect">
            <a:avLst/>
          </a:prstGeom>
          <a:noFill/>
        </p:spPr>
        <p:txBody>
          <a:bodyPr wrap="square" lIns="0" tIns="0" rIns="0" bIns="0" anchor="t">
            <a:spAutoFit/>
          </a:bodyPr>
          <a:lstStyle/>
          <a:p>
            <a:pPr algn="l">
              <a:lnSpc>
                <a:spcPct val="126000"/>
              </a:lnSpc>
              <a:spcAft>
                <a:spcPts val="300"/>
              </a:spcAft>
            </a:pPr>
            <a:r>
              <a:rPr sz="1750" b="1">
                <a:solidFill>
                  <a:srgbClr val="172B4B"/>
                </a:solidFill>
                <a:latin typeface="微软雅黑"/>
                <a:ea typeface="微软雅黑"/>
              </a:rPr>
              <a:t>类别约束的两阶段关联</a:t>
            </a:r>
          </a:p>
          <a:p>
            <a:pPr algn="l">
              <a:lnSpc>
                <a:spcPct val="126000"/>
              </a:lnSpc>
              <a:spcAft>
                <a:spcPts val="300"/>
              </a:spcAft>
            </a:pPr>
            <a:r>
              <a:rPr sz="1600" b="0">
                <a:solidFill>
                  <a:srgbClr val="333F4F"/>
                </a:solidFill>
                <a:latin typeface="微软雅黑"/>
                <a:ea typeface="微软雅黑"/>
              </a:rPr>
              <a:t>在 IoU 运动代价上加入船型一致性软约束，降低相似船舶之间的错误关联。</a:t>
            </a:r>
          </a:p>
        </p:txBody>
      </p:sp>
      <p:sp>
        <p:nvSpPr>
          <p:cNvPr id="72" name="Rounded Rectangle 71"/>
          <p:cNvSpPr/>
          <p:nvPr/>
        </p:nvSpPr>
        <p:spPr>
          <a:xfrm>
            <a:off x="5989320" y="4315968"/>
            <a:ext cx="4983480" cy="157276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73" name="Rounded Rectangle 72"/>
          <p:cNvSpPr/>
          <p:nvPr/>
        </p:nvSpPr>
        <p:spPr>
          <a:xfrm>
            <a:off x="6227064" y="4590288"/>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04</a:t>
            </a:r>
          </a:p>
        </p:txBody>
      </p:sp>
      <p:sp>
        <p:nvSpPr>
          <p:cNvPr id="74" name="TextBox 73"/>
          <p:cNvSpPr txBox="1"/>
          <p:nvPr/>
        </p:nvSpPr>
        <p:spPr>
          <a:xfrm>
            <a:off x="6812280" y="4553712"/>
            <a:ext cx="3931920" cy="1143000"/>
          </a:xfrm>
          <a:prstGeom prst="rect">
            <a:avLst/>
          </a:prstGeom>
          <a:noFill/>
        </p:spPr>
        <p:txBody>
          <a:bodyPr wrap="square" lIns="0" tIns="0" rIns="0" bIns="0" anchor="t">
            <a:spAutoFit/>
          </a:bodyPr>
          <a:lstStyle/>
          <a:p>
            <a:pPr algn="l">
              <a:lnSpc>
                <a:spcPct val="126000"/>
              </a:lnSpc>
              <a:spcAft>
                <a:spcPts val="300"/>
              </a:spcAft>
            </a:pPr>
            <a:r>
              <a:rPr sz="1750" b="1" dirty="0" err="1">
                <a:solidFill>
                  <a:srgbClr val="172B4B"/>
                </a:solidFill>
                <a:latin typeface="微软雅黑"/>
                <a:ea typeface="微软雅黑"/>
              </a:rPr>
              <a:t>单模态目标不直接舍弃</a:t>
            </a:r>
            <a:endParaRPr sz="1750" b="1" dirty="0">
              <a:solidFill>
                <a:srgbClr val="172B4B"/>
              </a:solidFill>
              <a:latin typeface="微软雅黑"/>
              <a:ea typeface="微软雅黑"/>
            </a:endParaRPr>
          </a:p>
          <a:p>
            <a:pPr algn="l">
              <a:lnSpc>
                <a:spcPct val="126000"/>
              </a:lnSpc>
              <a:spcAft>
                <a:spcPts val="300"/>
              </a:spcAft>
            </a:pPr>
            <a:r>
              <a:rPr sz="1600" b="0" dirty="0" err="1">
                <a:solidFill>
                  <a:srgbClr val="333F4F"/>
                </a:solidFill>
                <a:latin typeface="微软雅黑"/>
                <a:ea typeface="微软雅黑"/>
              </a:rPr>
              <a:t>结合检测置信度与历史轨迹状态判定是否保留，减少漏检导致的轨迹碎片</a:t>
            </a:r>
            <a:r>
              <a:rPr sz="1600" b="0" dirty="0">
                <a:solidFill>
                  <a:srgbClr val="333F4F"/>
                </a:solidFill>
                <a:latin typeface="微软雅黑"/>
                <a:ea typeface="微软雅黑"/>
              </a:rPr>
              <a:t>。</a:t>
            </a:r>
          </a:p>
        </p:txBody>
      </p:sp>
    </p:spTree>
    <p:extLst>
      <p:ext uri="{BB962C8B-B14F-4D97-AF65-F5344CB8AC3E}">
        <p14:creationId xmlns:p14="http://schemas.microsoft.com/office/powerpoint/2010/main" val="39717050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联合检测与身份嵌入</a:t>
            </a:r>
          </a:p>
        </p:txBody>
      </p:sp>
      <p:pic>
        <p:nvPicPr>
          <p:cNvPr id="3" name="图片 2">
            <a:extLst>
              <a:ext uri="{FF2B5EF4-FFF2-40B4-BE49-F238E27FC236}">
                <a16:creationId xmlns:a16="http://schemas.microsoft.com/office/drawing/2014/main" id="{BF28337E-76BC-C6DA-F636-63087E8A56AA}"/>
              </a:ext>
            </a:extLst>
          </p:cNvPr>
          <p:cNvPicPr>
            <a:picLocks noChangeAspect="1"/>
          </p:cNvPicPr>
          <p:nvPr/>
        </p:nvPicPr>
        <p:blipFill>
          <a:blip r:embed="rId7"/>
          <a:stretch>
            <a:fillRect/>
          </a:stretch>
        </p:blipFill>
        <p:spPr>
          <a:xfrm>
            <a:off x="5836444" y="1920106"/>
            <a:ext cx="4495800" cy="2530339"/>
          </a:xfrm>
          <a:prstGeom prst="rect">
            <a:avLst/>
          </a:prstGeom>
        </p:spPr>
      </p:pic>
      <p:pic>
        <p:nvPicPr>
          <p:cNvPr id="4" name="图片 3">
            <a:extLst>
              <a:ext uri="{FF2B5EF4-FFF2-40B4-BE49-F238E27FC236}">
                <a16:creationId xmlns:a16="http://schemas.microsoft.com/office/drawing/2014/main" id="{AEF838B9-3AC0-75B8-1C5A-8AD7E840994F}"/>
              </a:ext>
            </a:extLst>
          </p:cNvPr>
          <p:cNvPicPr>
            <a:picLocks noChangeAspect="1"/>
          </p:cNvPicPr>
          <p:nvPr/>
        </p:nvPicPr>
        <p:blipFill>
          <a:blip r:embed="rId8"/>
          <a:stretch>
            <a:fillRect/>
          </a:stretch>
        </p:blipFill>
        <p:spPr>
          <a:xfrm>
            <a:off x="731044" y="1944687"/>
            <a:ext cx="4566880" cy="2406366"/>
          </a:xfrm>
          <a:prstGeom prst="rect">
            <a:avLst/>
          </a:prstGeom>
        </p:spPr>
      </p:pic>
      <p:sp>
        <p:nvSpPr>
          <p:cNvPr id="6" name="文本框 5">
            <a:extLst>
              <a:ext uri="{FF2B5EF4-FFF2-40B4-BE49-F238E27FC236}">
                <a16:creationId xmlns:a16="http://schemas.microsoft.com/office/drawing/2014/main" id="{ABE135ED-52C5-9BF1-5796-548A697CE504}"/>
              </a:ext>
            </a:extLst>
          </p:cNvPr>
          <p:cNvSpPr txBox="1"/>
          <p:nvPr/>
        </p:nvSpPr>
        <p:spPr>
          <a:xfrm>
            <a:off x="3550444" y="5083411"/>
            <a:ext cx="4191000" cy="413255"/>
          </a:xfrm>
          <a:prstGeom prst="rect">
            <a:avLst/>
          </a:prstGeom>
          <a:noFill/>
        </p:spPr>
        <p:txBody>
          <a:bodyPr wrap="square">
            <a:spAutoFit/>
          </a:bodyPr>
          <a:lstStyle/>
          <a:p>
            <a:pPr algn="l">
              <a:lnSpc>
                <a:spcPct val="128000"/>
              </a:lnSpc>
              <a:spcAft>
                <a:spcPts val="300"/>
              </a:spcAft>
            </a:pPr>
            <a:r>
              <a:rPr lang="zh-CN" altLang="en-US" sz="1800" b="0" dirty="0">
                <a:solidFill>
                  <a:srgbClr val="333F4F"/>
                </a:solidFill>
                <a:latin typeface="微软雅黑"/>
                <a:ea typeface="微软雅黑"/>
              </a:rPr>
              <a:t>目标交汇及短时遮挡时身份切换频繁</a:t>
            </a:r>
          </a:p>
        </p:txBody>
      </p:sp>
    </p:spTree>
    <p:extLst>
      <p:ext uri="{BB962C8B-B14F-4D97-AF65-F5344CB8AC3E}">
        <p14:creationId xmlns:p14="http://schemas.microsoft.com/office/powerpoint/2010/main" val="3863279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联合检测与身份嵌入</a:t>
            </a:r>
          </a:p>
        </p:txBody>
      </p:sp>
      <p:pic>
        <p:nvPicPr>
          <p:cNvPr id="3" name="图片 2">
            <a:extLst>
              <a:ext uri="{FF2B5EF4-FFF2-40B4-BE49-F238E27FC236}">
                <a16:creationId xmlns:a16="http://schemas.microsoft.com/office/drawing/2014/main" id="{8EEB2259-99E4-F13C-3F96-8CB29B049B79}"/>
              </a:ext>
            </a:extLst>
          </p:cNvPr>
          <p:cNvPicPr>
            <a:picLocks noChangeAspect="1"/>
          </p:cNvPicPr>
          <p:nvPr/>
        </p:nvPicPr>
        <p:blipFill>
          <a:blip r:embed="rId7"/>
          <a:stretch>
            <a:fillRect/>
          </a:stretch>
        </p:blipFill>
        <p:spPr>
          <a:xfrm>
            <a:off x="421072" y="3621087"/>
            <a:ext cx="10097481" cy="1552322"/>
          </a:xfrm>
          <a:prstGeom prst="rect">
            <a:avLst/>
          </a:prstGeom>
        </p:spPr>
      </p:pic>
      <p:pic>
        <p:nvPicPr>
          <p:cNvPr id="4" name="图片 3">
            <a:extLst>
              <a:ext uri="{FF2B5EF4-FFF2-40B4-BE49-F238E27FC236}">
                <a16:creationId xmlns:a16="http://schemas.microsoft.com/office/drawing/2014/main" id="{0EB82175-C0AF-DE02-8880-0D22C7C2F92F}"/>
              </a:ext>
            </a:extLst>
          </p:cNvPr>
          <p:cNvPicPr>
            <a:picLocks noChangeAspect="1"/>
          </p:cNvPicPr>
          <p:nvPr/>
        </p:nvPicPr>
        <p:blipFill>
          <a:blip r:embed="rId8"/>
          <a:stretch>
            <a:fillRect/>
          </a:stretch>
        </p:blipFill>
        <p:spPr>
          <a:xfrm>
            <a:off x="436079" y="1174581"/>
            <a:ext cx="10061811" cy="1961314"/>
          </a:xfrm>
          <a:prstGeom prst="rect">
            <a:avLst/>
          </a:prstGeom>
        </p:spPr>
      </p:pic>
    </p:spTree>
    <p:extLst>
      <p:ext uri="{BB962C8B-B14F-4D97-AF65-F5344CB8AC3E}">
        <p14:creationId xmlns:p14="http://schemas.microsoft.com/office/powerpoint/2010/main" val="23493684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联合检测与身份嵌入</a:t>
            </a:r>
          </a:p>
        </p:txBody>
      </p:sp>
      <p:pic>
        <p:nvPicPr>
          <p:cNvPr id="3" name="Picture 225" descr="fairmot.png">
            <a:extLst>
              <a:ext uri="{FF2B5EF4-FFF2-40B4-BE49-F238E27FC236}">
                <a16:creationId xmlns:a16="http://schemas.microsoft.com/office/drawing/2014/main" id="{8B49B39A-45F6-DBE0-14F6-E1D634EFBD4A}"/>
              </a:ext>
            </a:extLst>
          </p:cNvPr>
          <p:cNvPicPr>
            <a:picLocks noChangeAspect="1"/>
          </p:cNvPicPr>
          <p:nvPr/>
        </p:nvPicPr>
        <p:blipFill>
          <a:blip r:embed="rId7"/>
          <a:stretch>
            <a:fillRect/>
          </a:stretch>
        </p:blipFill>
        <p:spPr>
          <a:xfrm>
            <a:off x="534916" y="1639887"/>
            <a:ext cx="3712463" cy="4319169"/>
          </a:xfrm>
          <a:prstGeom prst="rect">
            <a:avLst/>
          </a:prstGeom>
        </p:spPr>
      </p:pic>
      <p:sp>
        <p:nvSpPr>
          <p:cNvPr id="6" name="文本框 5">
            <a:extLst>
              <a:ext uri="{FF2B5EF4-FFF2-40B4-BE49-F238E27FC236}">
                <a16:creationId xmlns:a16="http://schemas.microsoft.com/office/drawing/2014/main" id="{F1239BDB-5DB4-FC7F-F1AB-38323F084EBD}"/>
              </a:ext>
            </a:extLst>
          </p:cNvPr>
          <p:cNvSpPr txBox="1"/>
          <p:nvPr/>
        </p:nvSpPr>
        <p:spPr>
          <a:xfrm>
            <a:off x="4785865" y="2322496"/>
            <a:ext cx="5761702" cy="2953950"/>
          </a:xfrm>
          <a:prstGeom prst="rect">
            <a:avLst/>
          </a:prstGeom>
          <a:noFill/>
        </p:spPr>
        <p:txBody>
          <a:bodyPr wrap="square">
            <a:spAutoFit/>
          </a:bodyPr>
          <a:lstStyle/>
          <a:p>
            <a:pPr indent="304800" algn="just">
              <a:lnSpc>
                <a:spcPct val="150000"/>
              </a:lnSpc>
              <a:spcAft>
                <a:spcPts val="600"/>
              </a:spcAft>
            </a:pPr>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FairMOT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属于联合检测与身份嵌入方法，采用共享骨干网络提取图像特征，并设置检测分支和身份嵌入分支分别完成船舶位置预测与身份表示学习。检测分支输出船舶中心位置、边界框尺寸、类别和置信度，身份嵌入分支输出用于跨帧关联的身份特征。</a:t>
            </a:r>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FairMOT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采用基于目标中心的无锚检测结构，使检测分支和身份嵌入分支能够在同一目标位置上进行特征学习。</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25082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9" name="Picture 28">
            <a:extLst>
              <a:ext uri="{FF2B5EF4-FFF2-40B4-BE49-F238E27FC236}">
                <a16:creationId xmlns:a16="http://schemas.microsoft.com/office/drawing/2014/main" id="{F6C3B8AA-D7A4-4810-9CC0-9946AF7A7AF6}"/>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220" name="组合 3">
            <a:extLst>
              <a:ext uri="{FF2B5EF4-FFF2-40B4-BE49-F238E27FC236}">
                <a16:creationId xmlns:a16="http://schemas.microsoft.com/office/drawing/2014/main" id="{C1A47F8B-D08C-4F18-A51F-1A96CFDC64B1}"/>
              </a:ext>
            </a:extLst>
          </p:cNvPr>
          <p:cNvGrpSpPr>
            <a:grpSpLocks/>
          </p:cNvGrpSpPr>
          <p:nvPr/>
        </p:nvGrpSpPr>
        <p:grpSpPr bwMode="auto">
          <a:xfrm>
            <a:off x="464577" y="165395"/>
            <a:ext cx="433338" cy="535447"/>
            <a:chOff x="10675" y="7633"/>
            <a:chExt cx="433171" cy="534549"/>
          </a:xfrm>
        </p:grpSpPr>
        <p:sp>
          <p:nvSpPr>
            <p:cNvPr id="221" name="圆角矩形 10">
              <a:extLst>
                <a:ext uri="{FF2B5EF4-FFF2-40B4-BE49-F238E27FC236}">
                  <a16:creationId xmlns:a16="http://schemas.microsoft.com/office/drawing/2014/main" id="{030F9BA5-DEFD-4506-A01B-6561B04F2E9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222" name="图片 50">
              <a:extLst>
                <a:ext uri="{FF2B5EF4-FFF2-40B4-BE49-F238E27FC236}">
                  <a16:creationId xmlns:a16="http://schemas.microsoft.com/office/drawing/2014/main" id="{72D8A068-A9C9-43B6-A589-D691DF21DF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23" name="图片 222">
            <a:extLst>
              <a:ext uri="{FF2B5EF4-FFF2-40B4-BE49-F238E27FC236}">
                <a16:creationId xmlns:a16="http://schemas.microsoft.com/office/drawing/2014/main" id="{D6475687-6A2D-4DF3-8054-8B7FBB2283C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224" name="TextBox 29">
            <a:extLst>
              <a:ext uri="{FF2B5EF4-FFF2-40B4-BE49-F238E27FC236}">
                <a16:creationId xmlns:a16="http://schemas.microsoft.com/office/drawing/2014/main" id="{AABE9574-6F2C-4F31-A0BE-DE8F72E63ED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双模态特征融合的 FairMOT 改进</a:t>
            </a:r>
          </a:p>
        </p:txBody>
      </p:sp>
      <p:sp>
        <p:nvSpPr>
          <p:cNvPr id="228" name="TextBox 227"/>
          <p:cNvSpPr txBox="1"/>
          <p:nvPr/>
        </p:nvSpPr>
        <p:spPr>
          <a:xfrm>
            <a:off x="843001" y="1411287"/>
            <a:ext cx="5623560" cy="548640"/>
          </a:xfrm>
          <a:prstGeom prst="rect">
            <a:avLst/>
          </a:prstGeom>
          <a:noFill/>
        </p:spPr>
        <p:txBody>
          <a:bodyPr wrap="square" lIns="0" tIns="0" rIns="0" bIns="0" anchor="t">
            <a:spAutoFit/>
          </a:bodyPr>
          <a:lstStyle/>
          <a:p>
            <a:pPr algn="l">
              <a:lnSpc>
                <a:spcPct val="130000"/>
              </a:lnSpc>
              <a:spcAft>
                <a:spcPts val="600"/>
              </a:spcAft>
            </a:pPr>
            <a:r>
              <a:rPr sz="1800" b="1" dirty="0" err="1">
                <a:solidFill>
                  <a:srgbClr val="172B4B"/>
                </a:solidFill>
                <a:latin typeface="微软雅黑"/>
                <a:ea typeface="微软雅黑"/>
              </a:rPr>
              <a:t>改进思路：</a:t>
            </a:r>
            <a:r>
              <a:rPr sz="1700" b="0" dirty="0" err="1">
                <a:solidFill>
                  <a:srgbClr val="333F4F"/>
                </a:solidFill>
                <a:latin typeface="微软雅黑"/>
                <a:ea typeface="微软雅黑"/>
              </a:rPr>
              <a:t>在共享骨干网络之前引入红外与可见光双分支编码与融合模块</a:t>
            </a:r>
            <a:r>
              <a:rPr sz="1700" b="0" dirty="0">
                <a:solidFill>
                  <a:srgbClr val="333F4F"/>
                </a:solidFill>
                <a:latin typeface="微软雅黑"/>
                <a:ea typeface="微软雅黑"/>
              </a:rPr>
              <a:t>。</a:t>
            </a:r>
          </a:p>
        </p:txBody>
      </p:sp>
      <p:sp>
        <p:nvSpPr>
          <p:cNvPr id="229" name="Rounded Rectangle 228"/>
          <p:cNvSpPr/>
          <p:nvPr/>
        </p:nvSpPr>
        <p:spPr>
          <a:xfrm>
            <a:off x="843001" y="2389695"/>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01</a:t>
            </a:r>
          </a:p>
        </p:txBody>
      </p:sp>
      <p:sp>
        <p:nvSpPr>
          <p:cNvPr id="230" name="TextBox 229"/>
          <p:cNvSpPr txBox="1"/>
          <p:nvPr/>
        </p:nvSpPr>
        <p:spPr>
          <a:xfrm>
            <a:off x="1409929" y="2334831"/>
            <a:ext cx="505663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双分支特征编码</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红外与可见光分别编码，逐层以拼接卷积或模态门控完成跨模态特征交互</a:t>
            </a:r>
            <a:r>
              <a:rPr sz="1700" b="0" dirty="0">
                <a:solidFill>
                  <a:srgbClr val="333F4F"/>
                </a:solidFill>
                <a:latin typeface="微软雅黑"/>
                <a:ea typeface="微软雅黑"/>
              </a:rPr>
              <a:t>。</a:t>
            </a:r>
          </a:p>
        </p:txBody>
      </p:sp>
      <p:sp>
        <p:nvSpPr>
          <p:cNvPr id="231" name="Rounded Rectangle 230"/>
          <p:cNvSpPr/>
          <p:nvPr/>
        </p:nvSpPr>
        <p:spPr>
          <a:xfrm>
            <a:off x="843001" y="3688142"/>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02</a:t>
            </a:r>
          </a:p>
        </p:txBody>
      </p:sp>
      <p:sp>
        <p:nvSpPr>
          <p:cNvPr id="232" name="TextBox 231"/>
          <p:cNvSpPr txBox="1"/>
          <p:nvPr/>
        </p:nvSpPr>
        <p:spPr>
          <a:xfrm>
            <a:off x="1409929" y="3633279"/>
            <a:ext cx="505663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检测与嵌入联合学习</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融合特征同时输入检测头与身份嵌入头，共享骨干网络减少重复计算</a:t>
            </a:r>
            <a:r>
              <a:rPr sz="1700" b="0" dirty="0">
                <a:solidFill>
                  <a:srgbClr val="333F4F"/>
                </a:solidFill>
                <a:latin typeface="微软雅黑"/>
                <a:ea typeface="微软雅黑"/>
              </a:rPr>
              <a:t>。</a:t>
            </a:r>
          </a:p>
        </p:txBody>
      </p:sp>
      <p:sp>
        <p:nvSpPr>
          <p:cNvPr id="233" name="Rounded Rectangle 232"/>
          <p:cNvSpPr/>
          <p:nvPr/>
        </p:nvSpPr>
        <p:spPr>
          <a:xfrm>
            <a:off x="843001" y="4986591"/>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03</a:t>
            </a:r>
          </a:p>
        </p:txBody>
      </p:sp>
      <p:sp>
        <p:nvSpPr>
          <p:cNvPr id="234" name="TextBox 233"/>
          <p:cNvSpPr txBox="1"/>
          <p:nvPr/>
        </p:nvSpPr>
        <p:spPr>
          <a:xfrm>
            <a:off x="1409929" y="4931727"/>
            <a:ext cx="505663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跨模态身份一致性</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对同一船舶的双模态嵌入施加一致性约束，提升相似船型的区分能力</a:t>
            </a:r>
            <a:r>
              <a:rPr sz="1700" b="0" dirty="0">
                <a:solidFill>
                  <a:srgbClr val="333F4F"/>
                </a:solidFill>
                <a:latin typeface="微软雅黑"/>
                <a:ea typeface="微软雅黑"/>
              </a:rPr>
              <a:t>。</a:t>
            </a:r>
          </a:p>
        </p:txBody>
      </p:sp>
      <p:pic>
        <p:nvPicPr>
          <p:cNvPr id="2" name="图片 1">
            <a:extLst>
              <a:ext uri="{FF2B5EF4-FFF2-40B4-BE49-F238E27FC236}">
                <a16:creationId xmlns:a16="http://schemas.microsoft.com/office/drawing/2014/main" id="{5430CE6D-EFA0-C51A-9991-757FADEF0471}"/>
              </a:ext>
            </a:extLst>
          </p:cNvPr>
          <p:cNvPicPr>
            <a:picLocks noChangeAspect="1"/>
          </p:cNvPicPr>
          <p:nvPr/>
        </p:nvPicPr>
        <p:blipFill>
          <a:blip r:embed="rId7"/>
          <a:stretch>
            <a:fillRect/>
          </a:stretch>
        </p:blipFill>
        <p:spPr>
          <a:xfrm>
            <a:off x="6634610" y="1258887"/>
            <a:ext cx="4716014" cy="4296189"/>
          </a:xfrm>
          <a:prstGeom prst="rect">
            <a:avLst/>
          </a:prstGeom>
        </p:spPr>
      </p:pic>
    </p:spTree>
    <p:extLst>
      <p:ext uri="{BB962C8B-B14F-4D97-AF65-F5344CB8AC3E}">
        <p14:creationId xmlns:p14="http://schemas.microsoft.com/office/powerpoint/2010/main" val="38158871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联合检测跟踪</a:t>
            </a:r>
          </a:p>
        </p:txBody>
      </p:sp>
    </p:spTree>
    <p:extLst>
      <p:ext uri="{BB962C8B-B14F-4D97-AF65-F5344CB8AC3E}">
        <p14:creationId xmlns:p14="http://schemas.microsoft.com/office/powerpoint/2010/main" val="22355571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联合</a:t>
            </a:r>
            <a:r>
              <a:rPr lang="zh-CN" altLang="en-US" sz="2800" b="0">
                <a:solidFill>
                  <a:schemeClr val="bg1"/>
                </a:solidFill>
                <a:effectLst>
                  <a:outerShdw blurRad="38100" dist="38100" dir="2700000" algn="tl">
                    <a:srgbClr val="C0C0C0"/>
                  </a:outerShdw>
                </a:effectLst>
                <a:latin typeface="微软雅黑" pitchFamily="34" charset="-122"/>
                <a:ea typeface="微软雅黑" pitchFamily="34" charset="-122"/>
              </a:rPr>
              <a:t>检测跟踪</a:t>
            </a:r>
            <a:endPar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39964824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28">
            <a:extLst>
              <a:ext uri="{FF2B5EF4-FFF2-40B4-BE49-F238E27FC236}">
                <a16:creationId xmlns:a16="http://schemas.microsoft.com/office/drawing/2014/main" id="{AA8179F2-28FB-421B-899C-BD128C4E31F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组合 3">
            <a:extLst>
              <a:ext uri="{FF2B5EF4-FFF2-40B4-BE49-F238E27FC236}">
                <a16:creationId xmlns:a16="http://schemas.microsoft.com/office/drawing/2014/main" id="{E3F27028-DB63-4C26-A6E4-40AD595D4D53}"/>
              </a:ext>
            </a:extLst>
          </p:cNvPr>
          <p:cNvGrpSpPr>
            <a:grpSpLocks/>
          </p:cNvGrpSpPr>
          <p:nvPr/>
        </p:nvGrpSpPr>
        <p:grpSpPr bwMode="auto">
          <a:xfrm>
            <a:off x="464577" y="165395"/>
            <a:ext cx="433338" cy="535447"/>
            <a:chOff x="10675" y="7633"/>
            <a:chExt cx="433171" cy="534549"/>
          </a:xfrm>
        </p:grpSpPr>
        <p:sp>
          <p:nvSpPr>
            <p:cNvPr id="34" name="圆角矩形 10">
              <a:extLst>
                <a:ext uri="{FF2B5EF4-FFF2-40B4-BE49-F238E27FC236}">
                  <a16:creationId xmlns:a16="http://schemas.microsoft.com/office/drawing/2014/main" id="{BD474E94-6A31-4F2C-ABBE-C6C379A36E03}"/>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35" name="图片 50">
              <a:extLst>
                <a:ext uri="{FF2B5EF4-FFF2-40B4-BE49-F238E27FC236}">
                  <a16:creationId xmlns:a16="http://schemas.microsoft.com/office/drawing/2014/main" id="{F51ED183-BB2C-4496-AA11-6A1DA71394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6" name="图片 35">
            <a:extLst>
              <a:ext uri="{FF2B5EF4-FFF2-40B4-BE49-F238E27FC236}">
                <a16:creationId xmlns:a16="http://schemas.microsoft.com/office/drawing/2014/main" id="{956B1C9A-3553-4F7C-8045-EEA4499D960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37" name="TextBox 29">
            <a:extLst>
              <a:ext uri="{FF2B5EF4-FFF2-40B4-BE49-F238E27FC236}">
                <a16:creationId xmlns:a16="http://schemas.microsoft.com/office/drawing/2014/main" id="{9A1459F8-8278-4383-B6F5-833527E28294}"/>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双模态轨迹查询的 MOTR 改进</a:t>
            </a:r>
          </a:p>
        </p:txBody>
      </p:sp>
      <p:sp>
        <p:nvSpPr>
          <p:cNvPr id="38" name="Rounded Rectangle 37"/>
          <p:cNvSpPr/>
          <p:nvPr/>
        </p:nvSpPr>
        <p:spPr>
          <a:xfrm>
            <a:off x="502920" y="1188720"/>
            <a:ext cx="2560320" cy="475488"/>
          </a:xfrm>
          <a:prstGeom prst="roundRect">
            <a:avLst>
              <a:gd name="adj" fmla="val 16000"/>
            </a:avLst>
          </a:prstGeom>
          <a:solidFill>
            <a:srgbClr val="2F8FD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1">
                <a:solidFill>
                  <a:srgbClr val="FFFFFF"/>
                </a:solidFill>
                <a:latin typeface="微软雅黑"/>
                <a:ea typeface="微软雅黑"/>
              </a:rPr>
              <a:t>可见光多尺度特征</a:t>
            </a:r>
          </a:p>
        </p:txBody>
      </p:sp>
      <p:sp>
        <p:nvSpPr>
          <p:cNvPr id="39" name="Rounded Rectangle 38"/>
          <p:cNvSpPr/>
          <p:nvPr/>
        </p:nvSpPr>
        <p:spPr>
          <a:xfrm>
            <a:off x="3291839" y="1188720"/>
            <a:ext cx="2560320" cy="475488"/>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1">
                <a:solidFill>
                  <a:srgbClr val="FFFFFF"/>
                </a:solidFill>
                <a:latin typeface="微软雅黑"/>
                <a:ea typeface="微软雅黑"/>
              </a:rPr>
              <a:t>红外多尺度特征</a:t>
            </a:r>
          </a:p>
        </p:txBody>
      </p:sp>
      <p:sp>
        <p:nvSpPr>
          <p:cNvPr id="40" name="Isosceles Triangle 39"/>
          <p:cNvSpPr/>
          <p:nvPr/>
        </p:nvSpPr>
        <p:spPr>
          <a:xfrm rot="10800000">
            <a:off x="3076956" y="1700784"/>
            <a:ext cx="201168" cy="146304"/>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502920" y="1883664"/>
            <a:ext cx="5349240" cy="475488"/>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0">
                <a:solidFill>
                  <a:srgbClr val="1F3864"/>
                </a:solidFill>
                <a:latin typeface="微软雅黑"/>
                <a:ea typeface="微软雅黑"/>
              </a:rPr>
              <a:t>跨模态注意力融合（按模态清晰度加权）</a:t>
            </a:r>
          </a:p>
        </p:txBody>
      </p:sp>
      <p:sp>
        <p:nvSpPr>
          <p:cNvPr id="42" name="Isosceles Triangle 41"/>
          <p:cNvSpPr/>
          <p:nvPr/>
        </p:nvSpPr>
        <p:spPr>
          <a:xfrm rot="10800000">
            <a:off x="3076956" y="2377440"/>
            <a:ext cx="201168" cy="146304"/>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502920" y="2578608"/>
            <a:ext cx="5349240" cy="475488"/>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0">
                <a:solidFill>
                  <a:srgbClr val="1F3864"/>
                </a:solidFill>
                <a:latin typeface="微软雅黑"/>
                <a:ea typeface="微软雅黑"/>
              </a:rPr>
              <a:t>Transformer 编码器</a:t>
            </a:r>
          </a:p>
        </p:txBody>
      </p:sp>
      <p:sp>
        <p:nvSpPr>
          <p:cNvPr id="44" name="Isosceles Triangle 43"/>
          <p:cNvSpPr/>
          <p:nvPr/>
        </p:nvSpPr>
        <p:spPr>
          <a:xfrm rot="10800000">
            <a:off x="3076956" y="3072384"/>
            <a:ext cx="201168" cy="146304"/>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502920" y="3273552"/>
            <a:ext cx="2560320" cy="475488"/>
          </a:xfrm>
          <a:prstGeom prst="roundRect">
            <a:avLst>
              <a:gd name="adj" fmla="val 1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1">
                <a:solidFill>
                  <a:srgbClr val="1F3864"/>
                </a:solidFill>
                <a:latin typeface="微软雅黑"/>
                <a:ea typeface="微软雅黑"/>
              </a:rPr>
              <a:t>目标查询：发现新船舶</a:t>
            </a:r>
          </a:p>
        </p:txBody>
      </p:sp>
      <p:sp>
        <p:nvSpPr>
          <p:cNvPr id="46" name="Rounded Rectangle 45"/>
          <p:cNvSpPr/>
          <p:nvPr/>
        </p:nvSpPr>
        <p:spPr>
          <a:xfrm>
            <a:off x="3291839" y="3273552"/>
            <a:ext cx="2560320" cy="475488"/>
          </a:xfrm>
          <a:prstGeom prst="roundRect">
            <a:avLst>
              <a:gd name="adj" fmla="val 1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1">
                <a:solidFill>
                  <a:srgbClr val="1F3864"/>
                </a:solidFill>
                <a:latin typeface="微软雅黑"/>
                <a:ea typeface="微软雅黑"/>
              </a:rPr>
              <a:t>轨迹查询：延续身份</a:t>
            </a:r>
          </a:p>
        </p:txBody>
      </p:sp>
      <p:sp>
        <p:nvSpPr>
          <p:cNvPr id="47" name="Isosceles Triangle 46"/>
          <p:cNvSpPr/>
          <p:nvPr/>
        </p:nvSpPr>
        <p:spPr>
          <a:xfrm rot="10800000">
            <a:off x="3076956" y="3767328"/>
            <a:ext cx="201168" cy="146304"/>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502920" y="3968496"/>
            <a:ext cx="5349240" cy="475488"/>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0">
                <a:solidFill>
                  <a:srgbClr val="1F3864"/>
                </a:solidFill>
                <a:latin typeface="微软雅黑"/>
                <a:ea typeface="微软雅黑"/>
              </a:rPr>
              <a:t>Transformer 解码器</a:t>
            </a:r>
          </a:p>
        </p:txBody>
      </p:sp>
      <p:sp>
        <p:nvSpPr>
          <p:cNvPr id="49" name="Isosceles Triangle 48"/>
          <p:cNvSpPr/>
          <p:nvPr/>
        </p:nvSpPr>
        <p:spPr>
          <a:xfrm rot="10800000">
            <a:off x="3076956" y="4462272"/>
            <a:ext cx="201168" cy="146304"/>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502920" y="4663440"/>
            <a:ext cx="5349240" cy="475488"/>
          </a:xfrm>
          <a:prstGeom prst="roundRect">
            <a:avLst>
              <a:gd name="adj" fmla="val 16000"/>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位置 / 类别 / 轨迹状态更新</a:t>
            </a:r>
          </a:p>
        </p:txBody>
      </p:sp>
      <p:sp>
        <p:nvSpPr>
          <p:cNvPr id="51" name="TextBox 50"/>
          <p:cNvSpPr txBox="1"/>
          <p:nvPr/>
        </p:nvSpPr>
        <p:spPr>
          <a:xfrm>
            <a:off x="502920" y="5266944"/>
            <a:ext cx="5349240" cy="548640"/>
          </a:xfrm>
          <a:prstGeom prst="rect">
            <a:avLst/>
          </a:prstGeom>
          <a:noFill/>
        </p:spPr>
        <p:txBody>
          <a:bodyPr wrap="square" lIns="0" tIns="0" rIns="0" bIns="0" anchor="t">
            <a:spAutoFit/>
          </a:bodyPr>
          <a:lstStyle/>
          <a:p>
            <a:pPr algn="ctr">
              <a:lnSpc>
                <a:spcPct val="125000"/>
              </a:lnSpc>
              <a:spcAft>
                <a:spcPts val="600"/>
              </a:spcAft>
            </a:pPr>
            <a:r>
              <a:rPr sz="1300" b="0">
                <a:solidFill>
                  <a:srgbClr val="5D6D80"/>
                </a:solidFill>
                <a:latin typeface="微软雅黑"/>
                <a:ea typeface="微软雅黑"/>
              </a:rPr>
              <a:t>轨迹查询在相邻帧之间传递并更新，统一建模目标的产生、持续与退出。</a:t>
            </a:r>
          </a:p>
        </p:txBody>
      </p:sp>
      <p:sp>
        <p:nvSpPr>
          <p:cNvPr id="52" name="Rounded Rectangle 51"/>
          <p:cNvSpPr/>
          <p:nvPr/>
        </p:nvSpPr>
        <p:spPr>
          <a:xfrm>
            <a:off x="6263640" y="1234440"/>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01</a:t>
            </a:r>
          </a:p>
        </p:txBody>
      </p:sp>
      <p:sp>
        <p:nvSpPr>
          <p:cNvPr id="53" name="TextBox 52"/>
          <p:cNvSpPr txBox="1"/>
          <p:nvPr/>
        </p:nvSpPr>
        <p:spPr>
          <a:xfrm>
            <a:off x="6830568" y="1179576"/>
            <a:ext cx="4142232" cy="1005840"/>
          </a:xfrm>
          <a:prstGeom prst="rect">
            <a:avLst/>
          </a:prstGeom>
          <a:noFill/>
        </p:spPr>
        <p:txBody>
          <a:bodyPr wrap="square" lIns="0" tIns="0" rIns="0" bIns="0" anchor="t">
            <a:spAutoFit/>
          </a:bodyPr>
          <a:lstStyle/>
          <a:p>
            <a:pPr algn="l">
              <a:lnSpc>
                <a:spcPct val="128000"/>
              </a:lnSpc>
              <a:spcAft>
                <a:spcPts val="300"/>
              </a:spcAft>
            </a:pPr>
            <a:r>
              <a:rPr sz="1850" b="1">
                <a:solidFill>
                  <a:srgbClr val="172B4B"/>
                </a:solidFill>
                <a:latin typeface="微软雅黑"/>
                <a:ea typeface="微软雅黑"/>
              </a:rPr>
              <a:t>双模态多尺度特征提取</a:t>
            </a:r>
          </a:p>
          <a:p>
            <a:pPr algn="l">
              <a:lnSpc>
                <a:spcPct val="128000"/>
              </a:lnSpc>
              <a:spcAft>
                <a:spcPts val="300"/>
              </a:spcAft>
            </a:pPr>
            <a:r>
              <a:rPr sz="1650" b="0">
                <a:solidFill>
                  <a:srgbClr val="333F4F"/>
                </a:solidFill>
                <a:latin typeface="微软雅黑"/>
                <a:ea typeface="微软雅黑"/>
              </a:rPr>
              <a:t>红外提供目标显著性，可见光提供纹理边缘，兼顾近距船舶与远距小目标。</a:t>
            </a:r>
          </a:p>
        </p:txBody>
      </p:sp>
      <p:sp>
        <p:nvSpPr>
          <p:cNvPr id="54" name="Rounded Rectangle 53"/>
          <p:cNvSpPr/>
          <p:nvPr/>
        </p:nvSpPr>
        <p:spPr>
          <a:xfrm>
            <a:off x="6263640" y="2423160"/>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02</a:t>
            </a:r>
          </a:p>
        </p:txBody>
      </p:sp>
      <p:sp>
        <p:nvSpPr>
          <p:cNvPr id="55" name="TextBox 54"/>
          <p:cNvSpPr txBox="1"/>
          <p:nvPr/>
        </p:nvSpPr>
        <p:spPr>
          <a:xfrm>
            <a:off x="6830568" y="2368296"/>
            <a:ext cx="4142232" cy="1005840"/>
          </a:xfrm>
          <a:prstGeom prst="rect">
            <a:avLst/>
          </a:prstGeom>
          <a:noFill/>
        </p:spPr>
        <p:txBody>
          <a:bodyPr wrap="square" lIns="0" tIns="0" rIns="0" bIns="0" anchor="t">
            <a:spAutoFit/>
          </a:bodyPr>
          <a:lstStyle/>
          <a:p>
            <a:pPr algn="l">
              <a:lnSpc>
                <a:spcPct val="128000"/>
              </a:lnSpc>
              <a:spcAft>
                <a:spcPts val="300"/>
              </a:spcAft>
            </a:pPr>
            <a:r>
              <a:rPr sz="1850" b="1">
                <a:solidFill>
                  <a:srgbClr val="172B4B"/>
                </a:solidFill>
                <a:latin typeface="微软雅黑"/>
                <a:ea typeface="微软雅黑"/>
              </a:rPr>
              <a:t>跨模态注意力融合</a:t>
            </a:r>
          </a:p>
          <a:p>
            <a:pPr algn="l">
              <a:lnSpc>
                <a:spcPct val="128000"/>
              </a:lnSpc>
              <a:spcAft>
                <a:spcPts val="300"/>
              </a:spcAft>
            </a:pPr>
            <a:r>
              <a:rPr sz="1650" b="0">
                <a:solidFill>
                  <a:srgbClr val="333F4F"/>
                </a:solidFill>
                <a:latin typeface="微软雅黑"/>
                <a:ea typeface="微软雅黑"/>
              </a:rPr>
              <a:t>在对应尺度上跨模态交互，按当前帧各模态的清晰程度动态调整融合权重。</a:t>
            </a:r>
          </a:p>
        </p:txBody>
      </p:sp>
      <p:sp>
        <p:nvSpPr>
          <p:cNvPr id="56" name="Rounded Rectangle 55"/>
          <p:cNvSpPr/>
          <p:nvPr/>
        </p:nvSpPr>
        <p:spPr>
          <a:xfrm>
            <a:off x="6263640" y="3611879"/>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03</a:t>
            </a:r>
          </a:p>
        </p:txBody>
      </p:sp>
      <p:sp>
        <p:nvSpPr>
          <p:cNvPr id="57" name="TextBox 56"/>
          <p:cNvSpPr txBox="1"/>
          <p:nvPr/>
        </p:nvSpPr>
        <p:spPr>
          <a:xfrm>
            <a:off x="6830568" y="3557016"/>
            <a:ext cx="4142232" cy="1005840"/>
          </a:xfrm>
          <a:prstGeom prst="rect">
            <a:avLst/>
          </a:prstGeom>
          <a:noFill/>
        </p:spPr>
        <p:txBody>
          <a:bodyPr wrap="square" lIns="0" tIns="0" rIns="0" bIns="0" anchor="t">
            <a:spAutoFit/>
          </a:bodyPr>
          <a:lstStyle/>
          <a:p>
            <a:pPr algn="l">
              <a:lnSpc>
                <a:spcPct val="128000"/>
              </a:lnSpc>
              <a:spcAft>
                <a:spcPts val="300"/>
              </a:spcAft>
            </a:pPr>
            <a:r>
              <a:rPr sz="1850" b="1">
                <a:solidFill>
                  <a:srgbClr val="172B4B"/>
                </a:solidFill>
                <a:latin typeface="微软雅黑"/>
                <a:ea typeface="微软雅黑"/>
              </a:rPr>
              <a:t>轨迹查询跨帧更新</a:t>
            </a:r>
          </a:p>
          <a:p>
            <a:pPr algn="l">
              <a:lnSpc>
                <a:spcPct val="128000"/>
              </a:lnSpc>
              <a:spcAft>
                <a:spcPts val="300"/>
              </a:spcAft>
            </a:pPr>
            <a:r>
              <a:rPr sz="1650" b="0">
                <a:solidFill>
                  <a:srgbClr val="333F4F"/>
                </a:solidFill>
                <a:latin typeface="微软雅黑"/>
                <a:ea typeface="微软雅黑"/>
              </a:rPr>
              <a:t>解码器以轨迹查询访问双模态融合特征，统一完成目标产生、持续与退出。</a:t>
            </a:r>
          </a:p>
        </p:txBody>
      </p:sp>
      <p:sp>
        <p:nvSpPr>
          <p:cNvPr id="58" name="Rounded Rectangle 57"/>
          <p:cNvSpPr/>
          <p:nvPr/>
        </p:nvSpPr>
        <p:spPr>
          <a:xfrm>
            <a:off x="6263640" y="4800600"/>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04</a:t>
            </a:r>
          </a:p>
        </p:txBody>
      </p:sp>
      <p:sp>
        <p:nvSpPr>
          <p:cNvPr id="59" name="TextBox 58"/>
          <p:cNvSpPr txBox="1"/>
          <p:nvPr/>
        </p:nvSpPr>
        <p:spPr>
          <a:xfrm>
            <a:off x="6830568" y="4745736"/>
            <a:ext cx="4142232" cy="1005840"/>
          </a:xfrm>
          <a:prstGeom prst="rect">
            <a:avLst/>
          </a:prstGeom>
          <a:noFill/>
        </p:spPr>
        <p:txBody>
          <a:bodyPr wrap="square" lIns="0" tIns="0" rIns="0" bIns="0" anchor="t">
            <a:spAutoFit/>
          </a:bodyPr>
          <a:lstStyle/>
          <a:p>
            <a:pPr algn="l">
              <a:lnSpc>
                <a:spcPct val="128000"/>
              </a:lnSpc>
              <a:spcAft>
                <a:spcPts val="300"/>
              </a:spcAft>
            </a:pPr>
            <a:r>
              <a:rPr sz="1850" b="1">
                <a:solidFill>
                  <a:srgbClr val="172B4B"/>
                </a:solidFill>
                <a:latin typeface="微软雅黑"/>
                <a:ea typeface="微软雅黑"/>
              </a:rPr>
              <a:t>短期轨迹状态记忆</a:t>
            </a:r>
          </a:p>
          <a:p>
            <a:pPr algn="l">
              <a:lnSpc>
                <a:spcPct val="128000"/>
              </a:lnSpc>
              <a:spcAft>
                <a:spcPts val="300"/>
              </a:spcAft>
            </a:pPr>
            <a:r>
              <a:rPr sz="1650" b="0">
                <a:solidFill>
                  <a:srgbClr val="333F4F"/>
                </a:solidFill>
                <a:latin typeface="微软雅黑"/>
                <a:ea typeface="微软雅黑"/>
              </a:rPr>
              <a:t>为轨迹查询引入短期记忆，短时遮挡或单帧漏检时保留状态并恢复轨迹。</a:t>
            </a:r>
          </a:p>
        </p:txBody>
      </p:sp>
    </p:spTree>
    <p:extLst>
      <p:ext uri="{BB962C8B-B14F-4D97-AF65-F5344CB8AC3E}">
        <p14:creationId xmlns:p14="http://schemas.microsoft.com/office/powerpoint/2010/main" val="16317316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拟解决的问题</a:t>
            </a:r>
          </a:p>
        </p:txBody>
      </p:sp>
      <p:sp>
        <p:nvSpPr>
          <p:cNvPr id="65" name="Rounded Rectangle 64"/>
          <p:cNvSpPr/>
          <p:nvPr/>
        </p:nvSpPr>
        <p:spPr>
          <a:xfrm>
            <a:off x="566928" y="1008951"/>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01</a:t>
            </a:r>
          </a:p>
        </p:txBody>
      </p:sp>
      <p:sp>
        <p:nvSpPr>
          <p:cNvPr id="66" name="TextBox 65"/>
          <p:cNvSpPr txBox="1"/>
          <p:nvPr/>
        </p:nvSpPr>
        <p:spPr>
          <a:xfrm>
            <a:off x="1133856" y="954087"/>
            <a:ext cx="3559588" cy="1050609"/>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双模态时空对齐</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红外与可见光存在空间配准偏差，同一船舶</a:t>
            </a:r>
            <a:r>
              <a:rPr lang="zh-CN" altLang="en-US" sz="1700" b="0" dirty="0">
                <a:solidFill>
                  <a:srgbClr val="333F4F"/>
                </a:solidFill>
                <a:latin typeface="微软雅黑"/>
                <a:ea typeface="微软雅黑"/>
              </a:rPr>
              <a:t>红外一侧无对应标注框</a:t>
            </a:r>
            <a:endParaRPr sz="1700" b="0" dirty="0">
              <a:solidFill>
                <a:srgbClr val="333F4F"/>
              </a:solidFill>
              <a:latin typeface="微软雅黑"/>
              <a:ea typeface="微软雅黑"/>
            </a:endParaRPr>
          </a:p>
        </p:txBody>
      </p:sp>
      <p:sp>
        <p:nvSpPr>
          <p:cNvPr id="67" name="Rounded Rectangle 66"/>
          <p:cNvSpPr/>
          <p:nvPr/>
        </p:nvSpPr>
        <p:spPr>
          <a:xfrm>
            <a:off x="566928" y="2194686"/>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02</a:t>
            </a:r>
          </a:p>
        </p:txBody>
      </p:sp>
      <p:sp>
        <p:nvSpPr>
          <p:cNvPr id="68" name="TextBox 67"/>
          <p:cNvSpPr txBox="1"/>
          <p:nvPr/>
        </p:nvSpPr>
        <p:spPr>
          <a:xfrm>
            <a:off x="1133856" y="2139822"/>
            <a:ext cx="3559588" cy="1050609"/>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弱检测与置信度不稳</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远距离、遮挡使真实船舶的检测分数下降，造成漏检、轨迹中断与碎片化</a:t>
            </a:r>
            <a:endParaRPr sz="1700" b="0" dirty="0">
              <a:solidFill>
                <a:srgbClr val="333F4F"/>
              </a:solidFill>
              <a:latin typeface="微软雅黑"/>
              <a:ea typeface="微软雅黑"/>
            </a:endParaRPr>
          </a:p>
        </p:txBody>
      </p:sp>
      <p:sp>
        <p:nvSpPr>
          <p:cNvPr id="69" name="Rounded Rectangle 68"/>
          <p:cNvSpPr/>
          <p:nvPr/>
        </p:nvSpPr>
        <p:spPr>
          <a:xfrm>
            <a:off x="5040916" y="1008951"/>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03</a:t>
            </a:r>
          </a:p>
        </p:txBody>
      </p:sp>
      <p:sp>
        <p:nvSpPr>
          <p:cNvPr id="70" name="TextBox 69"/>
          <p:cNvSpPr txBox="1"/>
          <p:nvPr/>
        </p:nvSpPr>
        <p:spPr>
          <a:xfrm>
            <a:off x="5607844" y="954087"/>
            <a:ext cx="3330988" cy="1050609"/>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身份保持</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同类船型轮廓与纹理相</a:t>
            </a:r>
            <a:r>
              <a:rPr lang="zh-CN" altLang="en-US" sz="1700" b="0" dirty="0">
                <a:solidFill>
                  <a:srgbClr val="333F4F"/>
                </a:solidFill>
                <a:latin typeface="微软雅黑"/>
                <a:ea typeface="微软雅黑"/>
              </a:rPr>
              <a:t>近</a:t>
            </a:r>
            <a:r>
              <a:rPr sz="1700" b="0" dirty="0">
                <a:solidFill>
                  <a:srgbClr val="333F4F"/>
                </a:solidFill>
                <a:latin typeface="微软雅黑"/>
                <a:ea typeface="微软雅黑"/>
              </a:rPr>
              <a:t>，</a:t>
            </a:r>
            <a:r>
              <a:rPr sz="1700" b="0" dirty="0" err="1">
                <a:solidFill>
                  <a:srgbClr val="333F4F"/>
                </a:solidFill>
                <a:latin typeface="微软雅黑"/>
                <a:ea typeface="微软雅黑"/>
              </a:rPr>
              <a:t>目标交汇及短时遮挡时身份切换频繁</a:t>
            </a:r>
            <a:endParaRPr sz="1700" b="0" dirty="0">
              <a:solidFill>
                <a:srgbClr val="333F4F"/>
              </a:solidFill>
              <a:latin typeface="微软雅黑"/>
              <a:ea typeface="微软雅黑"/>
            </a:endParaRPr>
          </a:p>
        </p:txBody>
      </p:sp>
      <p:pic>
        <p:nvPicPr>
          <p:cNvPr id="2" name="图片 1">
            <a:extLst>
              <a:ext uri="{FF2B5EF4-FFF2-40B4-BE49-F238E27FC236}">
                <a16:creationId xmlns:a16="http://schemas.microsoft.com/office/drawing/2014/main" id="{E0A90721-5B6B-A8D0-A94A-A3F04597C4DA}"/>
              </a:ext>
            </a:extLst>
          </p:cNvPr>
          <p:cNvPicPr>
            <a:picLocks noChangeAspect="1"/>
          </p:cNvPicPr>
          <p:nvPr/>
        </p:nvPicPr>
        <p:blipFill>
          <a:blip r:embed="rId7"/>
          <a:stretch>
            <a:fillRect/>
          </a:stretch>
        </p:blipFill>
        <p:spPr>
          <a:xfrm>
            <a:off x="3734413" y="3824045"/>
            <a:ext cx="3559588" cy="2190493"/>
          </a:xfrm>
          <a:prstGeom prst="rect">
            <a:avLst/>
          </a:prstGeom>
        </p:spPr>
      </p:pic>
      <p:pic>
        <p:nvPicPr>
          <p:cNvPr id="3" name="图片 2">
            <a:extLst>
              <a:ext uri="{FF2B5EF4-FFF2-40B4-BE49-F238E27FC236}">
                <a16:creationId xmlns:a16="http://schemas.microsoft.com/office/drawing/2014/main" id="{19FB5C79-0241-5A10-8262-1E254798C981}"/>
              </a:ext>
            </a:extLst>
          </p:cNvPr>
          <p:cNvPicPr>
            <a:picLocks noChangeAspect="1"/>
          </p:cNvPicPr>
          <p:nvPr/>
        </p:nvPicPr>
        <p:blipFill>
          <a:blip r:embed="rId8"/>
          <a:stretch>
            <a:fillRect/>
          </a:stretch>
        </p:blipFill>
        <p:spPr>
          <a:xfrm>
            <a:off x="7506949" y="4301033"/>
            <a:ext cx="3735856" cy="2102625"/>
          </a:xfrm>
          <a:prstGeom prst="rect">
            <a:avLst/>
          </a:prstGeom>
        </p:spPr>
      </p:pic>
      <p:pic>
        <p:nvPicPr>
          <p:cNvPr id="4" name="图片 3">
            <a:extLst>
              <a:ext uri="{FF2B5EF4-FFF2-40B4-BE49-F238E27FC236}">
                <a16:creationId xmlns:a16="http://schemas.microsoft.com/office/drawing/2014/main" id="{7C5A0BD9-5B95-0D5D-47AF-9F44A9C9C3CF}"/>
              </a:ext>
            </a:extLst>
          </p:cNvPr>
          <p:cNvPicPr>
            <a:picLocks noChangeAspect="1"/>
          </p:cNvPicPr>
          <p:nvPr/>
        </p:nvPicPr>
        <p:blipFill>
          <a:blip r:embed="rId9"/>
          <a:stretch>
            <a:fillRect/>
          </a:stretch>
        </p:blipFill>
        <p:spPr>
          <a:xfrm>
            <a:off x="7506949" y="2104250"/>
            <a:ext cx="3735857" cy="1968486"/>
          </a:xfrm>
          <a:prstGeom prst="rect">
            <a:avLst/>
          </a:prstGeom>
        </p:spPr>
      </p:pic>
    </p:spTree>
    <p:extLst>
      <p:ext uri="{BB962C8B-B14F-4D97-AF65-F5344CB8AC3E}">
        <p14:creationId xmlns:p14="http://schemas.microsoft.com/office/powerpoint/2010/main" val="11312574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Picture 28">
            <a:extLst>
              <a:ext uri="{FF2B5EF4-FFF2-40B4-BE49-F238E27FC236}">
                <a16:creationId xmlns:a16="http://schemas.microsoft.com/office/drawing/2014/main" id="{B20A6AA5-5D0A-4D03-992E-0050EC4D137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92" name="组合 3">
            <a:extLst>
              <a:ext uri="{FF2B5EF4-FFF2-40B4-BE49-F238E27FC236}">
                <a16:creationId xmlns:a16="http://schemas.microsoft.com/office/drawing/2014/main" id="{B2B74D71-2770-434C-95E7-9D7AAED5F0D2}"/>
              </a:ext>
            </a:extLst>
          </p:cNvPr>
          <p:cNvGrpSpPr>
            <a:grpSpLocks/>
          </p:cNvGrpSpPr>
          <p:nvPr/>
        </p:nvGrpSpPr>
        <p:grpSpPr bwMode="auto">
          <a:xfrm>
            <a:off x="464577" y="165395"/>
            <a:ext cx="433338" cy="535447"/>
            <a:chOff x="10675" y="7633"/>
            <a:chExt cx="433171" cy="534549"/>
          </a:xfrm>
        </p:grpSpPr>
        <p:sp>
          <p:nvSpPr>
            <p:cNvPr id="93" name="圆角矩形 10">
              <a:extLst>
                <a:ext uri="{FF2B5EF4-FFF2-40B4-BE49-F238E27FC236}">
                  <a16:creationId xmlns:a16="http://schemas.microsoft.com/office/drawing/2014/main" id="{86CFA9B6-CEED-4904-A69F-D6C255BD88CB}"/>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107" name="图片 50">
              <a:extLst>
                <a:ext uri="{FF2B5EF4-FFF2-40B4-BE49-F238E27FC236}">
                  <a16:creationId xmlns:a16="http://schemas.microsoft.com/office/drawing/2014/main" id="{ABF4CE68-D81C-4F44-A773-6CC848DBD4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8" name="图片 107">
            <a:extLst>
              <a:ext uri="{FF2B5EF4-FFF2-40B4-BE49-F238E27FC236}">
                <a16:creationId xmlns:a16="http://schemas.microsoft.com/office/drawing/2014/main" id="{8C98C7F0-2EAA-4983-B857-6B1468208DB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109" name="TextBox 29">
            <a:extLst>
              <a:ext uri="{FF2B5EF4-FFF2-40B4-BE49-F238E27FC236}">
                <a16:creationId xmlns:a16="http://schemas.microsoft.com/office/drawing/2014/main" id="{E0866055-C9C5-4447-9B7E-C5D0E1E2E880}"/>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论文结构安排</a:t>
            </a:r>
          </a:p>
        </p:txBody>
      </p:sp>
      <p:sp>
        <p:nvSpPr>
          <p:cNvPr id="111" name="Rounded Rectangle 110"/>
          <p:cNvSpPr/>
          <p:nvPr/>
        </p:nvSpPr>
        <p:spPr>
          <a:xfrm>
            <a:off x="566928" y="1645920"/>
            <a:ext cx="960120" cy="420624"/>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第一章</a:t>
            </a:r>
          </a:p>
        </p:txBody>
      </p:sp>
      <p:sp>
        <p:nvSpPr>
          <p:cNvPr id="112" name="TextBox 111"/>
          <p:cNvSpPr txBox="1"/>
          <p:nvPr/>
        </p:nvSpPr>
        <p:spPr>
          <a:xfrm>
            <a:off x="1691640" y="1591056"/>
            <a:ext cx="9235440" cy="822960"/>
          </a:xfrm>
          <a:prstGeom prst="rect">
            <a:avLst/>
          </a:prstGeom>
          <a:noFill/>
        </p:spPr>
        <p:txBody>
          <a:bodyPr wrap="square" lIns="0" tIns="0" rIns="0" bIns="0" anchor="t">
            <a:spAutoFit/>
          </a:bodyPr>
          <a:lstStyle/>
          <a:p>
            <a:pPr algn="l">
              <a:lnSpc>
                <a:spcPct val="124000"/>
              </a:lnSpc>
              <a:spcAft>
                <a:spcPts val="0"/>
              </a:spcAft>
            </a:pPr>
            <a:r>
              <a:rPr sz="1800" b="1">
                <a:solidFill>
                  <a:srgbClr val="172B4B"/>
                </a:solidFill>
                <a:latin typeface="微软雅黑"/>
                <a:ea typeface="微软雅黑"/>
              </a:rPr>
              <a:t>绪   论</a:t>
            </a:r>
          </a:p>
          <a:p>
            <a:pPr algn="l">
              <a:lnSpc>
                <a:spcPct val="124000"/>
              </a:lnSpc>
              <a:spcAft>
                <a:spcPts val="0"/>
              </a:spcAft>
            </a:pPr>
            <a:r>
              <a:rPr sz="1550" b="0">
                <a:solidFill>
                  <a:srgbClr val="333F4F"/>
                </a:solidFill>
                <a:latin typeface="微软雅黑"/>
                <a:ea typeface="微软雅黑"/>
              </a:rPr>
              <a:t>研究背景与意义、国内外研究现状，现有方法在双模态特征利用、身份保持与跨帧状态建模上的不足。</a:t>
            </a:r>
          </a:p>
        </p:txBody>
      </p:sp>
      <p:sp>
        <p:nvSpPr>
          <p:cNvPr id="113" name="Rounded Rectangle 112"/>
          <p:cNvSpPr/>
          <p:nvPr/>
        </p:nvSpPr>
        <p:spPr>
          <a:xfrm>
            <a:off x="566928" y="2578608"/>
            <a:ext cx="960120" cy="420624"/>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第二章</a:t>
            </a:r>
          </a:p>
        </p:txBody>
      </p:sp>
      <p:sp>
        <p:nvSpPr>
          <p:cNvPr id="114" name="TextBox 113"/>
          <p:cNvSpPr txBox="1"/>
          <p:nvPr/>
        </p:nvSpPr>
        <p:spPr>
          <a:xfrm>
            <a:off x="1691640" y="2523744"/>
            <a:ext cx="9235440" cy="822960"/>
          </a:xfrm>
          <a:prstGeom prst="rect">
            <a:avLst/>
          </a:prstGeom>
          <a:noFill/>
        </p:spPr>
        <p:txBody>
          <a:bodyPr wrap="square" lIns="0" tIns="0" rIns="0" bIns="0" anchor="t">
            <a:spAutoFit/>
          </a:bodyPr>
          <a:lstStyle/>
          <a:p>
            <a:pPr algn="l">
              <a:lnSpc>
                <a:spcPct val="124000"/>
              </a:lnSpc>
              <a:spcAft>
                <a:spcPts val="0"/>
              </a:spcAft>
            </a:pPr>
            <a:r>
              <a:rPr sz="1800" b="1">
                <a:solidFill>
                  <a:srgbClr val="172B4B"/>
                </a:solidFill>
                <a:latin typeface="微软雅黑"/>
                <a:ea typeface="微软雅黑"/>
              </a:rPr>
              <a:t>可见光—红外船舶跟踪数据集构建</a:t>
            </a:r>
          </a:p>
          <a:p>
            <a:pPr algn="l">
              <a:lnSpc>
                <a:spcPct val="124000"/>
              </a:lnSpc>
              <a:spcAft>
                <a:spcPts val="0"/>
              </a:spcAft>
            </a:pPr>
            <a:r>
              <a:rPr sz="1550" b="0">
                <a:solidFill>
                  <a:srgbClr val="333F4F"/>
                </a:solidFill>
                <a:latin typeface="微软雅黑"/>
                <a:ea typeface="微软雅黑"/>
              </a:rPr>
              <a:t>双模态帧配对、CVAT 标注与质量核验，生成检测 / 身份嵌入 / 连续帧跟踪所需格式并划分数据集。</a:t>
            </a:r>
          </a:p>
        </p:txBody>
      </p:sp>
      <p:sp>
        <p:nvSpPr>
          <p:cNvPr id="115" name="Rounded Rectangle 114"/>
          <p:cNvSpPr/>
          <p:nvPr/>
        </p:nvSpPr>
        <p:spPr>
          <a:xfrm>
            <a:off x="566928" y="3511296"/>
            <a:ext cx="960120" cy="420624"/>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第三章</a:t>
            </a:r>
          </a:p>
        </p:txBody>
      </p:sp>
      <p:sp>
        <p:nvSpPr>
          <p:cNvPr id="116" name="TextBox 115"/>
          <p:cNvSpPr txBox="1"/>
          <p:nvPr/>
        </p:nvSpPr>
        <p:spPr>
          <a:xfrm>
            <a:off x="1691640" y="3456432"/>
            <a:ext cx="9235440" cy="822960"/>
          </a:xfrm>
          <a:prstGeom prst="rect">
            <a:avLst/>
          </a:prstGeom>
          <a:noFill/>
        </p:spPr>
        <p:txBody>
          <a:bodyPr wrap="square" lIns="0" tIns="0" rIns="0" bIns="0" anchor="t">
            <a:spAutoFit/>
          </a:bodyPr>
          <a:lstStyle/>
          <a:p>
            <a:pPr algn="l">
              <a:lnSpc>
                <a:spcPct val="124000"/>
              </a:lnSpc>
              <a:spcAft>
                <a:spcPts val="0"/>
              </a:spcAft>
            </a:pPr>
            <a:r>
              <a:rPr sz="1800" b="1">
                <a:solidFill>
                  <a:srgbClr val="172B4B"/>
                </a:solidFill>
                <a:latin typeface="微软雅黑"/>
                <a:ea typeface="微软雅黑"/>
              </a:rPr>
              <a:t>检测后跟踪算法研究</a:t>
            </a:r>
          </a:p>
          <a:p>
            <a:pPr algn="l">
              <a:lnSpc>
                <a:spcPct val="124000"/>
              </a:lnSpc>
              <a:spcAft>
                <a:spcPts val="0"/>
              </a:spcAft>
            </a:pPr>
            <a:r>
              <a:rPr sz="1550" b="0">
                <a:solidFill>
                  <a:srgbClr val="333F4F"/>
                </a:solidFill>
                <a:latin typeface="微软雅黑"/>
                <a:ea typeface="微软雅黑"/>
              </a:rPr>
              <a:t>改进 ByteTrack 支持双模态输入，研究跨模态检测框融合、置信度协同与关联代价改进。</a:t>
            </a:r>
          </a:p>
        </p:txBody>
      </p:sp>
      <p:sp>
        <p:nvSpPr>
          <p:cNvPr id="117" name="Rounded Rectangle 116"/>
          <p:cNvSpPr/>
          <p:nvPr/>
        </p:nvSpPr>
        <p:spPr>
          <a:xfrm>
            <a:off x="566928" y="4443983"/>
            <a:ext cx="960120" cy="420624"/>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第四章</a:t>
            </a:r>
          </a:p>
        </p:txBody>
      </p:sp>
      <p:sp>
        <p:nvSpPr>
          <p:cNvPr id="118" name="TextBox 117"/>
          <p:cNvSpPr txBox="1"/>
          <p:nvPr/>
        </p:nvSpPr>
        <p:spPr>
          <a:xfrm>
            <a:off x="1691640" y="4389120"/>
            <a:ext cx="9235440" cy="822960"/>
          </a:xfrm>
          <a:prstGeom prst="rect">
            <a:avLst/>
          </a:prstGeom>
          <a:noFill/>
        </p:spPr>
        <p:txBody>
          <a:bodyPr wrap="square" lIns="0" tIns="0" rIns="0" bIns="0" anchor="t">
            <a:spAutoFit/>
          </a:bodyPr>
          <a:lstStyle/>
          <a:p>
            <a:pPr algn="l">
              <a:lnSpc>
                <a:spcPct val="124000"/>
              </a:lnSpc>
              <a:spcAft>
                <a:spcPts val="0"/>
              </a:spcAft>
            </a:pPr>
            <a:r>
              <a:rPr sz="1800" b="1">
                <a:solidFill>
                  <a:srgbClr val="172B4B"/>
                </a:solidFill>
                <a:latin typeface="微软雅黑"/>
                <a:ea typeface="微软雅黑"/>
              </a:rPr>
              <a:t>联合检测与身份嵌入算法研究</a:t>
            </a:r>
          </a:p>
          <a:p>
            <a:pPr algn="l">
              <a:lnSpc>
                <a:spcPct val="124000"/>
              </a:lnSpc>
              <a:spcAft>
                <a:spcPts val="0"/>
              </a:spcAft>
            </a:pPr>
            <a:r>
              <a:rPr sz="1550" b="0">
                <a:solidFill>
                  <a:srgbClr val="333F4F"/>
                </a:solidFill>
                <a:latin typeface="微软雅黑"/>
                <a:ea typeface="微软雅黑"/>
              </a:rPr>
              <a:t>以 FairMOT 为基线构建双分支特征提取与融合结构，研究跨模态身份一致性对相似船舶的区分作用。</a:t>
            </a:r>
          </a:p>
        </p:txBody>
      </p:sp>
      <p:sp>
        <p:nvSpPr>
          <p:cNvPr id="119" name="Rounded Rectangle 118"/>
          <p:cNvSpPr/>
          <p:nvPr/>
        </p:nvSpPr>
        <p:spPr>
          <a:xfrm>
            <a:off x="566928" y="5376672"/>
            <a:ext cx="960120" cy="420624"/>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第五章</a:t>
            </a:r>
          </a:p>
        </p:txBody>
      </p:sp>
      <p:sp>
        <p:nvSpPr>
          <p:cNvPr id="120" name="TextBox 119"/>
          <p:cNvSpPr txBox="1"/>
          <p:nvPr/>
        </p:nvSpPr>
        <p:spPr>
          <a:xfrm>
            <a:off x="1691640" y="5321808"/>
            <a:ext cx="9235440" cy="822960"/>
          </a:xfrm>
          <a:prstGeom prst="rect">
            <a:avLst/>
          </a:prstGeom>
          <a:noFill/>
        </p:spPr>
        <p:txBody>
          <a:bodyPr wrap="square" lIns="0" tIns="0" rIns="0" bIns="0" anchor="t">
            <a:spAutoFit/>
          </a:bodyPr>
          <a:lstStyle/>
          <a:p>
            <a:pPr algn="l">
              <a:lnSpc>
                <a:spcPct val="124000"/>
              </a:lnSpc>
              <a:spcAft>
                <a:spcPts val="0"/>
              </a:spcAft>
            </a:pPr>
            <a:r>
              <a:rPr sz="1800" b="1">
                <a:solidFill>
                  <a:srgbClr val="172B4B"/>
                </a:solidFill>
                <a:latin typeface="微软雅黑"/>
                <a:ea typeface="微软雅黑"/>
              </a:rPr>
              <a:t>联合检测跟踪算法研究</a:t>
            </a:r>
          </a:p>
          <a:p>
            <a:pPr algn="l">
              <a:lnSpc>
                <a:spcPct val="124000"/>
              </a:lnSpc>
              <a:spcAft>
                <a:spcPts val="0"/>
              </a:spcAft>
            </a:pPr>
            <a:r>
              <a:rPr sz="1550" b="0">
                <a:solidFill>
                  <a:srgbClr val="333F4F"/>
                </a:solidFill>
                <a:latin typeface="微软雅黑"/>
                <a:ea typeface="微软雅黑"/>
              </a:rPr>
              <a:t>以 MOTR 为基线引入双模态融合模块，研究其对检测、轨迹查询更新与身份保持的作用。</a:t>
            </a:r>
          </a:p>
        </p:txBody>
      </p:sp>
    </p:spTree>
    <p:extLst>
      <p:ext uri="{BB962C8B-B14F-4D97-AF65-F5344CB8AC3E}">
        <p14:creationId xmlns:p14="http://schemas.microsoft.com/office/powerpoint/2010/main" val="36418681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8" name="Picture 28">
            <a:extLst>
              <a:ext uri="{FF2B5EF4-FFF2-40B4-BE49-F238E27FC236}">
                <a16:creationId xmlns:a16="http://schemas.microsoft.com/office/drawing/2014/main" id="{1899F899-27C4-401F-8F83-B04F442FFAA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49" name="组合 3">
            <a:extLst>
              <a:ext uri="{FF2B5EF4-FFF2-40B4-BE49-F238E27FC236}">
                <a16:creationId xmlns:a16="http://schemas.microsoft.com/office/drawing/2014/main" id="{A3205597-7829-47B5-B5C0-BDF521437022}"/>
              </a:ext>
            </a:extLst>
          </p:cNvPr>
          <p:cNvGrpSpPr>
            <a:grpSpLocks/>
          </p:cNvGrpSpPr>
          <p:nvPr/>
        </p:nvGrpSpPr>
        <p:grpSpPr bwMode="auto">
          <a:xfrm>
            <a:off x="464577" y="165395"/>
            <a:ext cx="433338" cy="535447"/>
            <a:chOff x="10675" y="7633"/>
            <a:chExt cx="433171" cy="534549"/>
          </a:xfrm>
        </p:grpSpPr>
        <p:sp>
          <p:nvSpPr>
            <p:cNvPr id="50" name="圆角矩形 10">
              <a:extLst>
                <a:ext uri="{FF2B5EF4-FFF2-40B4-BE49-F238E27FC236}">
                  <a16:creationId xmlns:a16="http://schemas.microsoft.com/office/drawing/2014/main" id="{E2176DB0-A06D-48B4-9CA7-2CA474C28001}"/>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1" name="图片 50">
              <a:extLst>
                <a:ext uri="{FF2B5EF4-FFF2-40B4-BE49-F238E27FC236}">
                  <a16:creationId xmlns:a16="http://schemas.microsoft.com/office/drawing/2014/main" id="{594B5C90-D652-45A4-9F17-0DFA694B12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2" name="图片 51">
            <a:extLst>
              <a:ext uri="{FF2B5EF4-FFF2-40B4-BE49-F238E27FC236}">
                <a16:creationId xmlns:a16="http://schemas.microsoft.com/office/drawing/2014/main" id="{8B7D880C-1E0A-4EEF-93FD-0DC01ACD9D2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53" name="TextBox 29">
            <a:extLst>
              <a:ext uri="{FF2B5EF4-FFF2-40B4-BE49-F238E27FC236}">
                <a16:creationId xmlns:a16="http://schemas.microsoft.com/office/drawing/2014/main" id="{92B53894-6DFA-42FA-9E60-EB758FF9728A}"/>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预期时间安排</a:t>
            </a:r>
          </a:p>
        </p:txBody>
      </p:sp>
      <p:graphicFrame>
        <p:nvGraphicFramePr>
          <p:cNvPr id="54" name="Table 53"/>
          <p:cNvGraphicFramePr>
            <a:graphicFrameLocks noGrp="1"/>
          </p:cNvGraphicFramePr>
          <p:nvPr/>
        </p:nvGraphicFramePr>
        <p:xfrm>
          <a:off x="548640" y="1325880"/>
          <a:ext cx="10424160" cy="4617720"/>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5852160">
                  <a:extLst>
                    <a:ext uri="{9D8B030D-6E8A-4147-A177-3AD203B41FA5}">
                      <a16:colId xmlns:a16="http://schemas.microsoft.com/office/drawing/2014/main" val="20002"/>
                    </a:ext>
                  </a:extLst>
                </a:gridCol>
              </a:tblGrid>
              <a:tr h="457200">
                <a:tc>
                  <a:txBody>
                    <a:bodyPr/>
                    <a:lstStyle/>
                    <a:p>
                      <a:pPr algn="ctr">
                        <a:lnSpc>
                          <a:spcPct val="122000"/>
                        </a:lnSpc>
                      </a:pPr>
                      <a:r>
                        <a:rPr sz="1600" b="1">
                          <a:solidFill>
                            <a:srgbClr val="FFFFFF"/>
                          </a:solidFill>
                          <a:latin typeface="微软雅黑"/>
                          <a:ea typeface="微软雅黑"/>
                        </a:rPr>
                        <a:t>时间节点</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172B4B"/>
                    </a:solidFill>
                  </a:tcPr>
                </a:tc>
                <a:tc>
                  <a:txBody>
                    <a:bodyPr/>
                    <a:lstStyle/>
                    <a:p>
                      <a:pPr algn="ctr">
                        <a:lnSpc>
                          <a:spcPct val="122000"/>
                        </a:lnSpc>
                      </a:pPr>
                      <a:r>
                        <a:rPr sz="1600" b="1">
                          <a:solidFill>
                            <a:srgbClr val="FFFFFF"/>
                          </a:solidFill>
                          <a:latin typeface="微软雅黑"/>
                          <a:ea typeface="微软雅黑"/>
                        </a:rPr>
                        <a:t>研究阶段</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172B4B"/>
                    </a:solidFill>
                  </a:tcPr>
                </a:tc>
                <a:tc>
                  <a:txBody>
                    <a:bodyPr/>
                    <a:lstStyle/>
                    <a:p>
                      <a:pPr algn="l">
                        <a:lnSpc>
                          <a:spcPct val="122000"/>
                        </a:lnSpc>
                      </a:pPr>
                      <a:r>
                        <a:rPr sz="1600" b="1">
                          <a:solidFill>
                            <a:srgbClr val="FFFFFF"/>
                          </a:solidFill>
                          <a:latin typeface="微软雅黑"/>
                          <a:ea typeface="微软雅黑"/>
                        </a:rPr>
                        <a:t>主要工作内容</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172B4B"/>
                    </a:solidFill>
                  </a:tcPr>
                </a:tc>
                <a:extLst>
                  <a:ext uri="{0D108BD9-81ED-4DB2-BD59-A6C34878D82A}">
                    <a16:rowId xmlns:a16="http://schemas.microsoft.com/office/drawing/2014/main" val="10000"/>
                  </a:ext>
                </a:extLst>
              </a:tr>
              <a:tr h="594360">
                <a:tc>
                  <a:txBody>
                    <a:bodyPr/>
                    <a:lstStyle/>
                    <a:p>
                      <a:pPr algn="ctr">
                        <a:lnSpc>
                          <a:spcPct val="122000"/>
                        </a:lnSpc>
                      </a:pPr>
                      <a:r>
                        <a:rPr sz="1450" b="1">
                          <a:solidFill>
                            <a:srgbClr val="1F3864"/>
                          </a:solidFill>
                          <a:latin typeface="微软雅黑"/>
                          <a:ea typeface="微软雅黑"/>
                        </a:rPr>
                        <a:t>2026.08–2026.09</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2000"/>
                        </a:lnSpc>
                      </a:pPr>
                      <a:r>
                        <a:rPr sz="1450" b="1">
                          <a:solidFill>
                            <a:srgbClr val="1E6FB9"/>
                          </a:solidFill>
                          <a:latin typeface="微软雅黑"/>
                          <a:ea typeface="微软雅黑"/>
                        </a:rPr>
                        <a:t>文献调研与开题</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l">
                        <a:lnSpc>
                          <a:spcPct val="122000"/>
                        </a:lnSpc>
                      </a:pPr>
                      <a:r>
                        <a:rPr sz="1450" b="0">
                          <a:solidFill>
                            <a:srgbClr val="333F4F"/>
                          </a:solidFill>
                          <a:latin typeface="微软雅黑"/>
                          <a:ea typeface="微软雅黑"/>
                        </a:rPr>
                        <a:t>阅读相关文献、搜集资料，完成开题报告撰写与开题答辩</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extLst>
                  <a:ext uri="{0D108BD9-81ED-4DB2-BD59-A6C34878D82A}">
                    <a16:rowId xmlns:a16="http://schemas.microsoft.com/office/drawing/2014/main" val="10001"/>
                  </a:ext>
                </a:extLst>
              </a:tr>
              <a:tr h="594360">
                <a:tc>
                  <a:txBody>
                    <a:bodyPr/>
                    <a:lstStyle/>
                    <a:p>
                      <a:pPr algn="ctr">
                        <a:lnSpc>
                          <a:spcPct val="122000"/>
                        </a:lnSpc>
                      </a:pPr>
                      <a:r>
                        <a:rPr sz="1450" b="1">
                          <a:solidFill>
                            <a:srgbClr val="1F3864"/>
                          </a:solidFill>
                          <a:latin typeface="微软雅黑"/>
                          <a:ea typeface="微软雅黑"/>
                        </a:rPr>
                        <a:t>2026.10</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ctr">
                        <a:lnSpc>
                          <a:spcPct val="122000"/>
                        </a:lnSpc>
                      </a:pPr>
                      <a:r>
                        <a:rPr sz="1450" b="1">
                          <a:solidFill>
                            <a:srgbClr val="1E6FB9"/>
                          </a:solidFill>
                          <a:latin typeface="微软雅黑"/>
                          <a:ea typeface="微软雅黑"/>
                        </a:rPr>
                        <a:t>数据集构建</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l">
                        <a:lnSpc>
                          <a:spcPct val="122000"/>
                        </a:lnSpc>
                      </a:pPr>
                      <a:r>
                        <a:rPr sz="1450" b="0">
                          <a:solidFill>
                            <a:srgbClr val="333F4F"/>
                          </a:solidFill>
                          <a:latin typeface="微软雅黑"/>
                          <a:ea typeface="微软雅黑"/>
                        </a:rPr>
                        <a:t>整理双模态船舶序列，完成帧配对、CVAT 标注与质量核验</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extLst>
                  <a:ext uri="{0D108BD9-81ED-4DB2-BD59-A6C34878D82A}">
                    <a16:rowId xmlns:a16="http://schemas.microsoft.com/office/drawing/2014/main" val="10002"/>
                  </a:ext>
                </a:extLst>
              </a:tr>
              <a:tr h="594360">
                <a:tc>
                  <a:txBody>
                    <a:bodyPr/>
                    <a:lstStyle/>
                    <a:p>
                      <a:pPr algn="ctr">
                        <a:lnSpc>
                          <a:spcPct val="122000"/>
                        </a:lnSpc>
                      </a:pPr>
                      <a:r>
                        <a:rPr sz="1450" b="1">
                          <a:solidFill>
                            <a:srgbClr val="1F3864"/>
                          </a:solidFill>
                          <a:latin typeface="微软雅黑"/>
                          <a:ea typeface="微软雅黑"/>
                        </a:rPr>
                        <a:t>2026.11–2027.03</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2000"/>
                        </a:lnSpc>
                      </a:pPr>
                      <a:r>
                        <a:rPr sz="1450" b="1">
                          <a:solidFill>
                            <a:srgbClr val="1E6FB9"/>
                          </a:solidFill>
                          <a:latin typeface="微软雅黑"/>
                          <a:ea typeface="微软雅黑"/>
                        </a:rPr>
                        <a:t>检测后跟踪 TBD</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l">
                        <a:lnSpc>
                          <a:spcPct val="122000"/>
                        </a:lnSpc>
                      </a:pPr>
                      <a:r>
                        <a:rPr sz="1450" b="0">
                          <a:solidFill>
                            <a:srgbClr val="333F4F"/>
                          </a:solidFill>
                          <a:latin typeface="微软雅黑"/>
                          <a:ea typeface="微软雅黑"/>
                        </a:rPr>
                        <a:t>研究检测后跟踪方法，改进 ByteTrack 基线并完成双模态消融</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extLst>
                  <a:ext uri="{0D108BD9-81ED-4DB2-BD59-A6C34878D82A}">
                    <a16:rowId xmlns:a16="http://schemas.microsoft.com/office/drawing/2014/main" val="10003"/>
                  </a:ext>
                </a:extLst>
              </a:tr>
              <a:tr h="594360">
                <a:tc>
                  <a:txBody>
                    <a:bodyPr/>
                    <a:lstStyle/>
                    <a:p>
                      <a:pPr algn="ctr">
                        <a:lnSpc>
                          <a:spcPct val="122000"/>
                        </a:lnSpc>
                      </a:pPr>
                      <a:r>
                        <a:rPr sz="1450" b="1">
                          <a:solidFill>
                            <a:srgbClr val="1F3864"/>
                          </a:solidFill>
                          <a:latin typeface="微软雅黑"/>
                          <a:ea typeface="微软雅黑"/>
                        </a:rPr>
                        <a:t>2027.04–2027.07</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ctr">
                        <a:lnSpc>
                          <a:spcPct val="122000"/>
                        </a:lnSpc>
                      </a:pPr>
                      <a:r>
                        <a:rPr sz="1450" b="1">
                          <a:solidFill>
                            <a:srgbClr val="1E6FB9"/>
                          </a:solidFill>
                          <a:latin typeface="微软雅黑"/>
                          <a:ea typeface="微软雅黑"/>
                        </a:rPr>
                        <a:t>联合检测与身份嵌入 JDE</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l">
                        <a:lnSpc>
                          <a:spcPct val="122000"/>
                        </a:lnSpc>
                      </a:pPr>
                      <a:r>
                        <a:rPr sz="1450" b="0">
                          <a:solidFill>
                            <a:srgbClr val="333F4F"/>
                          </a:solidFill>
                          <a:latin typeface="微软雅黑"/>
                          <a:ea typeface="微软雅黑"/>
                        </a:rPr>
                        <a:t>复现 FairMOT 基线，完成双分支融合与跨模态一致性实验</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extLst>
                  <a:ext uri="{0D108BD9-81ED-4DB2-BD59-A6C34878D82A}">
                    <a16:rowId xmlns:a16="http://schemas.microsoft.com/office/drawing/2014/main" val="10004"/>
                  </a:ext>
                </a:extLst>
              </a:tr>
              <a:tr h="594360">
                <a:tc>
                  <a:txBody>
                    <a:bodyPr/>
                    <a:lstStyle/>
                    <a:p>
                      <a:pPr algn="ctr">
                        <a:lnSpc>
                          <a:spcPct val="122000"/>
                        </a:lnSpc>
                      </a:pPr>
                      <a:r>
                        <a:rPr sz="1450" b="1">
                          <a:solidFill>
                            <a:srgbClr val="1F3864"/>
                          </a:solidFill>
                          <a:latin typeface="微软雅黑"/>
                          <a:ea typeface="微软雅黑"/>
                        </a:rPr>
                        <a:t>2027.08–2027.11</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2000"/>
                        </a:lnSpc>
                      </a:pPr>
                      <a:r>
                        <a:rPr sz="1450" b="1">
                          <a:solidFill>
                            <a:srgbClr val="1E6FB9"/>
                          </a:solidFill>
                          <a:latin typeface="微软雅黑"/>
                          <a:ea typeface="微软雅黑"/>
                        </a:rPr>
                        <a:t>联合检测跟踪 JDT</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l">
                        <a:lnSpc>
                          <a:spcPct val="122000"/>
                        </a:lnSpc>
                      </a:pPr>
                      <a:r>
                        <a:rPr sz="1450" b="0">
                          <a:solidFill>
                            <a:srgbClr val="333F4F"/>
                          </a:solidFill>
                          <a:latin typeface="微软雅黑"/>
                          <a:ea typeface="微软雅黑"/>
                        </a:rPr>
                        <a:t>改进 MOTR，研究双模态特征对轨迹查询更新的作用</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extLst>
                  <a:ext uri="{0D108BD9-81ED-4DB2-BD59-A6C34878D82A}">
                    <a16:rowId xmlns:a16="http://schemas.microsoft.com/office/drawing/2014/main" val="10005"/>
                  </a:ext>
                </a:extLst>
              </a:tr>
              <a:tr h="594360">
                <a:tc>
                  <a:txBody>
                    <a:bodyPr/>
                    <a:lstStyle/>
                    <a:p>
                      <a:pPr algn="ctr">
                        <a:lnSpc>
                          <a:spcPct val="122000"/>
                        </a:lnSpc>
                      </a:pPr>
                      <a:r>
                        <a:rPr sz="1450" b="1">
                          <a:solidFill>
                            <a:srgbClr val="1F3864"/>
                          </a:solidFill>
                          <a:latin typeface="微软雅黑"/>
                          <a:ea typeface="微软雅黑"/>
                        </a:rPr>
                        <a:t>2027.12</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ctr">
                        <a:lnSpc>
                          <a:spcPct val="122000"/>
                        </a:lnSpc>
                      </a:pPr>
                      <a:r>
                        <a:rPr sz="1450" b="1">
                          <a:solidFill>
                            <a:srgbClr val="1E6FB9"/>
                          </a:solidFill>
                          <a:latin typeface="微软雅黑"/>
                          <a:ea typeface="微软雅黑"/>
                        </a:rPr>
                        <a:t>结果汇总</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l">
                        <a:lnSpc>
                          <a:spcPct val="122000"/>
                        </a:lnSpc>
                      </a:pPr>
                      <a:r>
                        <a:rPr sz="1450" b="0">
                          <a:solidFill>
                            <a:srgbClr val="333F4F"/>
                          </a:solidFill>
                          <a:latin typeface="微软雅黑"/>
                          <a:ea typeface="微软雅黑"/>
                        </a:rPr>
                        <a:t>汇总三类范式的对比、消融与典型序列分析结果，整理图表</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extLst>
                  <a:ext uri="{0D108BD9-81ED-4DB2-BD59-A6C34878D82A}">
                    <a16:rowId xmlns:a16="http://schemas.microsoft.com/office/drawing/2014/main" val="10006"/>
                  </a:ext>
                </a:extLst>
              </a:tr>
              <a:tr h="594360">
                <a:tc>
                  <a:txBody>
                    <a:bodyPr/>
                    <a:lstStyle/>
                    <a:p>
                      <a:pPr algn="ctr">
                        <a:lnSpc>
                          <a:spcPct val="122000"/>
                        </a:lnSpc>
                      </a:pPr>
                      <a:r>
                        <a:rPr sz="1450" b="1">
                          <a:solidFill>
                            <a:srgbClr val="1F3864"/>
                          </a:solidFill>
                          <a:latin typeface="微软雅黑"/>
                          <a:ea typeface="微软雅黑"/>
                        </a:rPr>
                        <a:t>2028.01–2028.03</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2000"/>
                        </a:lnSpc>
                      </a:pPr>
                      <a:r>
                        <a:rPr sz="1450" b="1">
                          <a:solidFill>
                            <a:srgbClr val="1E6FB9"/>
                          </a:solidFill>
                          <a:latin typeface="微软雅黑"/>
                          <a:ea typeface="微软雅黑"/>
                        </a:rPr>
                        <a:t>撰写与答辩</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l">
                        <a:lnSpc>
                          <a:spcPct val="122000"/>
                        </a:lnSpc>
                      </a:pPr>
                      <a:r>
                        <a:rPr sz="1450" b="0">
                          <a:solidFill>
                            <a:srgbClr val="333F4F"/>
                          </a:solidFill>
                          <a:latin typeface="微软雅黑"/>
                          <a:ea typeface="微软雅黑"/>
                        </a:rPr>
                        <a:t>整理研究成果，撰写学位论文，准备论文送审与答辩</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57553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3">
            <a:extLst>
              <a:ext uri="{FF2B5EF4-FFF2-40B4-BE49-F238E27FC236}">
                <a16:creationId xmlns:a16="http://schemas.microsoft.com/office/drawing/2014/main" id="{69488D88-7688-449E-A14E-B235D7567F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6244" y="3011487"/>
            <a:ext cx="4953000" cy="4953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759744" y="1910695"/>
            <a:ext cx="5295900" cy="1938992"/>
          </a:xfrm>
          <a:prstGeom prst="rect">
            <a:avLst/>
          </a:prstGeom>
          <a:noFill/>
        </p:spPr>
        <p:txBody>
          <a:bodyPr wrap="square" rtlCol="0">
            <a:spAutoFit/>
          </a:bodyPr>
          <a:lstStyle/>
          <a:p>
            <a:pPr algn="l"/>
            <a:r>
              <a:rPr lang="zh-CN" altLang="en-US" sz="6000" dirty="0">
                <a:solidFill>
                  <a:srgbClr val="0067B4"/>
                </a:solidFill>
                <a:latin typeface="微软雅黑" panose="020B0503020204020204" pitchFamily="34" charset="-122"/>
                <a:ea typeface="微软雅黑" panose="020B0503020204020204" pitchFamily="34" charset="-122"/>
              </a:rPr>
              <a:t>感谢聆听</a:t>
            </a:r>
            <a:endParaRPr lang="en-US" altLang="zh-CN" sz="6000" dirty="0">
              <a:solidFill>
                <a:srgbClr val="0067B4"/>
              </a:solidFill>
              <a:latin typeface="微软雅黑" panose="020B0503020204020204" pitchFamily="34" charset="-122"/>
              <a:ea typeface="微软雅黑" panose="020B0503020204020204" pitchFamily="34" charset="-122"/>
            </a:endParaRPr>
          </a:p>
          <a:p>
            <a:pPr algn="l"/>
            <a:r>
              <a:rPr lang="zh-CN" altLang="en-US" sz="6000" dirty="0">
                <a:solidFill>
                  <a:srgbClr val="0067B4"/>
                </a:solidFill>
                <a:latin typeface="微软雅黑" panose="020B0503020204020204" pitchFamily="34" charset="-122"/>
                <a:ea typeface="微软雅黑" panose="020B0503020204020204" pitchFamily="34" charset="-122"/>
              </a:rPr>
              <a:t>敬请指正</a:t>
            </a:r>
            <a:endParaRPr lang="en-US" altLang="zh-CN" sz="6000" dirty="0">
              <a:solidFill>
                <a:srgbClr val="0067B4"/>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1493044" y="4897377"/>
            <a:ext cx="6667500" cy="400110"/>
          </a:xfrm>
          <a:prstGeom prst="rect">
            <a:avLst/>
          </a:prstGeom>
          <a:noFill/>
        </p:spPr>
        <p:txBody>
          <a:bodyPr wrap="square" rtlCol="0">
            <a:spAutoFit/>
          </a:bodyPr>
          <a:lstStyle/>
          <a:p>
            <a:pPr algn="l"/>
            <a:r>
              <a:rPr lang="zh-CN" altLang="en-US" sz="1800" dirty="0">
                <a:latin typeface="微软雅黑" panose="020B0503020204020204" pitchFamily="34" charset="-122"/>
                <a:ea typeface="微软雅黑" panose="020B0503020204020204" pitchFamily="34" charset="-122"/>
              </a:rPr>
              <a:t>汇报人：曹志博          2026 年 9 月</a:t>
            </a:r>
            <a:endParaRPr lang="zh-CN" altLang="en-US" sz="2000" dirty="0">
              <a:latin typeface="微软雅黑" panose="020B0503020204020204" pitchFamily="34" charset="-122"/>
              <a:ea typeface="微软雅黑" panose="020B0503020204020204" pitchFamily="34" charset="-122"/>
            </a:endParaRPr>
          </a:p>
        </p:txBody>
      </p:sp>
      <p:pic>
        <p:nvPicPr>
          <p:cNvPr id="7" name="Picture 2">
            <a:extLst>
              <a:ext uri="{FF2B5EF4-FFF2-40B4-BE49-F238E27FC236}">
                <a16:creationId xmlns:a16="http://schemas.microsoft.com/office/drawing/2014/main" id="{9629EA57-F056-46FC-9D3A-DA61560E01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0244" y="268287"/>
            <a:ext cx="6072642"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4876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Templat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主管人员">
  <a:themeElements>
    <a:clrScheme name="1111">
      <a:dk1>
        <a:sysClr val="windowText" lastClr="000000"/>
      </a:dk1>
      <a:lt1>
        <a:sysClr val="window" lastClr="FFFFFF"/>
      </a:lt1>
      <a:dk2>
        <a:srgbClr val="2F5897"/>
      </a:dk2>
      <a:lt2>
        <a:srgbClr val="E4E9EF"/>
      </a:lt2>
      <a:accent1>
        <a:srgbClr val="172B4B"/>
      </a:accent1>
      <a:accent2>
        <a:srgbClr val="FFC000"/>
      </a:accent2>
      <a:accent3>
        <a:srgbClr val="7F7F7F"/>
      </a:accent3>
      <a:accent4>
        <a:srgbClr val="FFFFFF"/>
      </a:accent4>
      <a:accent5>
        <a:srgbClr val="FFFFFF"/>
      </a:accent5>
      <a:accent6>
        <a:srgbClr val="FFFFFF"/>
      </a:accent6>
      <a:hlink>
        <a:srgbClr val="FFFFFF"/>
      </a:hlink>
      <a:folHlink>
        <a:srgbClr val="B2B2B2"/>
      </a:folHlink>
    </a:clrScheme>
    <a:fontScheme name="主管人员">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主管人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9533</TotalTime>
  <Words>714</Words>
  <Application>Microsoft Office PowerPoint</Application>
  <PresentationFormat>自定义</PresentationFormat>
  <Paragraphs>220</Paragraphs>
  <Slides>20</Slides>
  <Notes>20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微软雅黑</vt:lpstr>
      <vt:lpstr>Times New Roman</vt:lpstr>
      <vt:lpstr>Courier New</vt:lpstr>
      <vt:lpstr>Impact</vt:lpstr>
      <vt:lpstr>Arial</vt:lpstr>
      <vt:lpstr>Calibri</vt:lpstr>
      <vt:lpstr>等线</vt:lpstr>
      <vt:lpstr>主管人员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大侠素材铺</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志博 曹</cp:lastModifiedBy>
  <cp:revision>995</cp:revision>
  <dcterms:created xsi:type="dcterms:W3CDTF">2004-08-26T06:30:40Z</dcterms:created>
  <dcterms:modified xsi:type="dcterms:W3CDTF">2026-09-16T13:10:58Z</dcterms:modified>
</cp:coreProperties>
</file>