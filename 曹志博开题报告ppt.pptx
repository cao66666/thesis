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p:sldMasterIdLst>
    <p:sldMasterId id="2147483687" r:id="rId1"/>
  </p:sldMasterIdLst>
  <p:notesMasterIdLst>
    <p:notesMasterId r:id="rId19"/>
  </p:notesMasterIdLst>
  <p:handoutMasterIdLst>
    <p:handoutMasterId r:id="rId20"/>
  </p:handoutMasterIdLst>
  <p:sldIdLst>
    <p:sldId id="570" r:id="rId2"/>
    <p:sldId id="511" r:id="rId3"/>
    <p:sldId id="588" r:id="rId4"/>
    <p:sldId id="605" r:id="rId5"/>
    <p:sldId id="606" r:id="rId6"/>
    <p:sldId id="607" r:id="rId7"/>
    <p:sldId id="608" r:id="rId8"/>
    <p:sldId id="586" r:id="rId9"/>
    <p:sldId id="610" r:id="rId10"/>
    <p:sldId id="609" r:id="rId11"/>
    <p:sldId id="611" r:id="rId12"/>
    <p:sldId id="591" r:id="rId13"/>
    <p:sldId id="614" r:id="rId14"/>
    <p:sldId id="601" r:id="rId15"/>
    <p:sldId id="597" r:id="rId16"/>
    <p:sldId id="590" r:id="rId17"/>
    <p:sldId id="604" r:id="rId18"/>
  </p:sldIdLst>
  <p:sldSz cx="11520488" cy="6480175"/>
  <p:notesSz cx="6858000" cy="9144000"/>
  <p:embeddedFontLst>
    <p:embeddedFont>
      <p:font typeface="Impact" panose="020B0806030902050204" pitchFamily="34" charset="0"/>
      <p:regular r:id="rId21"/>
    </p:embeddedFont>
    <p:embeddedFont>
      <p:font typeface="等线" panose="02010600030101010101" pitchFamily="2" charset="-122"/>
      <p:regular r:id="rId22"/>
      <p:bold r:id="rId23"/>
    </p:embeddedFont>
    <p:embeddedFont>
      <p:font typeface="微软雅黑" panose="020B0503020204020204" pitchFamily="34" charset="-122"/>
      <p:regular r:id="rId24"/>
      <p:bold r:id="rId25"/>
    </p:embeddedFont>
  </p:embeddedFontLst>
  <p:custDataLst>
    <p:tags r:id="rId26"/>
  </p:custDataLst>
  <p:defaultTextStyle>
    <a:defPPr>
      <a:defRPr lang="en-US"/>
    </a:defPPr>
    <a:lvl1pPr algn="ctr" rtl="0" fontAlgn="base">
      <a:spcBef>
        <a:spcPct val="0"/>
      </a:spcBef>
      <a:spcAft>
        <a:spcPct val="0"/>
      </a:spcAft>
      <a:defRPr b="1" kern="1200">
        <a:solidFill>
          <a:schemeClr val="tx1"/>
        </a:solidFill>
        <a:latin typeface="Arial" pitchFamily="34" charset="0"/>
        <a:ea typeface="黑体" pitchFamily="49" charset="-122"/>
        <a:cs typeface="+mn-cs"/>
      </a:defRPr>
    </a:lvl1pPr>
    <a:lvl2pPr marL="575815" algn="ctr" rtl="0" fontAlgn="base">
      <a:spcBef>
        <a:spcPct val="0"/>
      </a:spcBef>
      <a:spcAft>
        <a:spcPct val="0"/>
      </a:spcAft>
      <a:defRPr b="1" kern="1200">
        <a:solidFill>
          <a:schemeClr val="tx1"/>
        </a:solidFill>
        <a:latin typeface="Arial" pitchFamily="34" charset="0"/>
        <a:ea typeface="黑体" pitchFamily="49" charset="-122"/>
        <a:cs typeface="+mn-cs"/>
      </a:defRPr>
    </a:lvl2pPr>
    <a:lvl3pPr marL="1151628" algn="ctr" rtl="0" fontAlgn="base">
      <a:spcBef>
        <a:spcPct val="0"/>
      </a:spcBef>
      <a:spcAft>
        <a:spcPct val="0"/>
      </a:spcAft>
      <a:defRPr b="1" kern="1200">
        <a:solidFill>
          <a:schemeClr val="tx1"/>
        </a:solidFill>
        <a:latin typeface="Arial" pitchFamily="34" charset="0"/>
        <a:ea typeface="黑体" pitchFamily="49" charset="-122"/>
        <a:cs typeface="+mn-cs"/>
      </a:defRPr>
    </a:lvl3pPr>
    <a:lvl4pPr marL="1727443" algn="ctr" rtl="0" fontAlgn="base">
      <a:spcBef>
        <a:spcPct val="0"/>
      </a:spcBef>
      <a:spcAft>
        <a:spcPct val="0"/>
      </a:spcAft>
      <a:defRPr b="1" kern="1200">
        <a:solidFill>
          <a:schemeClr val="tx1"/>
        </a:solidFill>
        <a:latin typeface="Arial" pitchFamily="34" charset="0"/>
        <a:ea typeface="黑体" pitchFamily="49" charset="-122"/>
        <a:cs typeface="+mn-cs"/>
      </a:defRPr>
    </a:lvl4pPr>
    <a:lvl5pPr marL="2303258" algn="ctr" rtl="0" fontAlgn="base">
      <a:spcBef>
        <a:spcPct val="0"/>
      </a:spcBef>
      <a:spcAft>
        <a:spcPct val="0"/>
      </a:spcAft>
      <a:defRPr b="1" kern="1200">
        <a:solidFill>
          <a:schemeClr val="tx1"/>
        </a:solidFill>
        <a:latin typeface="Arial" pitchFamily="34" charset="0"/>
        <a:ea typeface="黑体" pitchFamily="49" charset="-122"/>
        <a:cs typeface="+mn-cs"/>
      </a:defRPr>
    </a:lvl5pPr>
    <a:lvl6pPr marL="2879073" algn="l" defTabSz="1151628" rtl="0" eaLnBrk="1" latinLnBrk="0" hangingPunct="1">
      <a:defRPr b="1" kern="1200">
        <a:solidFill>
          <a:schemeClr val="tx1"/>
        </a:solidFill>
        <a:latin typeface="Arial" pitchFamily="34" charset="0"/>
        <a:ea typeface="黑体" pitchFamily="49" charset="-122"/>
        <a:cs typeface="+mn-cs"/>
      </a:defRPr>
    </a:lvl6pPr>
    <a:lvl7pPr marL="3454888" algn="l" defTabSz="1151628" rtl="0" eaLnBrk="1" latinLnBrk="0" hangingPunct="1">
      <a:defRPr b="1" kern="1200">
        <a:solidFill>
          <a:schemeClr val="tx1"/>
        </a:solidFill>
        <a:latin typeface="Arial" pitchFamily="34" charset="0"/>
        <a:ea typeface="黑体" pitchFamily="49" charset="-122"/>
        <a:cs typeface="+mn-cs"/>
      </a:defRPr>
    </a:lvl7pPr>
    <a:lvl8pPr marL="4030702" algn="l" defTabSz="1151628" rtl="0" eaLnBrk="1" latinLnBrk="0" hangingPunct="1">
      <a:defRPr b="1" kern="1200">
        <a:solidFill>
          <a:schemeClr val="tx1"/>
        </a:solidFill>
        <a:latin typeface="Arial" pitchFamily="34" charset="0"/>
        <a:ea typeface="黑体" pitchFamily="49" charset="-122"/>
        <a:cs typeface="+mn-cs"/>
      </a:defRPr>
    </a:lvl8pPr>
    <a:lvl9pPr marL="4606516" algn="l" defTabSz="1151628" rtl="0" eaLnBrk="1" latinLnBrk="0" hangingPunct="1">
      <a:defRPr b="1" kern="1200">
        <a:solidFill>
          <a:schemeClr val="tx1"/>
        </a:solidFill>
        <a:latin typeface="Arial" pitchFamily="34" charset="0"/>
        <a:ea typeface="黑体" pitchFamily="49" charset="-122"/>
        <a:cs typeface="+mn-cs"/>
      </a:defRPr>
    </a:lvl9pPr>
  </p:defaultTextStyle>
  <p:extLst>
    <p:ext uri="{EFAFB233-063F-42B5-8137-9DF3F51BA10A}">
      <p15:sldGuideLst xmlns:p15="http://schemas.microsoft.com/office/powerpoint/2012/main">
        <p15:guide id="1" orient="horz" pos="2042" userDrawn="1">
          <p15:clr>
            <a:srgbClr val="A4A3A4"/>
          </p15:clr>
        </p15:guide>
        <p15:guide id="2" pos="3629"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BD2"/>
    <a:srgbClr val="0282D0"/>
    <a:srgbClr val="004D86"/>
    <a:srgbClr val="0067B4"/>
    <a:srgbClr val="FF9900"/>
    <a:srgbClr val="0547A7"/>
    <a:srgbClr val="202A36"/>
    <a:srgbClr val="FFFFFF"/>
    <a:srgbClr val="FF6600"/>
    <a:srgbClr val="EAB2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772" autoAdjust="0"/>
    <p:restoredTop sz="89111" autoAdjust="0"/>
  </p:normalViewPr>
  <p:slideViewPr>
    <p:cSldViewPr>
      <p:cViewPr varScale="1">
        <p:scale>
          <a:sx n="78" d="100"/>
          <a:sy n="78" d="100"/>
        </p:scale>
        <p:origin x="638" y="77"/>
      </p:cViewPr>
      <p:guideLst>
        <p:guide orient="horz" pos="2042"/>
        <p:guide pos="3629"/>
      </p:guideLst>
    </p:cSldViewPr>
  </p:slideViewPr>
  <p:notesTextViewPr>
    <p:cViewPr>
      <p:scale>
        <a:sx n="100" d="100"/>
        <a:sy n="100" d="100"/>
      </p:scale>
      <p:origin x="0" y="0"/>
    </p:cViewPr>
  </p:notesTextViewPr>
  <p:sorterViewPr>
    <p:cViewPr>
      <p:scale>
        <a:sx n="200" d="100"/>
        <a:sy n="200" d="100"/>
      </p:scale>
      <p:origin x="0" y="14736"/>
    </p:cViewPr>
  </p:sorterViewPr>
  <p:notesViewPr>
    <p:cSldViewPr>
      <p:cViewPr varScale="1">
        <p:scale>
          <a:sx n="80" d="100"/>
          <a:sy n="80" d="100"/>
        </p:scale>
        <p:origin x="-210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A1F06A6-C76E-4613-9D4A-F774CCB060B7}" type="datetimeFigureOut">
              <a:rPr lang="zh-CN" altLang="en-US" smtClean="0"/>
              <a:t>2026/9/17</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E742805-9F79-4236-86D3-43973FCD73F4}" type="slidenum">
              <a:rPr lang="zh-CN" altLang="en-US" smtClean="0"/>
              <a:t>‹#›</a:t>
            </a:fld>
            <a:endParaRPr lang="zh-CN" altLang="en-US"/>
          </a:p>
        </p:txBody>
      </p:sp>
    </p:spTree>
    <p:extLst>
      <p:ext uri="{BB962C8B-B14F-4D97-AF65-F5344CB8AC3E}">
        <p14:creationId xmlns:p14="http://schemas.microsoft.com/office/powerpoint/2010/main" val="3984430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800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b="0">
                <a:ea typeface="宋体" pitchFamily="2" charset="-122"/>
              </a:defRPr>
            </a:lvl1pPr>
          </a:lstStyle>
          <a:p>
            <a:endParaRPr lang="zh-CN" altLang="en-US"/>
          </a:p>
        </p:txBody>
      </p:sp>
      <p:sp>
        <p:nvSpPr>
          <p:cNvPr id="128003"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0">
                <a:ea typeface="宋体" pitchFamily="2" charset="-122"/>
              </a:defRPr>
            </a:lvl1pPr>
          </a:lstStyle>
          <a:p>
            <a:endParaRPr lang="en-US" altLang="zh-CN"/>
          </a:p>
        </p:txBody>
      </p:sp>
      <p:sp>
        <p:nvSpPr>
          <p:cNvPr id="128004"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8005"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28006"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b="0">
                <a:ea typeface="宋体" pitchFamily="2" charset="-122"/>
              </a:defRPr>
            </a:lvl1pPr>
          </a:lstStyle>
          <a:p>
            <a:endParaRPr lang="en-US" altLang="zh-CN"/>
          </a:p>
        </p:txBody>
      </p:sp>
      <p:sp>
        <p:nvSpPr>
          <p:cNvPr id="128007"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0">
                <a:ea typeface="宋体" pitchFamily="2" charset="-122"/>
              </a:defRPr>
            </a:lvl1pPr>
          </a:lstStyle>
          <a:p>
            <a:fld id="{20DEAE63-D6C4-437F-B8DA-DA689F991AA7}" type="slidenum">
              <a:rPr lang="zh-CN" altLang="en-US"/>
              <a:pPr/>
              <a:t>‹#›</a:t>
            </a:fld>
            <a:endParaRPr lang="en-US" altLang="zh-CN"/>
          </a:p>
        </p:txBody>
      </p:sp>
    </p:spTree>
    <p:extLst>
      <p:ext uri="{BB962C8B-B14F-4D97-AF65-F5344CB8AC3E}">
        <p14:creationId xmlns:p14="http://schemas.microsoft.com/office/powerpoint/2010/main" val="36319421"/>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512" kern="1200">
        <a:solidFill>
          <a:schemeClr val="tx1"/>
        </a:solidFill>
        <a:latin typeface="Arial" pitchFamily="34" charset="0"/>
        <a:ea typeface="+mn-ea"/>
        <a:cs typeface="+mn-cs"/>
      </a:defRPr>
    </a:lvl1pPr>
    <a:lvl2pPr marL="575815" algn="l" rtl="0" fontAlgn="base">
      <a:spcBef>
        <a:spcPct val="30000"/>
      </a:spcBef>
      <a:spcAft>
        <a:spcPct val="0"/>
      </a:spcAft>
      <a:defRPr sz="1512" kern="1200">
        <a:solidFill>
          <a:schemeClr val="tx1"/>
        </a:solidFill>
        <a:latin typeface="Arial" pitchFamily="34" charset="0"/>
        <a:ea typeface="+mn-ea"/>
        <a:cs typeface="+mn-cs"/>
      </a:defRPr>
    </a:lvl2pPr>
    <a:lvl3pPr marL="1151628" algn="l" rtl="0" fontAlgn="base">
      <a:spcBef>
        <a:spcPct val="30000"/>
      </a:spcBef>
      <a:spcAft>
        <a:spcPct val="0"/>
      </a:spcAft>
      <a:defRPr sz="1512" kern="1200">
        <a:solidFill>
          <a:schemeClr val="tx1"/>
        </a:solidFill>
        <a:latin typeface="Arial" pitchFamily="34" charset="0"/>
        <a:ea typeface="+mn-ea"/>
        <a:cs typeface="+mn-cs"/>
      </a:defRPr>
    </a:lvl3pPr>
    <a:lvl4pPr marL="1727443" algn="l" rtl="0" fontAlgn="base">
      <a:spcBef>
        <a:spcPct val="30000"/>
      </a:spcBef>
      <a:spcAft>
        <a:spcPct val="0"/>
      </a:spcAft>
      <a:defRPr sz="1512" kern="1200">
        <a:solidFill>
          <a:schemeClr val="tx1"/>
        </a:solidFill>
        <a:latin typeface="Arial" pitchFamily="34" charset="0"/>
        <a:ea typeface="+mn-ea"/>
        <a:cs typeface="+mn-cs"/>
      </a:defRPr>
    </a:lvl4pPr>
    <a:lvl5pPr marL="2303258" algn="l" rtl="0" fontAlgn="base">
      <a:spcBef>
        <a:spcPct val="30000"/>
      </a:spcBef>
      <a:spcAft>
        <a:spcPct val="0"/>
      </a:spcAft>
      <a:defRPr sz="1512" kern="1200">
        <a:solidFill>
          <a:schemeClr val="tx1"/>
        </a:solidFill>
        <a:latin typeface="Arial" pitchFamily="34" charset="0"/>
        <a:ea typeface="+mn-ea"/>
        <a:cs typeface="+mn-cs"/>
      </a:defRPr>
    </a:lvl5pPr>
    <a:lvl6pPr marL="2879073" algn="l" defTabSz="1151628" rtl="0" eaLnBrk="1" latinLnBrk="0" hangingPunct="1">
      <a:defRPr sz="1512" kern="1200">
        <a:solidFill>
          <a:schemeClr val="tx1"/>
        </a:solidFill>
        <a:latin typeface="+mn-lt"/>
        <a:ea typeface="+mn-ea"/>
        <a:cs typeface="+mn-cs"/>
      </a:defRPr>
    </a:lvl6pPr>
    <a:lvl7pPr marL="3454888" algn="l" defTabSz="1151628" rtl="0" eaLnBrk="1" latinLnBrk="0" hangingPunct="1">
      <a:defRPr sz="1512" kern="1200">
        <a:solidFill>
          <a:schemeClr val="tx1"/>
        </a:solidFill>
        <a:latin typeface="+mn-lt"/>
        <a:ea typeface="+mn-ea"/>
        <a:cs typeface="+mn-cs"/>
      </a:defRPr>
    </a:lvl7pPr>
    <a:lvl8pPr marL="4030702" algn="l" defTabSz="1151628" rtl="0" eaLnBrk="1" latinLnBrk="0" hangingPunct="1">
      <a:defRPr sz="1512" kern="1200">
        <a:solidFill>
          <a:schemeClr val="tx1"/>
        </a:solidFill>
        <a:latin typeface="+mn-lt"/>
        <a:ea typeface="+mn-ea"/>
        <a:cs typeface="+mn-cs"/>
      </a:defRPr>
    </a:lvl8pPr>
    <a:lvl9pPr marL="4606516" algn="l" defTabSz="1151628" rtl="0" eaLnBrk="1" latinLnBrk="0" hangingPunct="1">
      <a:defRPr sz="1512"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E21FD59-C920-460C-B1C9-0346C59420B0}" type="slidenum">
              <a:rPr lang="zh-CN" altLang="en-US" smtClean="0"/>
              <a:t>1</a:t>
            </a:fld>
            <a:endParaRPr lang="zh-CN" altLang="en-US"/>
          </a:p>
        </p:txBody>
      </p:sp>
    </p:spTree>
    <p:extLst>
      <p:ext uri="{BB962C8B-B14F-4D97-AF65-F5344CB8AC3E}">
        <p14:creationId xmlns:p14="http://schemas.microsoft.com/office/powerpoint/2010/main" val="29558680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DEAE63-D6C4-437F-B8DA-DA689F991AA7}" type="slidenum">
              <a:rPr lang="zh-CN" altLang="en-US" smtClean="0"/>
              <a:pPr/>
              <a:t>2</a:t>
            </a:fld>
            <a:endParaRPr lang="en-US" altLang="zh-CN"/>
          </a:p>
        </p:txBody>
      </p:sp>
    </p:spTree>
    <p:extLst>
      <p:ext uri="{BB962C8B-B14F-4D97-AF65-F5344CB8AC3E}">
        <p14:creationId xmlns:p14="http://schemas.microsoft.com/office/powerpoint/2010/main" val="36443877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3</a:t>
            </a:fld>
            <a:endParaRPr lang="zh-CN" altLang="en-US"/>
          </a:p>
        </p:txBody>
      </p:sp>
    </p:spTree>
    <p:extLst>
      <p:ext uri="{BB962C8B-B14F-4D97-AF65-F5344CB8AC3E}">
        <p14:creationId xmlns:p14="http://schemas.microsoft.com/office/powerpoint/2010/main" val="34012648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4</a:t>
            </a:fld>
            <a:endParaRPr lang="zh-CN" altLang="en-US"/>
          </a:p>
        </p:txBody>
      </p:sp>
    </p:spTree>
    <p:extLst>
      <p:ext uri="{BB962C8B-B14F-4D97-AF65-F5344CB8AC3E}">
        <p14:creationId xmlns:p14="http://schemas.microsoft.com/office/powerpoint/2010/main" val="42241120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5</a:t>
            </a:fld>
            <a:endParaRPr lang="zh-CN" altLang="en-US"/>
          </a:p>
        </p:txBody>
      </p:sp>
    </p:spTree>
    <p:extLst>
      <p:ext uri="{BB962C8B-B14F-4D97-AF65-F5344CB8AC3E}">
        <p14:creationId xmlns:p14="http://schemas.microsoft.com/office/powerpoint/2010/main" val="39107908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6</a:t>
            </a:fld>
            <a:endParaRPr lang="zh-CN" altLang="en-US"/>
          </a:p>
        </p:txBody>
      </p:sp>
    </p:spTree>
    <p:extLst>
      <p:ext uri="{BB962C8B-B14F-4D97-AF65-F5344CB8AC3E}">
        <p14:creationId xmlns:p14="http://schemas.microsoft.com/office/powerpoint/2010/main" val="37766581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7</a:t>
            </a:fld>
            <a:endParaRPr lang="zh-CN" altLang="en-US"/>
          </a:p>
        </p:txBody>
      </p:sp>
    </p:spTree>
    <p:extLst>
      <p:ext uri="{BB962C8B-B14F-4D97-AF65-F5344CB8AC3E}">
        <p14:creationId xmlns:p14="http://schemas.microsoft.com/office/powerpoint/2010/main" val="11842301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8</a:t>
            </a:fld>
            <a:endParaRPr lang="zh-CN" altLang="en-US"/>
          </a:p>
        </p:txBody>
      </p:sp>
    </p:spTree>
    <p:extLst>
      <p:ext uri="{BB962C8B-B14F-4D97-AF65-F5344CB8AC3E}">
        <p14:creationId xmlns:p14="http://schemas.microsoft.com/office/powerpoint/2010/main" val="40717462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9</a:t>
            </a:fld>
            <a:endParaRPr lang="zh-CN" altLang="en-US"/>
          </a:p>
        </p:txBody>
      </p:sp>
    </p:spTree>
    <p:extLst>
      <p:ext uri="{BB962C8B-B14F-4D97-AF65-F5344CB8AC3E}">
        <p14:creationId xmlns:p14="http://schemas.microsoft.com/office/powerpoint/2010/main" val="34601448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10</a:t>
            </a:fld>
            <a:endParaRPr lang="zh-CN" altLang="en-US"/>
          </a:p>
        </p:txBody>
      </p:sp>
    </p:spTree>
    <p:extLst>
      <p:ext uri="{BB962C8B-B14F-4D97-AF65-F5344CB8AC3E}">
        <p14:creationId xmlns:p14="http://schemas.microsoft.com/office/powerpoint/2010/main" val="42097952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11</a:t>
            </a:fld>
            <a:endParaRPr lang="zh-CN" altLang="en-US"/>
          </a:p>
        </p:txBody>
      </p:sp>
    </p:spTree>
    <p:extLst>
      <p:ext uri="{BB962C8B-B14F-4D97-AF65-F5344CB8AC3E}">
        <p14:creationId xmlns:p14="http://schemas.microsoft.com/office/powerpoint/2010/main" val="33337915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12</a:t>
            </a:fld>
            <a:endParaRPr lang="zh-CN" altLang="en-US"/>
          </a:p>
        </p:txBody>
      </p:sp>
    </p:spTree>
    <p:extLst>
      <p:ext uri="{BB962C8B-B14F-4D97-AF65-F5344CB8AC3E}">
        <p14:creationId xmlns:p14="http://schemas.microsoft.com/office/powerpoint/2010/main" val="30587996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13</a:t>
            </a:fld>
            <a:endParaRPr lang="zh-CN" altLang="en-US"/>
          </a:p>
        </p:txBody>
      </p:sp>
    </p:spTree>
    <p:extLst>
      <p:ext uri="{BB962C8B-B14F-4D97-AF65-F5344CB8AC3E}">
        <p14:creationId xmlns:p14="http://schemas.microsoft.com/office/powerpoint/2010/main" val="34466991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t>14</a:t>
            </a:fld>
            <a:endParaRPr lang="zh-CN" altLang="en-US"/>
          </a:p>
        </p:txBody>
      </p:sp>
    </p:spTree>
    <p:extLst>
      <p:ext uri="{BB962C8B-B14F-4D97-AF65-F5344CB8AC3E}">
        <p14:creationId xmlns:p14="http://schemas.microsoft.com/office/powerpoint/2010/main" val="8104113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t>15</a:t>
            </a:fld>
            <a:endParaRPr lang="zh-CN" altLang="en-US"/>
          </a:p>
        </p:txBody>
      </p:sp>
    </p:spTree>
    <p:extLst>
      <p:ext uri="{BB962C8B-B14F-4D97-AF65-F5344CB8AC3E}">
        <p14:creationId xmlns:p14="http://schemas.microsoft.com/office/powerpoint/2010/main" val="11403723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16</a:t>
            </a:fld>
            <a:endParaRPr lang="zh-CN" altLang="en-US"/>
          </a:p>
        </p:txBody>
      </p:sp>
    </p:spTree>
    <p:extLst>
      <p:ext uri="{BB962C8B-B14F-4D97-AF65-F5344CB8AC3E}">
        <p14:creationId xmlns:p14="http://schemas.microsoft.com/office/powerpoint/2010/main" val="38654577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E21FD59-C920-460C-B1C9-0346C59420B0}" type="slidenum">
              <a:rPr lang="zh-CN" altLang="en-US" smtClean="0"/>
              <a:t>17</a:t>
            </a:fld>
            <a:endParaRPr lang="zh-CN" altLang="en-US"/>
          </a:p>
        </p:txBody>
      </p:sp>
    </p:spTree>
    <p:extLst>
      <p:ext uri="{BB962C8B-B14F-4D97-AF65-F5344CB8AC3E}">
        <p14:creationId xmlns:p14="http://schemas.microsoft.com/office/powerpoint/2010/main" val="29558680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864038" y="576018"/>
            <a:ext cx="9792415" cy="4032109"/>
          </a:xfrm>
          <a:prstGeom prst="rect">
            <a:avLst/>
          </a:prstGeom>
        </p:spPr>
        <p:txBody>
          <a:bodyPr lIns="91432" tIns="45716" rIns="91432" bIns="45716" anchor="b">
            <a:noAutofit/>
          </a:bodyPr>
          <a:lstStyle>
            <a:lvl1pPr>
              <a:lnSpc>
                <a:spcPct val="100000"/>
              </a:lnSpc>
              <a:defRPr sz="8000"/>
            </a:lvl1pPr>
          </a:lstStyle>
          <a:p>
            <a:r>
              <a:rPr lang="zh-CN" altLang="en-US"/>
              <a:t>单击此处编辑母版标题样式</a:t>
            </a:r>
            <a:endParaRPr lang="en-US" dirty="0"/>
          </a:p>
        </p:txBody>
      </p:sp>
      <p:sp>
        <p:nvSpPr>
          <p:cNvPr id="3" name="Subtitle 2"/>
          <p:cNvSpPr>
            <a:spLocks noGrp="1"/>
          </p:cNvSpPr>
          <p:nvPr>
            <p:ph type="subTitle" idx="1"/>
          </p:nvPr>
        </p:nvSpPr>
        <p:spPr>
          <a:xfrm>
            <a:off x="1728073" y="4680126"/>
            <a:ext cx="8064342" cy="1152031"/>
          </a:xfrm>
          <a:prstGeom prst="rect">
            <a:avLst/>
          </a:prstGeom>
        </p:spPr>
        <p:txBody>
          <a:bodyPr lIns="91432" tIns="45716" rIns="91432" bIns="45716">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7" name="Date Placeholder 6"/>
          <p:cNvSpPr>
            <a:spLocks noGrp="1"/>
          </p:cNvSpPr>
          <p:nvPr>
            <p:ph type="dt" sz="half" idx="10"/>
          </p:nvPr>
        </p:nvSpPr>
        <p:spPr>
          <a:xfrm>
            <a:off x="8017158" y="6006163"/>
            <a:ext cx="2628111" cy="345009"/>
          </a:xfrm>
          <a:prstGeom prst="rect">
            <a:avLst/>
          </a:prstGeom>
        </p:spPr>
        <p:txBody>
          <a:bodyPr lIns="91432" tIns="45716" rIns="91432" bIns="45716"/>
          <a:lstStyle/>
          <a:p>
            <a:pPr eaLnBrk="1" latinLnBrk="0" hangingPunct="1"/>
            <a:fld id="{544213AF-26F6-41FA-8D85-E2C5388D6E58}" type="datetimeFigureOut">
              <a:rPr lang="en-US" smtClean="0"/>
              <a:pPr eaLnBrk="1" latinLnBrk="0" hangingPunct="1"/>
              <a:t>9/17/2026</a:t>
            </a:fld>
            <a:endParaRPr lang="en-US" dirty="0">
              <a:solidFill>
                <a:srgbClr val="FFFFFF"/>
              </a:solidFill>
            </a:endParaRPr>
          </a:p>
        </p:txBody>
      </p:sp>
      <p:sp>
        <p:nvSpPr>
          <p:cNvPr id="8" name="Slide Number Placeholder 7"/>
          <p:cNvSpPr>
            <a:spLocks noGrp="1"/>
          </p:cNvSpPr>
          <p:nvPr>
            <p:ph type="sldNum" sz="quarter" idx="11"/>
          </p:nvPr>
        </p:nvSpPr>
        <p:spPr>
          <a:xfrm>
            <a:off x="10763643" y="6006163"/>
            <a:ext cx="708031" cy="345009"/>
          </a:xfrm>
          <a:prstGeom prst="rect">
            <a:avLst/>
          </a:prstGeom>
        </p:spPr>
        <p:txBody>
          <a:bodyPr lIns="91432" tIns="45716" rIns="91432" bIns="45716"/>
          <a:lstStyle/>
          <a:p>
            <a:fld id="{D5BBC35B-A44B-4119-B8DA-DE9E3DFADA20}" type="slidenum">
              <a:rPr kumimoji="0" lang="en-US" smtClean="0"/>
              <a:pPr eaLnBrk="1" latinLnBrk="0" hangingPunct="1"/>
              <a:t>‹#›</a:t>
            </a:fld>
            <a:endParaRPr kumimoji="0" lang="en-US" dirty="0">
              <a:solidFill>
                <a:srgbClr val="FFFFFF"/>
              </a:solidFill>
            </a:endParaRPr>
          </a:p>
        </p:txBody>
      </p:sp>
      <p:sp>
        <p:nvSpPr>
          <p:cNvPr id="9" name="Footer Placeholder 8"/>
          <p:cNvSpPr>
            <a:spLocks noGrp="1"/>
          </p:cNvSpPr>
          <p:nvPr>
            <p:ph type="ftr" sz="quarter" idx="12"/>
          </p:nvPr>
        </p:nvSpPr>
        <p:spPr>
          <a:xfrm>
            <a:off x="830481" y="6006163"/>
            <a:ext cx="3588153" cy="345009"/>
          </a:xfrm>
          <a:prstGeom prst="rect">
            <a:avLst/>
          </a:prstGeom>
        </p:spPr>
        <p:txBody>
          <a:bodyPr lIns="91432" tIns="45716" rIns="91432" bIns="45716"/>
          <a:lstStyle/>
          <a:p>
            <a:endParaRPr kumimoji="0" lang="en-US">
              <a:solidFill>
                <a:schemeClr val="accent1">
                  <a:tint val="20000"/>
                </a:schemeClr>
              </a:solidFill>
            </a:endParaRPr>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576030" y="5"/>
            <a:ext cx="10368439" cy="1512041"/>
          </a:xfrm>
          <a:prstGeom prst="rect">
            <a:avLst/>
          </a:prstGeom>
        </p:spPr>
        <p:txBody>
          <a:bodyPr lIns="91432" tIns="45716" rIns="91432" bIns="45716"/>
          <a:lstStyle/>
          <a:p>
            <a:r>
              <a:rPr lang="zh-CN" altLang="en-US"/>
              <a:t>单击此处编辑母版标题样式</a:t>
            </a:r>
            <a:endParaRPr lang="en-US" dirty="0"/>
          </a:p>
        </p:txBody>
      </p:sp>
      <p:sp>
        <p:nvSpPr>
          <p:cNvPr id="3" name="Content Placeholder 2"/>
          <p:cNvSpPr>
            <a:spLocks noGrp="1"/>
          </p:cNvSpPr>
          <p:nvPr>
            <p:ph idx="1"/>
          </p:nvPr>
        </p:nvSpPr>
        <p:spPr>
          <a:xfrm>
            <a:off x="576030" y="1512041"/>
            <a:ext cx="10368439" cy="4276616"/>
          </a:xfrm>
          <a:prstGeom prst="rect">
            <a:avLst/>
          </a:prstGeom>
        </p:spPr>
        <p:txBody>
          <a:bodyPr lIns="91432" tIns="45716" rIns="91432" bIns="45716"/>
          <a:lstStyle>
            <a:lvl5pPr>
              <a:defRPr/>
            </a:lvl5pPr>
            <a:lvl6pPr>
              <a:defRPr/>
            </a:lvl6pPr>
            <a:lvl7pPr>
              <a:defRPr/>
            </a:lvl7pPr>
            <a:lvl8pPr>
              <a:defRPr/>
            </a:lvl8pPr>
            <a:lvl9pPr>
              <a:buFont typeface="Arial" pitchFamily="34" charset="0"/>
              <a:buChar char="•"/>
              <a:defRPr/>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a:xfrm>
            <a:off x="8017158" y="6006163"/>
            <a:ext cx="2628111" cy="345009"/>
          </a:xfrm>
          <a:prstGeom prst="rect">
            <a:avLst/>
          </a:prstGeom>
        </p:spPr>
        <p:txBody>
          <a:bodyPr lIns="91432" tIns="45716" rIns="91432" bIns="45716"/>
          <a:lstStyle/>
          <a:p>
            <a:pPr eaLnBrk="1" latinLnBrk="0" hangingPunct="1"/>
            <a:fld id="{544213AF-26F6-41FA-8D85-E2C5388D6E58}" type="datetimeFigureOut">
              <a:rPr lang="en-US" smtClean="0"/>
              <a:pPr eaLnBrk="1" latinLnBrk="0" hangingPunct="1"/>
              <a:t>9/17/2026</a:t>
            </a:fld>
            <a:endParaRPr lang="en-US"/>
          </a:p>
        </p:txBody>
      </p:sp>
      <p:sp>
        <p:nvSpPr>
          <p:cNvPr id="5" name="Footer Placeholder 4"/>
          <p:cNvSpPr>
            <a:spLocks noGrp="1"/>
          </p:cNvSpPr>
          <p:nvPr>
            <p:ph type="ftr" sz="quarter" idx="11"/>
          </p:nvPr>
        </p:nvSpPr>
        <p:spPr>
          <a:xfrm>
            <a:off x="830481" y="6006163"/>
            <a:ext cx="3588153" cy="345009"/>
          </a:xfrm>
          <a:prstGeom prst="rect">
            <a:avLst/>
          </a:prstGeom>
        </p:spPr>
        <p:txBody>
          <a:bodyPr lIns="91432" tIns="45716" rIns="91432" bIns="45716"/>
          <a:lstStyle/>
          <a:p>
            <a:endParaRPr kumimoji="0" lang="en-US"/>
          </a:p>
        </p:txBody>
      </p:sp>
      <p:sp>
        <p:nvSpPr>
          <p:cNvPr id="6" name="Slide Number Placeholder 5"/>
          <p:cNvSpPr>
            <a:spLocks noGrp="1"/>
          </p:cNvSpPr>
          <p:nvPr>
            <p:ph type="sldNum" sz="quarter" idx="12"/>
          </p:nvPr>
        </p:nvSpPr>
        <p:spPr>
          <a:xfrm>
            <a:off x="10763643" y="6006163"/>
            <a:ext cx="708031" cy="345009"/>
          </a:xfrm>
          <a:prstGeom prst="rect">
            <a:avLst/>
          </a:prstGeom>
        </p:spPr>
        <p:txBody>
          <a:bodyPr lIns="91432" tIns="45716" rIns="91432" bIns="45716"/>
          <a:lstStyle/>
          <a:p>
            <a:fld id="{D5BBC35B-A44B-4119-B8DA-DE9E3DFADA20}" type="slidenum">
              <a:rPr kumimoji="0" lang="en-US" smtClean="0"/>
              <a:pPr eaLnBrk="1" latinLnBrk="0" hangingPunct="1"/>
              <a:t>‹#›</a:t>
            </a:fld>
            <a:endParaRPr kumimoji="0" lang="en-US"/>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910040" y="1296035"/>
            <a:ext cx="9792415" cy="2367064"/>
          </a:xfrm>
          <a:prstGeom prst="rect">
            <a:avLst/>
          </a:prstGeom>
        </p:spPr>
        <p:txBody>
          <a:bodyPr lIns="91432" tIns="45716" rIns="91432" bIns="45716"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910040" y="3844607"/>
            <a:ext cx="9792415" cy="1069528"/>
          </a:xfrm>
          <a:prstGeom prst="rect">
            <a:avLst/>
          </a:prstGeom>
        </p:spPr>
        <p:txBody>
          <a:bodyPr lIns="91432" tIns="45716" rIns="91432" bIns="45716"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a:xfrm>
            <a:off x="8017158" y="6006163"/>
            <a:ext cx="2628111" cy="345009"/>
          </a:xfrm>
          <a:prstGeom prst="rect">
            <a:avLst/>
          </a:prstGeom>
        </p:spPr>
        <p:txBody>
          <a:bodyPr lIns="91432" tIns="45716" rIns="91432" bIns="45716"/>
          <a:lstStyle/>
          <a:p>
            <a:pPr eaLnBrk="1" latinLnBrk="0" hangingPunct="1"/>
            <a:fld id="{544213AF-26F6-41FA-8D85-E2C5388D6E58}" type="datetimeFigureOut">
              <a:rPr lang="en-US" smtClean="0"/>
              <a:pPr eaLnBrk="1" latinLnBrk="0" hangingPunct="1"/>
              <a:t>9/17/2026</a:t>
            </a:fld>
            <a:endParaRPr lang="en-US"/>
          </a:p>
        </p:txBody>
      </p:sp>
      <p:sp>
        <p:nvSpPr>
          <p:cNvPr id="5" name="Footer Placeholder 4"/>
          <p:cNvSpPr>
            <a:spLocks noGrp="1"/>
          </p:cNvSpPr>
          <p:nvPr>
            <p:ph type="ftr" sz="quarter" idx="11"/>
          </p:nvPr>
        </p:nvSpPr>
        <p:spPr>
          <a:xfrm>
            <a:off x="830481" y="6006163"/>
            <a:ext cx="3588153" cy="345009"/>
          </a:xfrm>
          <a:prstGeom prst="rect">
            <a:avLst/>
          </a:prstGeom>
        </p:spPr>
        <p:txBody>
          <a:bodyPr lIns="91432" tIns="45716" rIns="91432" bIns="45716"/>
          <a:lstStyle/>
          <a:p>
            <a:endParaRPr kumimoji="0" lang="en-US"/>
          </a:p>
        </p:txBody>
      </p:sp>
      <p:sp>
        <p:nvSpPr>
          <p:cNvPr id="6" name="Slide Number Placeholder 5"/>
          <p:cNvSpPr>
            <a:spLocks noGrp="1"/>
          </p:cNvSpPr>
          <p:nvPr>
            <p:ph type="sldNum" sz="quarter" idx="12"/>
          </p:nvPr>
        </p:nvSpPr>
        <p:spPr>
          <a:xfrm>
            <a:off x="10763643" y="6006163"/>
            <a:ext cx="708031" cy="345009"/>
          </a:xfrm>
          <a:prstGeom prst="rect">
            <a:avLst/>
          </a:prstGeom>
        </p:spPr>
        <p:txBody>
          <a:bodyPr lIns="91432" tIns="45716" rIns="91432" bIns="45716"/>
          <a:lstStyle/>
          <a:p>
            <a:fld id="{D5BBC35B-A44B-4119-B8DA-DE9E3DFADA20}" type="slidenum">
              <a:rPr kumimoji="0" lang="en-US" smtClean="0"/>
              <a:pPr eaLnBrk="1" latinLnBrk="0" hangingPunct="1"/>
              <a:t>‹#›</a:t>
            </a:fld>
            <a:endParaRPr kumimoji="0" lang="en-US"/>
          </a:p>
        </p:txBody>
      </p:sp>
      <p:sp>
        <p:nvSpPr>
          <p:cNvPr id="7" name="Oval 6"/>
          <p:cNvSpPr/>
          <p:nvPr/>
        </p:nvSpPr>
        <p:spPr>
          <a:xfrm>
            <a:off x="5664243" y="3708101"/>
            <a:ext cx="106804" cy="8010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91432" tIns="45716" rIns="91432" bIns="45716" rtlCol="0" anchor="ctr"/>
          <a:lstStyle/>
          <a:p>
            <a:pPr algn="ctr"/>
            <a:endParaRPr lang="en-US"/>
          </a:p>
        </p:txBody>
      </p:sp>
      <p:sp>
        <p:nvSpPr>
          <p:cNvPr id="8" name="Oval 7"/>
          <p:cNvSpPr/>
          <p:nvPr/>
        </p:nvSpPr>
        <p:spPr>
          <a:xfrm>
            <a:off x="5916252" y="3708101"/>
            <a:ext cx="106804" cy="8010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91432" tIns="45716" rIns="91432" bIns="45716" rtlCol="0" anchor="ctr"/>
          <a:lstStyle/>
          <a:p>
            <a:pPr algn="ctr"/>
            <a:endParaRPr lang="en-US"/>
          </a:p>
        </p:txBody>
      </p:sp>
      <p:sp>
        <p:nvSpPr>
          <p:cNvPr id="9" name="Oval 8"/>
          <p:cNvSpPr/>
          <p:nvPr/>
        </p:nvSpPr>
        <p:spPr>
          <a:xfrm>
            <a:off x="5413434" y="3708101"/>
            <a:ext cx="106804" cy="8010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91432" tIns="45716" rIns="91432" bIns="45716"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576030" y="5"/>
            <a:ext cx="10368439" cy="1512041"/>
          </a:xfrm>
          <a:prstGeom prst="rect">
            <a:avLst/>
          </a:prstGeom>
        </p:spPr>
        <p:txBody>
          <a:bodyPr lIns="91432" tIns="45716" rIns="91432" bIns="45716"/>
          <a:lstStyle/>
          <a:p>
            <a:r>
              <a:rPr lang="zh-CN" altLang="en-US"/>
              <a:t>单击此处编辑母版标题样式</a:t>
            </a:r>
            <a:endParaRPr lang="en-US"/>
          </a:p>
        </p:txBody>
      </p:sp>
      <p:sp>
        <p:nvSpPr>
          <p:cNvPr id="4" name="Content Placeholder 3"/>
          <p:cNvSpPr>
            <a:spLocks noGrp="1"/>
          </p:cNvSpPr>
          <p:nvPr>
            <p:ph sz="half" idx="2"/>
          </p:nvPr>
        </p:nvSpPr>
        <p:spPr>
          <a:xfrm>
            <a:off x="5856250" y="1512041"/>
            <a:ext cx="5088215" cy="4276616"/>
          </a:xfrm>
          <a:prstGeom prst="rect">
            <a:avLst/>
          </a:prstGeom>
        </p:spPr>
        <p:txBody>
          <a:bodyPr lIns="91432" tIns="45716" rIns="91432" bIns="45716"/>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a:xfrm>
            <a:off x="8017158" y="6006163"/>
            <a:ext cx="2628111" cy="345009"/>
          </a:xfrm>
          <a:prstGeom prst="rect">
            <a:avLst/>
          </a:prstGeom>
        </p:spPr>
        <p:txBody>
          <a:bodyPr lIns="91432" tIns="45716" rIns="91432" bIns="45716"/>
          <a:lstStyle/>
          <a:p>
            <a:pPr eaLnBrk="1" latinLnBrk="0" hangingPunct="1"/>
            <a:fld id="{544213AF-26F6-41FA-8D85-E2C5388D6E58}" type="datetimeFigureOut">
              <a:rPr lang="en-US" smtClean="0"/>
              <a:pPr eaLnBrk="1" latinLnBrk="0" hangingPunct="1"/>
              <a:t>9/17/2026</a:t>
            </a:fld>
            <a:endParaRPr lang="en-US"/>
          </a:p>
        </p:txBody>
      </p:sp>
      <p:sp>
        <p:nvSpPr>
          <p:cNvPr id="6" name="Footer Placeholder 5"/>
          <p:cNvSpPr>
            <a:spLocks noGrp="1"/>
          </p:cNvSpPr>
          <p:nvPr>
            <p:ph type="ftr" sz="quarter" idx="11"/>
          </p:nvPr>
        </p:nvSpPr>
        <p:spPr>
          <a:xfrm>
            <a:off x="830481" y="6006163"/>
            <a:ext cx="3588153" cy="345009"/>
          </a:xfrm>
          <a:prstGeom prst="rect">
            <a:avLst/>
          </a:prstGeom>
        </p:spPr>
        <p:txBody>
          <a:bodyPr lIns="91432" tIns="45716" rIns="91432" bIns="45716"/>
          <a:lstStyle/>
          <a:p>
            <a:endParaRPr kumimoji="0" lang="en-US"/>
          </a:p>
        </p:txBody>
      </p:sp>
      <p:sp>
        <p:nvSpPr>
          <p:cNvPr id="7" name="Slide Number Placeholder 6"/>
          <p:cNvSpPr>
            <a:spLocks noGrp="1"/>
          </p:cNvSpPr>
          <p:nvPr>
            <p:ph type="sldNum" sz="quarter" idx="12"/>
          </p:nvPr>
        </p:nvSpPr>
        <p:spPr>
          <a:xfrm>
            <a:off x="10763643" y="6006163"/>
            <a:ext cx="708031" cy="345009"/>
          </a:xfrm>
          <a:prstGeom prst="rect">
            <a:avLst/>
          </a:prstGeom>
        </p:spPr>
        <p:txBody>
          <a:bodyPr lIns="91432" tIns="45716" rIns="91432" bIns="45716"/>
          <a:lstStyle/>
          <a:p>
            <a:fld id="{D5BBC35B-A44B-4119-B8DA-DE9E3DFADA20}" type="slidenum">
              <a:rPr kumimoji="0" lang="en-US" smtClean="0"/>
              <a:pPr eaLnBrk="1" latinLnBrk="0" hangingPunct="1"/>
              <a:t>‹#›</a:t>
            </a:fld>
            <a:endParaRPr kumimoji="0" lang="en-US"/>
          </a:p>
        </p:txBody>
      </p:sp>
      <p:sp>
        <p:nvSpPr>
          <p:cNvPr id="9" name="Content Placeholder 8"/>
          <p:cNvSpPr>
            <a:spLocks noGrp="1"/>
          </p:cNvSpPr>
          <p:nvPr>
            <p:ph sz="quarter" idx="13"/>
          </p:nvPr>
        </p:nvSpPr>
        <p:spPr>
          <a:xfrm>
            <a:off x="460819" y="1512043"/>
            <a:ext cx="5092056" cy="4276915"/>
          </a:xfrm>
          <a:prstGeom prst="rect">
            <a:avLst/>
          </a:prstGeom>
        </p:spPr>
        <p:txBody>
          <a:bodyPr lIns="91432" tIns="45716" rIns="91432" bIns="45716"/>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576030" y="5"/>
            <a:ext cx="10368439" cy="1512041"/>
          </a:xfrm>
          <a:prstGeom prst="rect">
            <a:avLst/>
          </a:prstGeom>
        </p:spPr>
        <p:txBody>
          <a:bodyPr lIns="91432" tIns="45716" rIns="91432" bIns="45716"/>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576025" y="1512046"/>
            <a:ext cx="5090217" cy="576015"/>
          </a:xfrm>
          <a:prstGeom prst="rect">
            <a:avLst/>
          </a:prstGeom>
        </p:spPr>
        <p:txBody>
          <a:bodyPr lIns="91432" tIns="45716" rIns="91432" bIns="45716"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5" name="Text Placeholder 4"/>
          <p:cNvSpPr>
            <a:spLocks noGrp="1"/>
          </p:cNvSpPr>
          <p:nvPr>
            <p:ph type="body" sz="quarter" idx="3"/>
          </p:nvPr>
        </p:nvSpPr>
        <p:spPr>
          <a:xfrm>
            <a:off x="5856251" y="1512046"/>
            <a:ext cx="5092216" cy="576015"/>
          </a:xfrm>
          <a:prstGeom prst="rect">
            <a:avLst/>
          </a:prstGeom>
        </p:spPr>
        <p:txBody>
          <a:bodyPr lIns="91432" tIns="45716" rIns="91432" bIns="45716"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7" name="Date Placeholder 6"/>
          <p:cNvSpPr>
            <a:spLocks noGrp="1"/>
          </p:cNvSpPr>
          <p:nvPr>
            <p:ph type="dt" sz="half" idx="10"/>
          </p:nvPr>
        </p:nvSpPr>
        <p:spPr>
          <a:xfrm>
            <a:off x="8017158" y="6006163"/>
            <a:ext cx="2628111" cy="345009"/>
          </a:xfrm>
          <a:prstGeom prst="rect">
            <a:avLst/>
          </a:prstGeom>
        </p:spPr>
        <p:txBody>
          <a:bodyPr lIns="91432" tIns="45716" rIns="91432" bIns="45716"/>
          <a:lstStyle/>
          <a:p>
            <a:pPr eaLnBrk="1" latinLnBrk="0" hangingPunct="1"/>
            <a:fld id="{544213AF-26F6-41FA-8D85-E2C5388D6E58}" type="datetimeFigureOut">
              <a:rPr lang="en-US" smtClean="0"/>
              <a:pPr eaLnBrk="1" latinLnBrk="0" hangingPunct="1"/>
              <a:t>9/17/2026</a:t>
            </a:fld>
            <a:endParaRPr lang="en-US"/>
          </a:p>
        </p:txBody>
      </p:sp>
      <p:sp>
        <p:nvSpPr>
          <p:cNvPr id="8" name="Footer Placeholder 7"/>
          <p:cNvSpPr>
            <a:spLocks noGrp="1"/>
          </p:cNvSpPr>
          <p:nvPr>
            <p:ph type="ftr" sz="quarter" idx="11"/>
          </p:nvPr>
        </p:nvSpPr>
        <p:spPr>
          <a:xfrm>
            <a:off x="830481" y="6006163"/>
            <a:ext cx="3588153" cy="345009"/>
          </a:xfrm>
          <a:prstGeom prst="rect">
            <a:avLst/>
          </a:prstGeom>
        </p:spPr>
        <p:txBody>
          <a:bodyPr lIns="91432" tIns="45716" rIns="91432" bIns="45716"/>
          <a:lstStyle/>
          <a:p>
            <a:endParaRPr kumimoji="0" lang="en-US"/>
          </a:p>
        </p:txBody>
      </p:sp>
      <p:sp>
        <p:nvSpPr>
          <p:cNvPr id="9" name="Slide Number Placeholder 8"/>
          <p:cNvSpPr>
            <a:spLocks noGrp="1"/>
          </p:cNvSpPr>
          <p:nvPr>
            <p:ph type="sldNum" sz="quarter" idx="12"/>
          </p:nvPr>
        </p:nvSpPr>
        <p:spPr>
          <a:xfrm>
            <a:off x="10763643" y="6006163"/>
            <a:ext cx="708031" cy="345009"/>
          </a:xfrm>
          <a:prstGeom prst="rect">
            <a:avLst/>
          </a:prstGeom>
        </p:spPr>
        <p:txBody>
          <a:bodyPr lIns="91432" tIns="45716" rIns="91432" bIns="45716"/>
          <a:lstStyle/>
          <a:p>
            <a:fld id="{D5BBC35B-A44B-4119-B8DA-DE9E3DFADA20}" type="slidenum">
              <a:rPr kumimoji="0" lang="en-US" smtClean="0"/>
              <a:pPr eaLnBrk="1" latinLnBrk="0" hangingPunct="1"/>
              <a:t>‹#›</a:t>
            </a:fld>
            <a:endParaRPr kumimoji="0" lang="en-US"/>
          </a:p>
        </p:txBody>
      </p:sp>
      <p:sp>
        <p:nvSpPr>
          <p:cNvPr id="11" name="Content Placeholder 10"/>
          <p:cNvSpPr>
            <a:spLocks noGrp="1"/>
          </p:cNvSpPr>
          <p:nvPr>
            <p:ph sz="quarter" idx="13"/>
          </p:nvPr>
        </p:nvSpPr>
        <p:spPr>
          <a:xfrm>
            <a:off x="576024" y="2090937"/>
            <a:ext cx="5092056" cy="3698020"/>
          </a:xfrm>
          <a:prstGeom prst="rect">
            <a:avLst/>
          </a:prstGeom>
        </p:spPr>
        <p:txBody>
          <a:bodyPr lIns="91432" tIns="45716" rIns="91432" bIns="45716"/>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13" name="Content Placeholder 12"/>
          <p:cNvSpPr>
            <a:spLocks noGrp="1"/>
          </p:cNvSpPr>
          <p:nvPr>
            <p:ph sz="quarter" idx="14"/>
          </p:nvPr>
        </p:nvSpPr>
        <p:spPr>
          <a:xfrm>
            <a:off x="5886969" y="2090937"/>
            <a:ext cx="5092056" cy="3697599"/>
          </a:xfrm>
          <a:prstGeom prst="rect">
            <a:avLst/>
          </a:prstGeom>
        </p:spPr>
        <p:txBody>
          <a:bodyPr lIns="91432" tIns="45716" rIns="91432" bIns="45716"/>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76030" y="5"/>
            <a:ext cx="10368439" cy="1512041"/>
          </a:xfrm>
          <a:prstGeom prst="rect">
            <a:avLst/>
          </a:prstGeom>
        </p:spPr>
        <p:txBody>
          <a:bodyPr lIns="91432" tIns="45716" rIns="91432" bIns="45716"/>
          <a:lstStyle/>
          <a:p>
            <a:r>
              <a:rPr lang="zh-CN" altLang="en-US"/>
              <a:t>单击此处编辑母版标题样式</a:t>
            </a:r>
            <a:endParaRPr lang="en-US" dirty="0"/>
          </a:p>
        </p:txBody>
      </p:sp>
      <p:sp>
        <p:nvSpPr>
          <p:cNvPr id="3" name="Date Placeholder 2"/>
          <p:cNvSpPr>
            <a:spLocks noGrp="1"/>
          </p:cNvSpPr>
          <p:nvPr>
            <p:ph type="dt" sz="half" idx="10"/>
          </p:nvPr>
        </p:nvSpPr>
        <p:spPr>
          <a:xfrm>
            <a:off x="8017158" y="6006163"/>
            <a:ext cx="2628111" cy="345009"/>
          </a:xfrm>
          <a:prstGeom prst="rect">
            <a:avLst/>
          </a:prstGeom>
        </p:spPr>
        <p:txBody>
          <a:bodyPr lIns="91432" tIns="45716" rIns="91432" bIns="45716"/>
          <a:lstStyle/>
          <a:p>
            <a:pPr eaLnBrk="1" latinLnBrk="0" hangingPunct="1"/>
            <a:fld id="{544213AF-26F6-41FA-8D85-E2C5388D6E58}" type="datetimeFigureOut">
              <a:rPr lang="en-US" smtClean="0"/>
              <a:pPr eaLnBrk="1" latinLnBrk="0" hangingPunct="1"/>
              <a:t>9/17/2026</a:t>
            </a:fld>
            <a:endParaRPr lang="en-US"/>
          </a:p>
        </p:txBody>
      </p:sp>
      <p:sp>
        <p:nvSpPr>
          <p:cNvPr id="4" name="Footer Placeholder 3"/>
          <p:cNvSpPr>
            <a:spLocks noGrp="1"/>
          </p:cNvSpPr>
          <p:nvPr>
            <p:ph type="ftr" sz="quarter" idx="11"/>
          </p:nvPr>
        </p:nvSpPr>
        <p:spPr>
          <a:xfrm>
            <a:off x="830481" y="6006163"/>
            <a:ext cx="3588153" cy="345009"/>
          </a:xfrm>
          <a:prstGeom prst="rect">
            <a:avLst/>
          </a:prstGeom>
        </p:spPr>
        <p:txBody>
          <a:bodyPr lIns="91432" tIns="45716" rIns="91432" bIns="45716"/>
          <a:lstStyle/>
          <a:p>
            <a:endParaRPr kumimoji="0" lang="en-US"/>
          </a:p>
        </p:txBody>
      </p:sp>
      <p:sp>
        <p:nvSpPr>
          <p:cNvPr id="5" name="Slide Number Placeholder 4"/>
          <p:cNvSpPr>
            <a:spLocks noGrp="1"/>
          </p:cNvSpPr>
          <p:nvPr>
            <p:ph type="sldNum" sz="quarter" idx="12"/>
          </p:nvPr>
        </p:nvSpPr>
        <p:spPr>
          <a:xfrm>
            <a:off x="10763643" y="6006163"/>
            <a:ext cx="708031" cy="345009"/>
          </a:xfrm>
          <a:prstGeom prst="rect">
            <a:avLst/>
          </a:prstGeom>
        </p:spPr>
        <p:txBody>
          <a:bodyPr lIns="91432" tIns="45716" rIns="91432" bIns="45716"/>
          <a:lstStyle/>
          <a:p>
            <a:fld id="{D5BBC35B-A44B-4119-B8DA-DE9E3DFADA20}" type="slidenum">
              <a:rPr kumimoji="0" lang="en-US" smtClean="0"/>
              <a:pPr eaLnBrk="1" latinLnBrk="0" hangingPunct="1"/>
              <a:t>‹#›</a:t>
            </a:fld>
            <a:endParaRPr kumimoji="0" lang="en-US"/>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7442318" y="252007"/>
            <a:ext cx="3790161" cy="1980053"/>
          </a:xfrm>
          <a:prstGeom prst="rect">
            <a:avLst/>
          </a:prstGeom>
        </p:spPr>
        <p:txBody>
          <a:bodyPr lIns="91432" tIns="45716" rIns="91432" bIns="45716" anchor="b"/>
          <a:lstStyle>
            <a:lvl1pPr algn="ctr">
              <a:lnSpc>
                <a:spcPct val="100000"/>
              </a:lnSpc>
              <a:defRPr sz="2800" b="0">
                <a:effectLst>
                  <a:outerShdw blurRad="50800" dist="25400" dir="5400000" algn="t" rotWithShape="0">
                    <a:prstClr val="black">
                      <a:alpha val="25000"/>
                    </a:prstClr>
                  </a:outerShdw>
                </a:effectLst>
              </a:defRPr>
            </a:lvl1pPr>
          </a:lstStyle>
          <a:p>
            <a:r>
              <a:rPr lang="zh-CN" altLang="en-US"/>
              <a:t>单击此处编辑母版标题样式</a:t>
            </a:r>
            <a:endParaRPr lang="en-US" dirty="0"/>
          </a:p>
        </p:txBody>
      </p:sp>
      <p:sp>
        <p:nvSpPr>
          <p:cNvPr id="3" name="Content Placeholder 2"/>
          <p:cNvSpPr>
            <a:spLocks noGrp="1"/>
          </p:cNvSpPr>
          <p:nvPr>
            <p:ph idx="1"/>
          </p:nvPr>
        </p:nvSpPr>
        <p:spPr>
          <a:xfrm>
            <a:off x="906042" y="258007"/>
            <a:ext cx="6294268" cy="5530650"/>
          </a:xfrm>
          <a:prstGeom prst="rect">
            <a:avLst/>
          </a:prstGeom>
        </p:spPr>
        <p:txBody>
          <a:bodyPr lIns="91432" tIns="45716" rIns="91432" bIns="45716"/>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7442318" y="2304063"/>
            <a:ext cx="3790161" cy="3484594"/>
          </a:xfrm>
          <a:prstGeom prst="rect">
            <a:avLst/>
          </a:prstGeom>
        </p:spPr>
        <p:txBody>
          <a:bodyPr lIns="91432" tIns="45716" rIns="91432" bIns="45716">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a:xfrm>
            <a:off x="8017158" y="6006163"/>
            <a:ext cx="2628111" cy="345009"/>
          </a:xfrm>
          <a:prstGeom prst="rect">
            <a:avLst/>
          </a:prstGeom>
        </p:spPr>
        <p:txBody>
          <a:bodyPr lIns="91432" tIns="45716" rIns="91432" bIns="45716"/>
          <a:lstStyle/>
          <a:p>
            <a:pPr eaLnBrk="1" latinLnBrk="0" hangingPunct="1"/>
            <a:fld id="{544213AF-26F6-41FA-8D85-E2C5388D6E58}" type="datetimeFigureOut">
              <a:rPr lang="en-US" smtClean="0"/>
              <a:pPr eaLnBrk="1" latinLnBrk="0" hangingPunct="1"/>
              <a:t>9/17/2026</a:t>
            </a:fld>
            <a:endParaRPr lang="en-US"/>
          </a:p>
        </p:txBody>
      </p:sp>
      <p:sp>
        <p:nvSpPr>
          <p:cNvPr id="6" name="Footer Placeholder 5"/>
          <p:cNvSpPr>
            <a:spLocks noGrp="1"/>
          </p:cNvSpPr>
          <p:nvPr>
            <p:ph type="ftr" sz="quarter" idx="11"/>
          </p:nvPr>
        </p:nvSpPr>
        <p:spPr>
          <a:xfrm>
            <a:off x="830481" y="6006163"/>
            <a:ext cx="3588153" cy="345009"/>
          </a:xfrm>
          <a:prstGeom prst="rect">
            <a:avLst/>
          </a:prstGeom>
        </p:spPr>
        <p:txBody>
          <a:bodyPr lIns="91432" tIns="45716" rIns="91432" bIns="45716"/>
          <a:lstStyle/>
          <a:p>
            <a:endParaRPr kumimoji="0" lang="en-US"/>
          </a:p>
        </p:txBody>
      </p:sp>
      <p:sp>
        <p:nvSpPr>
          <p:cNvPr id="7" name="Slide Number Placeholder 6"/>
          <p:cNvSpPr>
            <a:spLocks noGrp="1"/>
          </p:cNvSpPr>
          <p:nvPr>
            <p:ph type="sldNum" sz="quarter" idx="12"/>
          </p:nvPr>
        </p:nvSpPr>
        <p:spPr>
          <a:xfrm>
            <a:off x="10763643" y="6006163"/>
            <a:ext cx="708031" cy="345009"/>
          </a:xfrm>
          <a:prstGeom prst="rect">
            <a:avLst/>
          </a:prstGeom>
        </p:spPr>
        <p:txBody>
          <a:bodyPr lIns="91432" tIns="45716" rIns="91432" bIns="45716"/>
          <a:lstStyle/>
          <a:p>
            <a:fld id="{D5BBC35B-A44B-4119-B8DA-DE9E3DFADA20}" type="slidenum">
              <a:rPr kumimoji="0" lang="en-US" smtClean="0"/>
              <a:pPr eaLnBrk="1" latinLnBrk="0" hangingPunct="1"/>
              <a:t>‹#›</a:t>
            </a:fld>
            <a:endParaRPr kumimoji="0" lang="en-US"/>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2116091" y="216006"/>
            <a:ext cx="7196304" cy="846023"/>
          </a:xfrm>
          <a:prstGeom prst="rect">
            <a:avLst/>
          </a:prstGeom>
        </p:spPr>
        <p:txBody>
          <a:bodyPr lIns="91432" tIns="45716" rIns="91432" bIns="45716" anchor="b"/>
          <a:lstStyle>
            <a:lvl1pPr algn="ctr">
              <a:lnSpc>
                <a:spcPct val="100000"/>
              </a:lnSpc>
              <a:defRPr sz="2800" b="0"/>
            </a:lvl1pPr>
          </a:lstStyle>
          <a:p>
            <a:r>
              <a:rPr lang="zh-CN" altLang="en-US"/>
              <a:t>单击此处编辑母版标题样式</a:t>
            </a:r>
            <a:endParaRPr lang="en-US" dirty="0"/>
          </a:p>
        </p:txBody>
      </p:sp>
      <p:sp>
        <p:nvSpPr>
          <p:cNvPr id="3" name="Picture Placeholder 2"/>
          <p:cNvSpPr>
            <a:spLocks noGrp="1"/>
          </p:cNvSpPr>
          <p:nvPr>
            <p:ph type="pic" idx="1"/>
          </p:nvPr>
        </p:nvSpPr>
        <p:spPr>
          <a:xfrm>
            <a:off x="1900086" y="1080031"/>
            <a:ext cx="7628321" cy="4290865"/>
          </a:xfrm>
          <a:prstGeom prst="rect">
            <a:avLst/>
          </a:prstGeom>
          <a:ln w="76200">
            <a:solidFill>
              <a:schemeClr val="bg1"/>
            </a:solidFill>
          </a:ln>
          <a:effectLst>
            <a:outerShdw blurRad="88900" dist="50800" dir="5400000" algn="ctr" rotWithShape="0">
              <a:srgbClr val="000000">
                <a:alpha val="25000"/>
              </a:srgbClr>
            </a:outerShdw>
          </a:effectLst>
        </p:spPr>
        <p:txBody>
          <a:bodyPr lIns="91432" tIns="45716" rIns="91432" bIns="45716"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2116091" y="5490149"/>
            <a:ext cx="7196304" cy="504014"/>
          </a:xfrm>
          <a:prstGeom prst="rect">
            <a:avLst/>
          </a:prstGeom>
        </p:spPr>
        <p:txBody>
          <a:bodyPr lIns="91432" tIns="45716" rIns="91432" bIns="45716">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a:xfrm>
            <a:off x="8017158" y="6006163"/>
            <a:ext cx="2628111" cy="345009"/>
          </a:xfrm>
          <a:prstGeom prst="rect">
            <a:avLst/>
          </a:prstGeom>
        </p:spPr>
        <p:txBody>
          <a:bodyPr lIns="91432" tIns="45716" rIns="91432" bIns="45716"/>
          <a:lstStyle/>
          <a:p>
            <a:pPr eaLnBrk="1" latinLnBrk="0" hangingPunct="1"/>
            <a:fld id="{544213AF-26F6-41FA-8D85-E2C5388D6E58}" type="datetimeFigureOut">
              <a:rPr lang="en-US" smtClean="0"/>
              <a:pPr eaLnBrk="1" latinLnBrk="0" hangingPunct="1"/>
              <a:t>9/17/2026</a:t>
            </a:fld>
            <a:endParaRPr lang="en-US">
              <a:solidFill>
                <a:schemeClr val="tx1"/>
              </a:solidFill>
            </a:endParaRPr>
          </a:p>
        </p:txBody>
      </p:sp>
      <p:sp>
        <p:nvSpPr>
          <p:cNvPr id="6" name="Footer Placeholder 5"/>
          <p:cNvSpPr>
            <a:spLocks noGrp="1"/>
          </p:cNvSpPr>
          <p:nvPr>
            <p:ph type="ftr" sz="quarter" idx="11"/>
          </p:nvPr>
        </p:nvSpPr>
        <p:spPr>
          <a:xfrm>
            <a:off x="830481" y="6006163"/>
            <a:ext cx="3588153" cy="345009"/>
          </a:xfrm>
          <a:prstGeom prst="rect">
            <a:avLst/>
          </a:prstGeom>
        </p:spPr>
        <p:txBody>
          <a:bodyPr lIns="91432" tIns="45716" rIns="91432" bIns="45716"/>
          <a:lstStyle/>
          <a:p>
            <a:endParaRPr kumimoji="0" lang="en-US">
              <a:solidFill>
                <a:schemeClr val="tx1"/>
              </a:solidFill>
            </a:endParaRPr>
          </a:p>
        </p:txBody>
      </p:sp>
      <p:sp>
        <p:nvSpPr>
          <p:cNvPr id="7" name="Slide Number Placeholder 6"/>
          <p:cNvSpPr>
            <a:spLocks noGrp="1"/>
          </p:cNvSpPr>
          <p:nvPr>
            <p:ph type="sldNum" sz="quarter" idx="12"/>
          </p:nvPr>
        </p:nvSpPr>
        <p:spPr>
          <a:xfrm>
            <a:off x="10763643" y="6006163"/>
            <a:ext cx="708031" cy="345009"/>
          </a:xfrm>
          <a:prstGeom prst="rect">
            <a:avLst/>
          </a:prstGeom>
        </p:spPr>
        <p:txBody>
          <a:bodyPr lIns="91432" tIns="45716" rIns="91432" bIns="45716"/>
          <a:lstStyle/>
          <a:p>
            <a:fld id="{D5BBC35B-A44B-4119-B8DA-DE9E3DFADA20}" type="slidenum">
              <a:rPr kumimoji="0" lang="en-US" smtClean="0"/>
              <a:pPr eaLnBrk="1" latinLnBrk="0" hangingPunct="1"/>
              <a:t>‹#›</a:t>
            </a:fld>
            <a:endParaRPr kumimoji="0" lang="en-US">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a:xfrm>
            <a:off x="576030" y="5"/>
            <a:ext cx="10368439" cy="1512041"/>
          </a:xfrm>
          <a:prstGeom prst="rect">
            <a:avLst/>
          </a:prstGeom>
        </p:spPr>
        <p:txBody>
          <a:bodyPr lIns="91432" tIns="45716" rIns="91432" bIns="45716"/>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76030" y="1512041"/>
            <a:ext cx="10368439" cy="4276616"/>
          </a:xfrm>
          <a:prstGeom prst="rect">
            <a:avLst/>
          </a:prstGeom>
        </p:spPr>
        <p:txBody>
          <a:bodyPr vert="eaVert" lIns="91432" tIns="45716" rIns="91432" bIns="45716"/>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a:xfrm>
            <a:off x="8017158" y="6006163"/>
            <a:ext cx="2628111" cy="345009"/>
          </a:xfrm>
          <a:prstGeom prst="rect">
            <a:avLst/>
          </a:prstGeom>
        </p:spPr>
        <p:txBody>
          <a:bodyPr lIns="91432" tIns="45716" rIns="91432" bIns="45716"/>
          <a:lstStyle/>
          <a:p>
            <a:pPr eaLnBrk="1" latinLnBrk="0" hangingPunct="1"/>
            <a:fld id="{544213AF-26F6-41FA-8D85-E2C5388D6E58}" type="datetimeFigureOut">
              <a:rPr lang="en-US" smtClean="0"/>
              <a:pPr eaLnBrk="1" latinLnBrk="0" hangingPunct="1"/>
              <a:t>9/17/2026</a:t>
            </a:fld>
            <a:endParaRPr lang="en-US"/>
          </a:p>
        </p:txBody>
      </p:sp>
      <p:sp>
        <p:nvSpPr>
          <p:cNvPr id="5" name="Footer Placeholder 4"/>
          <p:cNvSpPr>
            <a:spLocks noGrp="1"/>
          </p:cNvSpPr>
          <p:nvPr>
            <p:ph type="ftr" sz="quarter" idx="11"/>
          </p:nvPr>
        </p:nvSpPr>
        <p:spPr>
          <a:xfrm>
            <a:off x="830481" y="6006163"/>
            <a:ext cx="3588153" cy="345009"/>
          </a:xfrm>
          <a:prstGeom prst="rect">
            <a:avLst/>
          </a:prstGeom>
        </p:spPr>
        <p:txBody>
          <a:bodyPr lIns="91432" tIns="45716" rIns="91432" bIns="45716"/>
          <a:lstStyle/>
          <a:p>
            <a:endParaRPr kumimoji="0" lang="en-US"/>
          </a:p>
        </p:txBody>
      </p:sp>
      <p:sp>
        <p:nvSpPr>
          <p:cNvPr id="6" name="Slide Number Placeholder 5"/>
          <p:cNvSpPr>
            <a:spLocks noGrp="1"/>
          </p:cNvSpPr>
          <p:nvPr>
            <p:ph type="sldNum" sz="quarter" idx="12"/>
          </p:nvPr>
        </p:nvSpPr>
        <p:spPr>
          <a:xfrm>
            <a:off x="10763643" y="6006163"/>
            <a:ext cx="708031" cy="345009"/>
          </a:xfrm>
          <a:prstGeom prst="rect">
            <a:avLst/>
          </a:prstGeom>
        </p:spPr>
        <p:txBody>
          <a:bodyPr lIns="91432" tIns="45716" rIns="91432" bIns="45716"/>
          <a:lstStyle/>
          <a:p>
            <a:fld id="{D5BBC35B-A44B-4119-B8DA-DE9E3DFADA20}" type="slidenum">
              <a:rPr kumimoji="0" lang="en-US" smtClean="0"/>
              <a:pPr eaLnBrk="1" latinLnBrk="0" hangingPunct="1"/>
              <a:t>‹#›</a:t>
            </a:fld>
            <a:endParaRPr kumimoji="0" lang="en-US"/>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52356" y="259510"/>
            <a:ext cx="2592109" cy="5529150"/>
          </a:xfrm>
          <a:prstGeom prst="rect">
            <a:avLst/>
          </a:prstGeom>
        </p:spPr>
        <p:txBody>
          <a:bodyPr vert="eaVert" lIns="91432" tIns="45716" rIns="91432" bIns="45716"/>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76029" y="259510"/>
            <a:ext cx="7584321" cy="5529150"/>
          </a:xfrm>
          <a:prstGeom prst="rect">
            <a:avLst/>
          </a:prstGeom>
        </p:spPr>
        <p:txBody>
          <a:bodyPr vert="eaVert" lIns="91432" tIns="45716" rIns="91432" bIns="45716"/>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a:xfrm>
            <a:off x="8017158" y="6006163"/>
            <a:ext cx="2628111" cy="345009"/>
          </a:xfrm>
          <a:prstGeom prst="rect">
            <a:avLst/>
          </a:prstGeom>
        </p:spPr>
        <p:txBody>
          <a:bodyPr lIns="91432" tIns="45716" rIns="91432" bIns="45716"/>
          <a:lstStyle/>
          <a:p>
            <a:pPr eaLnBrk="1" latinLnBrk="0" hangingPunct="1"/>
            <a:fld id="{544213AF-26F6-41FA-8D85-E2C5388D6E58}" type="datetimeFigureOut">
              <a:rPr lang="en-US" smtClean="0"/>
              <a:pPr eaLnBrk="1" latinLnBrk="0" hangingPunct="1"/>
              <a:t>9/17/2026</a:t>
            </a:fld>
            <a:endParaRPr lang="en-US"/>
          </a:p>
        </p:txBody>
      </p:sp>
      <p:sp>
        <p:nvSpPr>
          <p:cNvPr id="5" name="Footer Placeholder 4"/>
          <p:cNvSpPr>
            <a:spLocks noGrp="1"/>
          </p:cNvSpPr>
          <p:nvPr>
            <p:ph type="ftr" sz="quarter" idx="11"/>
          </p:nvPr>
        </p:nvSpPr>
        <p:spPr>
          <a:xfrm>
            <a:off x="830481" y="6006163"/>
            <a:ext cx="3588153" cy="345009"/>
          </a:xfrm>
          <a:prstGeom prst="rect">
            <a:avLst/>
          </a:prstGeom>
        </p:spPr>
        <p:txBody>
          <a:bodyPr lIns="91432" tIns="45716" rIns="91432" bIns="45716"/>
          <a:lstStyle/>
          <a:p>
            <a:endParaRPr kumimoji="0" lang="en-US"/>
          </a:p>
        </p:txBody>
      </p:sp>
      <p:sp>
        <p:nvSpPr>
          <p:cNvPr id="6" name="Slide Number Placeholder 5"/>
          <p:cNvSpPr>
            <a:spLocks noGrp="1"/>
          </p:cNvSpPr>
          <p:nvPr>
            <p:ph type="sldNum" sz="quarter" idx="12"/>
          </p:nvPr>
        </p:nvSpPr>
        <p:spPr>
          <a:xfrm>
            <a:off x="10763643" y="6006163"/>
            <a:ext cx="708031" cy="345009"/>
          </a:xfrm>
          <a:prstGeom prst="rect">
            <a:avLst/>
          </a:prstGeom>
        </p:spPr>
        <p:txBody>
          <a:bodyPr lIns="91432" tIns="45716" rIns="91432" bIns="45716"/>
          <a:lstStyle/>
          <a:p>
            <a:fld id="{D5BBC35B-A44B-4119-B8DA-DE9E3DFADA20}" type="slidenum">
              <a:rPr kumimoji="0" lang="en-US" smtClean="0"/>
              <a:pPr eaLnBrk="1" latinLnBrk="0" hangingPunct="1"/>
              <a:t>‹#›</a:t>
            </a:fld>
            <a:endParaRPr kumimoji="0" lang="en-US"/>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内容与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5894246"/>
      </p:ext>
    </p:extLst>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5995399"/>
      </p:ext>
    </p:extLst>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5_标题和内容">
    <p:spTree>
      <p:nvGrpSpPr>
        <p:cNvPr id="1" name=""/>
        <p:cNvGrpSpPr/>
        <p:nvPr/>
      </p:nvGrpSpPr>
      <p:grpSpPr>
        <a:xfrm>
          <a:off x="0" y="0"/>
          <a:ext cx="0" cy="0"/>
          <a:chOff x="0" y="0"/>
          <a:chExt cx="0" cy="0"/>
        </a:xfrm>
      </p:grpSpPr>
      <p:grpSp>
        <p:nvGrpSpPr>
          <p:cNvPr id="3" name="组合 1"/>
          <p:cNvGrpSpPr>
            <a:grpSpLocks/>
          </p:cNvGrpSpPr>
          <p:nvPr userDrawn="1"/>
        </p:nvGrpSpPr>
        <p:grpSpPr bwMode="auto">
          <a:xfrm>
            <a:off x="319724" y="-25119"/>
            <a:ext cx="850160" cy="748278"/>
            <a:chOff x="2506532" y="465192"/>
            <a:chExt cx="675190" cy="593837"/>
          </a:xfrm>
        </p:grpSpPr>
        <p:sp>
          <p:nvSpPr>
            <p:cNvPr id="4" name="文本框 2"/>
            <p:cNvSpPr txBox="1">
              <a:spLocks noChangeArrowheads="1"/>
            </p:cNvSpPr>
            <p:nvPr/>
          </p:nvSpPr>
          <p:spPr bwMode="auto">
            <a:xfrm>
              <a:off x="2506532" y="465192"/>
              <a:ext cx="236653" cy="512932"/>
            </a:xfrm>
            <a:prstGeom prst="rect">
              <a:avLst/>
            </a:prstGeom>
            <a:noFill/>
            <a:ln w="9525">
              <a:noFill/>
              <a:miter lim="800000"/>
              <a:headEnd/>
              <a:tailEnd/>
            </a:ln>
          </p:spPr>
          <p:txBody>
            <a:bodyPr>
              <a:spAutoFit/>
            </a:bodyPr>
            <a:lstStyle/>
            <a:p>
              <a:r>
                <a:rPr lang="en-US" altLang="zh-CN" sz="3600" dirty="0">
                  <a:solidFill>
                    <a:srgbClr val="005292"/>
                  </a:solidFill>
                  <a:latin typeface="Impact" pitchFamily="34" charset="0"/>
                </a:rPr>
                <a:t>4</a:t>
              </a:r>
              <a:endParaRPr lang="zh-CN" altLang="en-US" sz="3600" dirty="0">
                <a:solidFill>
                  <a:srgbClr val="005292"/>
                </a:solidFill>
                <a:latin typeface="Impact" pitchFamily="34" charset="0"/>
              </a:endParaRPr>
            </a:p>
          </p:txBody>
        </p:sp>
        <p:cxnSp>
          <p:nvCxnSpPr>
            <p:cNvPr id="7" name="直接连接符 6"/>
            <p:cNvCxnSpPr/>
            <p:nvPr/>
          </p:nvCxnSpPr>
          <p:spPr>
            <a:xfrm flipH="1">
              <a:off x="2722573" y="599954"/>
              <a:ext cx="459149" cy="459075"/>
            </a:xfrm>
            <a:prstGeom prst="line">
              <a:avLst/>
            </a:prstGeom>
            <a:ln w="28575">
              <a:solidFill>
                <a:srgbClr val="005292"/>
              </a:solidFill>
            </a:ln>
          </p:spPr>
          <p:style>
            <a:lnRef idx="1">
              <a:schemeClr val="accent1"/>
            </a:lnRef>
            <a:fillRef idx="0">
              <a:schemeClr val="accent1"/>
            </a:fillRef>
            <a:effectRef idx="0">
              <a:schemeClr val="accent1"/>
            </a:effectRef>
            <a:fontRef idx="minor">
              <a:schemeClr val="tx1"/>
            </a:fontRef>
          </p:style>
        </p:cxnSp>
      </p:grpSp>
      <p:sp>
        <p:nvSpPr>
          <p:cNvPr id="8" name="矩形 7"/>
          <p:cNvSpPr/>
          <p:nvPr userDrawn="1"/>
        </p:nvSpPr>
        <p:spPr>
          <a:xfrm>
            <a:off x="3" y="720834"/>
            <a:ext cx="11512992" cy="43190"/>
          </a:xfrm>
          <a:prstGeom prst="rect">
            <a:avLst/>
          </a:prstGeom>
          <a:solidFill>
            <a:srgbClr val="005292"/>
          </a:solidFill>
          <a:ln>
            <a:solidFill>
              <a:srgbClr val="005292"/>
            </a:solidFill>
          </a:ln>
        </p:spPr>
        <p:style>
          <a:lnRef idx="2">
            <a:schemeClr val="accent1">
              <a:shade val="50000"/>
            </a:schemeClr>
          </a:lnRef>
          <a:fillRef idx="1">
            <a:schemeClr val="accent1"/>
          </a:fillRef>
          <a:effectRef idx="0">
            <a:schemeClr val="accent1"/>
          </a:effectRef>
          <a:fontRef idx="minor">
            <a:schemeClr val="lt1"/>
          </a:fontRef>
        </p:style>
        <p:txBody>
          <a:bodyPr lIns="91429" tIns="45714" rIns="91429" bIns="45714" anchor="ctr"/>
          <a:lstStyle/>
          <a:p>
            <a:pPr algn="ctr" fontAlgn="auto">
              <a:spcBef>
                <a:spcPts val="0"/>
              </a:spcBef>
              <a:spcAft>
                <a:spcPts val="0"/>
              </a:spcAft>
              <a:defRPr/>
            </a:pPr>
            <a:endParaRPr lang="zh-CN" altLang="en-US"/>
          </a:p>
        </p:txBody>
      </p:sp>
    </p:spTree>
    <p:extLst>
      <p:ext uri="{BB962C8B-B14F-4D97-AF65-F5344CB8AC3E}">
        <p14:creationId xmlns:p14="http://schemas.microsoft.com/office/powerpoint/2010/main" val="268023665"/>
      </p:ext>
    </p:extLst>
  </p:cSld>
  <p:clrMapOvr>
    <a:masterClrMapping/>
  </p:clrMapOvr>
  <p:transition spd="med" advTm="0">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6_标题和内容">
    <p:spTree>
      <p:nvGrpSpPr>
        <p:cNvPr id="1" name=""/>
        <p:cNvGrpSpPr/>
        <p:nvPr/>
      </p:nvGrpSpPr>
      <p:grpSpPr>
        <a:xfrm>
          <a:off x="0" y="0"/>
          <a:ext cx="0" cy="0"/>
          <a:chOff x="0" y="0"/>
          <a:chExt cx="0" cy="0"/>
        </a:xfrm>
      </p:grpSpPr>
      <p:grpSp>
        <p:nvGrpSpPr>
          <p:cNvPr id="3" name="组合 1"/>
          <p:cNvGrpSpPr>
            <a:grpSpLocks/>
          </p:cNvGrpSpPr>
          <p:nvPr userDrawn="1"/>
        </p:nvGrpSpPr>
        <p:grpSpPr bwMode="auto">
          <a:xfrm>
            <a:off x="319724" y="-25119"/>
            <a:ext cx="850160" cy="748278"/>
            <a:chOff x="2506532" y="465192"/>
            <a:chExt cx="675190" cy="593837"/>
          </a:xfrm>
        </p:grpSpPr>
        <p:sp>
          <p:nvSpPr>
            <p:cNvPr id="4" name="文本框 2"/>
            <p:cNvSpPr txBox="1">
              <a:spLocks noChangeArrowheads="1"/>
            </p:cNvSpPr>
            <p:nvPr/>
          </p:nvSpPr>
          <p:spPr bwMode="auto">
            <a:xfrm>
              <a:off x="2506532" y="465192"/>
              <a:ext cx="236653" cy="512932"/>
            </a:xfrm>
            <a:prstGeom prst="rect">
              <a:avLst/>
            </a:prstGeom>
            <a:noFill/>
            <a:ln w="9525">
              <a:noFill/>
              <a:miter lim="800000"/>
              <a:headEnd/>
              <a:tailEnd/>
            </a:ln>
          </p:spPr>
          <p:txBody>
            <a:bodyPr>
              <a:spAutoFit/>
            </a:bodyPr>
            <a:lstStyle/>
            <a:p>
              <a:r>
                <a:rPr lang="en-US" altLang="zh-CN" sz="3600" dirty="0">
                  <a:solidFill>
                    <a:srgbClr val="005292"/>
                  </a:solidFill>
                  <a:latin typeface="Impact" pitchFamily="34" charset="0"/>
                </a:rPr>
                <a:t>5</a:t>
              </a:r>
              <a:endParaRPr lang="zh-CN" altLang="en-US" sz="3600" dirty="0">
                <a:solidFill>
                  <a:srgbClr val="005292"/>
                </a:solidFill>
                <a:latin typeface="Impact" pitchFamily="34" charset="0"/>
              </a:endParaRPr>
            </a:p>
          </p:txBody>
        </p:sp>
        <p:cxnSp>
          <p:nvCxnSpPr>
            <p:cNvPr id="7" name="直接连接符 6"/>
            <p:cNvCxnSpPr/>
            <p:nvPr/>
          </p:nvCxnSpPr>
          <p:spPr>
            <a:xfrm flipH="1">
              <a:off x="2722573" y="599954"/>
              <a:ext cx="459149" cy="459075"/>
            </a:xfrm>
            <a:prstGeom prst="line">
              <a:avLst/>
            </a:prstGeom>
            <a:ln w="28575">
              <a:solidFill>
                <a:srgbClr val="005292"/>
              </a:solidFill>
            </a:ln>
          </p:spPr>
          <p:style>
            <a:lnRef idx="1">
              <a:schemeClr val="accent1"/>
            </a:lnRef>
            <a:fillRef idx="0">
              <a:schemeClr val="accent1"/>
            </a:fillRef>
            <a:effectRef idx="0">
              <a:schemeClr val="accent1"/>
            </a:effectRef>
            <a:fontRef idx="minor">
              <a:schemeClr val="tx1"/>
            </a:fontRef>
          </p:style>
        </p:cxnSp>
      </p:grpSp>
      <p:sp>
        <p:nvSpPr>
          <p:cNvPr id="8" name="矩形 7"/>
          <p:cNvSpPr/>
          <p:nvPr userDrawn="1"/>
        </p:nvSpPr>
        <p:spPr>
          <a:xfrm>
            <a:off x="3" y="720834"/>
            <a:ext cx="11512992" cy="43190"/>
          </a:xfrm>
          <a:prstGeom prst="rect">
            <a:avLst/>
          </a:prstGeom>
          <a:solidFill>
            <a:srgbClr val="005292"/>
          </a:solidFill>
          <a:ln>
            <a:solidFill>
              <a:srgbClr val="005292"/>
            </a:solidFill>
          </a:ln>
        </p:spPr>
        <p:style>
          <a:lnRef idx="2">
            <a:schemeClr val="accent1">
              <a:shade val="50000"/>
            </a:schemeClr>
          </a:lnRef>
          <a:fillRef idx="1">
            <a:schemeClr val="accent1"/>
          </a:fillRef>
          <a:effectRef idx="0">
            <a:schemeClr val="accent1"/>
          </a:effectRef>
          <a:fontRef idx="minor">
            <a:schemeClr val="lt1"/>
          </a:fontRef>
        </p:style>
        <p:txBody>
          <a:bodyPr lIns="91429" tIns="45714" rIns="91429" bIns="45714" anchor="ctr"/>
          <a:lstStyle/>
          <a:p>
            <a:pPr algn="ctr" fontAlgn="auto">
              <a:spcBef>
                <a:spcPts val="0"/>
              </a:spcBef>
              <a:spcAft>
                <a:spcPts val="0"/>
              </a:spcAft>
              <a:defRPr/>
            </a:pPr>
            <a:endParaRPr lang="zh-CN" altLang="en-US"/>
          </a:p>
        </p:txBody>
      </p:sp>
    </p:spTree>
    <p:extLst>
      <p:ext uri="{BB962C8B-B14F-4D97-AF65-F5344CB8AC3E}">
        <p14:creationId xmlns:p14="http://schemas.microsoft.com/office/powerpoint/2010/main" val="464757093"/>
      </p:ext>
    </p:extLst>
  </p:cSld>
  <p:clrMapOvr>
    <a:masterClrMapping/>
  </p:clrMapOvr>
  <p:transition spd="med" advTm="0">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pic>
        <p:nvPicPr>
          <p:cNvPr id="10" name="Picture 2" descr="C:\Users\Administrator\Desktop\图片1.jpg"/>
          <p:cNvPicPr>
            <a:picLocks noChangeAspect="1" noChangeArrowheads="1"/>
          </p:cNvPicPr>
          <p:nvPr userDrawn="1"/>
        </p:nvPicPr>
        <p:blipFill>
          <a:blip r:embed="rId19">
            <a:extLst>
              <a:ext uri="{28A0092B-C50C-407E-A947-70E740481C1C}">
                <a14:useLocalDpi xmlns:a14="http://schemas.microsoft.com/office/drawing/2010/main" val="0"/>
              </a:ext>
            </a:extLst>
          </a:blip>
          <a:srcRect/>
          <a:stretch>
            <a:fillRect/>
          </a:stretch>
        </p:blipFill>
        <p:spPr bwMode="auto">
          <a:xfrm>
            <a:off x="11998" y="-4998"/>
            <a:ext cx="11508491" cy="6485173"/>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658" r:id="rId13"/>
    <p:sldLayoutId id="2147483700" r:id="rId14"/>
    <p:sldLayoutId id="2147483702" r:id="rId15"/>
    <p:sldLayoutId id="2147483704" r:id="rId16"/>
  </p:sldLayoutIdLst>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microsoft.com/office/2007/relationships/hdphoto" Target="../media/hdphoto1.wdp"/><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9.png"/><Relationship Id="rId7" Type="http://schemas.openxmlformats.org/officeDocument/2006/relationships/image" Target="../media/image12.jpe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9.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9.png"/><Relationship Id="rId7"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9.png"/><Relationship Id="rId7"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6.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6.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4.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807244" y="2349767"/>
            <a:ext cx="5760720" cy="1323439"/>
          </a:xfrm>
          <a:prstGeom prst="rect">
            <a:avLst/>
          </a:prstGeom>
          <a:noFill/>
        </p:spPr>
        <p:txBody>
          <a:bodyPr wrap="square" rtlCol="0">
            <a:spAutoFit/>
          </a:bodyPr>
          <a:lstStyle/>
          <a:p>
            <a:pPr algn="l"/>
            <a:r>
              <a:rPr lang="zh-CN" altLang="en-US" sz="4000" dirty="0">
                <a:solidFill>
                  <a:srgbClr val="0067B4"/>
                </a:solidFill>
                <a:latin typeface="微软雅黑" panose="020B0503020204020204" pitchFamily="34" charset="-122"/>
                <a:ea typeface="微软雅黑" panose="020B0503020204020204" pitchFamily="34" charset="-122"/>
              </a:rPr>
              <a:t>可见光红外融合的船舶</a:t>
            </a:r>
          </a:p>
          <a:p>
            <a:pPr algn="l"/>
            <a:r>
              <a:rPr lang="zh-CN" altLang="en-US" sz="4000" dirty="0">
                <a:solidFill>
                  <a:srgbClr val="0067B4"/>
                </a:solidFill>
                <a:latin typeface="微软雅黑" panose="020B0503020204020204" pitchFamily="34" charset="-122"/>
                <a:ea typeface="微软雅黑" panose="020B0503020204020204" pitchFamily="34" charset="-122"/>
              </a:rPr>
              <a:t>多目标跟踪算法研究</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0244" y="268287"/>
            <a:ext cx="6072642" cy="59436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36244" y="3011487"/>
            <a:ext cx="4953000" cy="49530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1490472" y="5120640"/>
            <a:ext cx="3507772" cy="584775"/>
          </a:xfrm>
          <a:prstGeom prst="rect">
            <a:avLst/>
          </a:prstGeom>
          <a:noFill/>
        </p:spPr>
        <p:txBody>
          <a:bodyPr wrap="square" rtlCol="0">
            <a:spAutoFit/>
          </a:bodyPr>
          <a:lstStyle/>
          <a:p>
            <a:pPr algn="l"/>
            <a:r>
              <a:rPr lang="zh-CN" altLang="en-US" sz="1600" dirty="0">
                <a:latin typeface="微软雅黑" panose="020B0503020204020204" pitchFamily="34" charset="-122"/>
                <a:ea typeface="微软雅黑" panose="020B0503020204020204" pitchFamily="34" charset="-122"/>
              </a:rPr>
              <a:t>专业：电子信息  ｜  导师：苏丽</a:t>
            </a:r>
          </a:p>
          <a:p>
            <a:pPr algn="l"/>
            <a:r>
              <a:rPr lang="zh-CN" altLang="en-US" sz="1600" dirty="0">
                <a:latin typeface="微软雅黑" panose="020B0503020204020204" pitchFamily="34" charset="-122"/>
                <a:ea typeface="微软雅黑" panose="020B0503020204020204" pitchFamily="34" charset="-122"/>
              </a:rPr>
              <a:t>汇报人：曹志博  ｜  2026 年 9 月</a:t>
            </a:r>
          </a:p>
        </p:txBody>
      </p:sp>
      <p:pic>
        <p:nvPicPr>
          <p:cNvPr id="5" name="图片 4">
            <a:extLst>
              <a:ext uri="{FF2B5EF4-FFF2-40B4-BE49-F238E27FC236}">
                <a16:creationId xmlns:a16="http://schemas.microsoft.com/office/drawing/2014/main" id="{FE2F7760-7E34-4588-A578-199FF7E56E4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9535824" y="2748251"/>
            <a:ext cx="1953419" cy="3057525"/>
          </a:xfrm>
          <a:prstGeom prst="rect">
            <a:avLst/>
          </a:prstGeom>
        </p:spPr>
      </p:pic>
      <p:pic>
        <p:nvPicPr>
          <p:cNvPr id="7" name="图片 6">
            <a:extLst>
              <a:ext uri="{FF2B5EF4-FFF2-40B4-BE49-F238E27FC236}">
                <a16:creationId xmlns:a16="http://schemas.microsoft.com/office/drawing/2014/main" id="{9E8F9693-A891-424B-A546-25FFB32F722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3844" y="285475"/>
            <a:ext cx="3048000" cy="914400"/>
          </a:xfrm>
          <a:prstGeom prst="rect">
            <a:avLst/>
          </a:prstGeom>
        </p:spPr>
      </p:pic>
    </p:spTree>
    <p:extLst>
      <p:ext uri="{BB962C8B-B14F-4D97-AF65-F5344CB8AC3E}">
        <p14:creationId xmlns:p14="http://schemas.microsoft.com/office/powerpoint/2010/main" val="25865841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6" name="Picture 2" descr="C:\Users\Administrator\Desktop\图片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6975" y="663575"/>
            <a:ext cx="9136064" cy="5149056"/>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a:extLst>
              <a:ext uri="{FF2B5EF4-FFF2-40B4-BE49-F238E27FC236}">
                <a16:creationId xmlns:a16="http://schemas.microsoft.com/office/drawing/2014/main" id="{326C8462-613A-46DC-B735-41CD468F0B5E}"/>
              </a:ext>
            </a:extLst>
          </p:cNvPr>
          <p:cNvPicPr>
            <a:picLocks noChangeAspect="1"/>
          </p:cNvPicPr>
          <p:nvPr/>
        </p:nvPicPr>
        <p:blipFill rotWithShape="1">
          <a:blip r:embed="rId4">
            <a:extLst>
              <a:ext uri="{28A0092B-C50C-407E-A947-70E740481C1C}">
                <a14:useLocalDpi xmlns:a14="http://schemas.microsoft.com/office/drawing/2010/main" val="0"/>
              </a:ext>
            </a:extLst>
          </a:blip>
          <a:srcRect t="-1" b="36605"/>
          <a:stretch/>
        </p:blipFill>
        <p:spPr>
          <a:xfrm>
            <a:off x="1264445" y="913637"/>
            <a:ext cx="8991598" cy="5566538"/>
          </a:xfrm>
          <a:prstGeom prst="rect">
            <a:avLst/>
          </a:prstGeom>
        </p:spPr>
      </p:pic>
      <p:sp>
        <p:nvSpPr>
          <p:cNvPr id="26" name="TextBox 25"/>
          <p:cNvSpPr txBox="1"/>
          <p:nvPr/>
        </p:nvSpPr>
        <p:spPr>
          <a:xfrm>
            <a:off x="2493167" y="954087"/>
            <a:ext cx="1159292" cy="677108"/>
          </a:xfrm>
          <a:prstGeom prst="rect">
            <a:avLst/>
          </a:prstGeom>
          <a:noFill/>
        </p:spPr>
        <p:txBody>
          <a:bodyPr wrap="none" rtlCol="0">
            <a:spAutoFit/>
          </a:bodyPr>
          <a:lstStyle/>
          <a:p>
            <a:pPr defTabSz="914492" fontAlgn="auto">
              <a:spcBef>
                <a:spcPts val="0"/>
              </a:spcBef>
              <a:spcAft>
                <a:spcPts val="0"/>
              </a:spcAft>
            </a:pPr>
            <a:r>
              <a:rPr lang="zh-CN" altLang="en-US" sz="3800" dirty="0">
                <a:solidFill>
                  <a:srgbClr val="0282D0"/>
                </a:solidFill>
                <a:latin typeface="微软雅黑" pitchFamily="34" charset="-122"/>
                <a:ea typeface="微软雅黑" pitchFamily="34" charset="-122"/>
              </a:rPr>
              <a:t>目录</a:t>
            </a:r>
          </a:p>
        </p:txBody>
      </p:sp>
      <p:sp>
        <p:nvSpPr>
          <p:cNvPr id="27" name="TextBox 26"/>
          <p:cNvSpPr txBox="1"/>
          <p:nvPr/>
        </p:nvSpPr>
        <p:spPr>
          <a:xfrm>
            <a:off x="2026447" y="1631195"/>
            <a:ext cx="2997615" cy="477054"/>
          </a:xfrm>
          <a:prstGeom prst="rect">
            <a:avLst/>
          </a:prstGeom>
          <a:noFill/>
        </p:spPr>
        <p:txBody>
          <a:bodyPr wrap="none" rtlCol="0">
            <a:spAutoFit/>
          </a:bodyPr>
          <a:lstStyle/>
          <a:p>
            <a:pPr defTabSz="914492" fontAlgn="auto">
              <a:spcBef>
                <a:spcPts val="0"/>
              </a:spcBef>
              <a:spcAft>
                <a:spcPts val="0"/>
              </a:spcAft>
            </a:pPr>
            <a:r>
              <a:rPr lang="en-US" altLang="zh-CN" sz="2500" dirty="0">
                <a:solidFill>
                  <a:schemeClr val="accent6">
                    <a:lumMod val="65000"/>
                  </a:schemeClr>
                </a:solidFill>
                <a:latin typeface="微软雅黑" pitchFamily="34" charset="-122"/>
                <a:ea typeface="微软雅黑" pitchFamily="34" charset="-122"/>
              </a:rPr>
              <a:t>PAGE DIRECTORY</a:t>
            </a:r>
            <a:endParaRPr lang="zh-CN" altLang="en-US" sz="2500" dirty="0">
              <a:solidFill>
                <a:schemeClr val="accent6">
                  <a:lumMod val="65000"/>
                </a:schemeClr>
              </a:solidFill>
              <a:latin typeface="微软雅黑" pitchFamily="34" charset="-122"/>
              <a:ea typeface="微软雅黑" pitchFamily="34" charset="-122"/>
            </a:endParaRPr>
          </a:p>
        </p:txBody>
      </p:sp>
      <p:sp>
        <p:nvSpPr>
          <p:cNvPr id="33" name="矩形 7"/>
          <p:cNvSpPr/>
          <p:nvPr/>
        </p:nvSpPr>
        <p:spPr>
          <a:xfrm>
            <a:off x="2829786" y="2313877"/>
            <a:ext cx="2997614" cy="524108"/>
          </a:xfrm>
          <a:custGeom>
            <a:avLst/>
            <a:gdLst>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0 w 4176464"/>
              <a:gd name="connsiteY4" fmla="*/ 0 h 620759"/>
              <a:gd name="connsiteX0" fmla="*/ 8404 w 4184868"/>
              <a:gd name="connsiteY0" fmla="*/ 0 h 620759"/>
              <a:gd name="connsiteX1" fmla="*/ 4184868 w 4184868"/>
              <a:gd name="connsiteY1" fmla="*/ 0 h 620759"/>
              <a:gd name="connsiteX2" fmla="*/ 4184868 w 4184868"/>
              <a:gd name="connsiteY2" fmla="*/ 620759 h 620759"/>
              <a:gd name="connsiteX3" fmla="*/ 8404 w 4184868"/>
              <a:gd name="connsiteY3" fmla="*/ 620759 h 620759"/>
              <a:gd name="connsiteX4" fmla="*/ 0 w 4184868"/>
              <a:gd name="connsiteY4" fmla="*/ 287258 h 620759"/>
              <a:gd name="connsiteX5" fmla="*/ 8404 w 4184868"/>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89716 w 4176464"/>
              <a:gd name="connsiteY4" fmla="*/ 28725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61141 w 4176464"/>
              <a:gd name="connsiteY4" fmla="*/ 30630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22392 w 4176464"/>
              <a:gd name="connsiteY4" fmla="*/ 306307 h 620759"/>
              <a:gd name="connsiteX5" fmla="*/ 0 w 4176464"/>
              <a:gd name="connsiteY5" fmla="*/ 0 h 620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6464" h="620759">
                <a:moveTo>
                  <a:pt x="0" y="0"/>
                </a:moveTo>
                <a:lnTo>
                  <a:pt x="4176464" y="0"/>
                </a:lnTo>
                <a:lnTo>
                  <a:pt x="4176464" y="620759"/>
                </a:lnTo>
                <a:lnTo>
                  <a:pt x="0" y="620759"/>
                </a:lnTo>
                <a:lnTo>
                  <a:pt x="122392" y="306307"/>
                </a:lnTo>
                <a:lnTo>
                  <a:pt x="0" y="0"/>
                </a:lnTo>
                <a:close/>
              </a:path>
            </a:pathLst>
          </a:custGeom>
          <a:noFill/>
          <a:ln w="25400" cap="flat" cmpd="sng" algn="ctr">
            <a:noFill/>
            <a:prstDash val="solid"/>
          </a:ln>
          <a:effectLst/>
        </p:spPr>
        <p:txBody>
          <a:bodyPr lIns="91449" tIns="45724" rIns="91449" bIns="45724" rtlCol="0" anchor="ctr"/>
          <a:lstStyle/>
          <a:p>
            <a:pPr algn="l" defTabSz="914492" fontAlgn="auto">
              <a:spcBef>
                <a:spcPts val="0"/>
              </a:spcBef>
              <a:spcAft>
                <a:spcPts val="0"/>
              </a:spcAft>
              <a:defRPr/>
            </a:pPr>
            <a:r>
              <a:rPr lang="zh-CN" altLang="en-US" sz="2200" b="0" kern="0" dirty="0">
                <a:solidFill>
                  <a:schemeClr val="accent3">
                    <a:lumMod val="50000"/>
                  </a:schemeClr>
                </a:solidFill>
                <a:latin typeface="微软雅黑" pitchFamily="34" charset="-122"/>
                <a:ea typeface="微软雅黑" pitchFamily="34" charset="-122"/>
              </a:rPr>
              <a:t>研究背景与意义</a:t>
            </a:r>
          </a:p>
        </p:txBody>
      </p:sp>
      <p:grpSp>
        <p:nvGrpSpPr>
          <p:cNvPr id="34" name="组合 33"/>
          <p:cNvGrpSpPr/>
          <p:nvPr/>
        </p:nvGrpSpPr>
        <p:grpSpPr>
          <a:xfrm>
            <a:off x="2331247" y="2402124"/>
            <a:ext cx="460019" cy="396623"/>
            <a:chOff x="2051142" y="1275606"/>
            <a:chExt cx="607778" cy="523947"/>
          </a:xfrm>
        </p:grpSpPr>
        <p:sp>
          <p:nvSpPr>
            <p:cNvPr id="35" name="六边形 34"/>
            <p:cNvSpPr/>
            <p:nvPr/>
          </p:nvSpPr>
          <p:spPr>
            <a:xfrm>
              <a:off x="2051142" y="1275606"/>
              <a:ext cx="607778" cy="523947"/>
            </a:xfrm>
            <a:prstGeom prst="hexagon">
              <a:avLst/>
            </a:prstGeom>
            <a:solidFill>
              <a:srgbClr val="0067B4"/>
            </a:solidFill>
            <a:ln w="25400" cap="flat" cmpd="sng" algn="ctr">
              <a:noFill/>
              <a:prstDash val="solid"/>
            </a:ln>
            <a:effectLst/>
          </p:spPr>
          <p:txBody>
            <a:bodyPr rtlCol="0" anchor="ctr"/>
            <a:lstStyle/>
            <a:p>
              <a:pPr defTabSz="914492" fontAlgn="auto">
                <a:spcBef>
                  <a:spcPts val="0"/>
                </a:spcBef>
                <a:spcAft>
                  <a:spcPts val="0"/>
                </a:spcAft>
                <a:defRPr/>
              </a:pPr>
              <a:endParaRPr lang="zh-CN" altLang="en-US" kern="0" dirty="0">
                <a:solidFill>
                  <a:prstClr val="white"/>
                </a:solidFill>
                <a:latin typeface="Calibri"/>
                <a:ea typeface="宋体"/>
              </a:endParaRPr>
            </a:p>
          </p:txBody>
        </p:sp>
        <p:sp>
          <p:nvSpPr>
            <p:cNvPr id="36" name="TextBox 35"/>
            <p:cNvSpPr txBox="1"/>
            <p:nvPr/>
          </p:nvSpPr>
          <p:spPr>
            <a:xfrm>
              <a:off x="2085608" y="1293630"/>
              <a:ext cx="553193" cy="487897"/>
            </a:xfrm>
            <a:prstGeom prst="rect">
              <a:avLst/>
            </a:prstGeom>
            <a:noFill/>
          </p:spPr>
          <p:txBody>
            <a:bodyPr wrap="none" rtlCol="0">
              <a:spAutoFit/>
            </a:bodyPr>
            <a:lstStyle/>
            <a:p>
              <a:pPr defTabSz="914492" fontAlgn="auto">
                <a:spcBef>
                  <a:spcPts val="0"/>
                </a:spcBef>
                <a:spcAft>
                  <a:spcPts val="0"/>
                </a:spcAft>
                <a:defRPr/>
              </a:pPr>
              <a:r>
                <a:rPr lang="en-US" altLang="zh-CN" kern="0" dirty="0">
                  <a:solidFill>
                    <a:srgbClr val="FFFFFF"/>
                  </a:solidFill>
                  <a:latin typeface="Calibri"/>
                  <a:ea typeface="宋体"/>
                </a:rPr>
                <a:t>01</a:t>
              </a:r>
              <a:endParaRPr lang="zh-CN" altLang="en-US" kern="0" dirty="0">
                <a:solidFill>
                  <a:srgbClr val="FFFFFF"/>
                </a:solidFill>
                <a:latin typeface="Calibri"/>
                <a:ea typeface="宋体"/>
              </a:endParaRPr>
            </a:p>
          </p:txBody>
        </p:sp>
      </p:grpSp>
      <p:sp>
        <p:nvSpPr>
          <p:cNvPr id="37" name="矩形 7"/>
          <p:cNvSpPr/>
          <p:nvPr/>
        </p:nvSpPr>
        <p:spPr>
          <a:xfrm>
            <a:off x="2829786" y="2771077"/>
            <a:ext cx="2819400" cy="524108"/>
          </a:xfrm>
          <a:custGeom>
            <a:avLst/>
            <a:gdLst>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0 w 4176464"/>
              <a:gd name="connsiteY4" fmla="*/ 0 h 620759"/>
              <a:gd name="connsiteX0" fmla="*/ 8404 w 4184868"/>
              <a:gd name="connsiteY0" fmla="*/ 0 h 620759"/>
              <a:gd name="connsiteX1" fmla="*/ 4184868 w 4184868"/>
              <a:gd name="connsiteY1" fmla="*/ 0 h 620759"/>
              <a:gd name="connsiteX2" fmla="*/ 4184868 w 4184868"/>
              <a:gd name="connsiteY2" fmla="*/ 620759 h 620759"/>
              <a:gd name="connsiteX3" fmla="*/ 8404 w 4184868"/>
              <a:gd name="connsiteY3" fmla="*/ 620759 h 620759"/>
              <a:gd name="connsiteX4" fmla="*/ 0 w 4184868"/>
              <a:gd name="connsiteY4" fmla="*/ 287258 h 620759"/>
              <a:gd name="connsiteX5" fmla="*/ 8404 w 4184868"/>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89716 w 4176464"/>
              <a:gd name="connsiteY4" fmla="*/ 28725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61141 w 4176464"/>
              <a:gd name="connsiteY4" fmla="*/ 30630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22392 w 4176464"/>
              <a:gd name="connsiteY4" fmla="*/ 306307 h 620759"/>
              <a:gd name="connsiteX5" fmla="*/ 0 w 4176464"/>
              <a:gd name="connsiteY5" fmla="*/ 0 h 620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6464" h="620759">
                <a:moveTo>
                  <a:pt x="0" y="0"/>
                </a:moveTo>
                <a:lnTo>
                  <a:pt x="4176464" y="0"/>
                </a:lnTo>
                <a:lnTo>
                  <a:pt x="4176464" y="620759"/>
                </a:lnTo>
                <a:lnTo>
                  <a:pt x="0" y="620759"/>
                </a:lnTo>
                <a:lnTo>
                  <a:pt x="122392" y="306307"/>
                </a:lnTo>
                <a:lnTo>
                  <a:pt x="0" y="0"/>
                </a:lnTo>
                <a:close/>
              </a:path>
            </a:pathLst>
          </a:custGeom>
          <a:noFill/>
          <a:ln w="25400" cap="flat" cmpd="sng" algn="ctr">
            <a:noFill/>
            <a:prstDash val="solid"/>
          </a:ln>
          <a:effectLst/>
        </p:spPr>
        <p:txBody>
          <a:bodyPr lIns="91449" tIns="45724" rIns="91449" bIns="45724" rtlCol="0" anchor="ctr"/>
          <a:lstStyle/>
          <a:p>
            <a:pPr algn="l" defTabSz="914492" fontAlgn="auto">
              <a:spcBef>
                <a:spcPts val="0"/>
              </a:spcBef>
              <a:spcAft>
                <a:spcPts val="0"/>
              </a:spcAft>
              <a:defRPr/>
            </a:pPr>
            <a:r>
              <a:rPr lang="zh-CN" altLang="en-US" sz="2200" b="0" kern="0" dirty="0">
                <a:solidFill>
                  <a:schemeClr val="accent3">
                    <a:lumMod val="50000"/>
                  </a:schemeClr>
                </a:solidFill>
                <a:latin typeface="微软雅黑" pitchFamily="34" charset="-122"/>
                <a:ea typeface="微软雅黑" pitchFamily="34" charset="-122"/>
              </a:rPr>
              <a:t>总体技术架构</a:t>
            </a:r>
          </a:p>
        </p:txBody>
      </p:sp>
      <p:grpSp>
        <p:nvGrpSpPr>
          <p:cNvPr id="38" name="组合 37"/>
          <p:cNvGrpSpPr/>
          <p:nvPr/>
        </p:nvGrpSpPr>
        <p:grpSpPr>
          <a:xfrm>
            <a:off x="2331247" y="2859324"/>
            <a:ext cx="460019" cy="396623"/>
            <a:chOff x="2051142" y="1275606"/>
            <a:chExt cx="607778" cy="523947"/>
          </a:xfrm>
        </p:grpSpPr>
        <p:sp>
          <p:nvSpPr>
            <p:cNvPr id="39" name="六边形 38"/>
            <p:cNvSpPr/>
            <p:nvPr/>
          </p:nvSpPr>
          <p:spPr>
            <a:xfrm>
              <a:off x="2051142" y="1275606"/>
              <a:ext cx="607778" cy="523947"/>
            </a:xfrm>
            <a:prstGeom prst="hexagon">
              <a:avLst/>
            </a:prstGeom>
            <a:solidFill>
              <a:srgbClr val="0067B4"/>
            </a:solidFill>
            <a:ln w="25400" cap="flat" cmpd="sng" algn="ctr">
              <a:noFill/>
              <a:prstDash val="solid"/>
            </a:ln>
            <a:effectLst/>
          </p:spPr>
          <p:txBody>
            <a:bodyPr rtlCol="0" anchor="ctr"/>
            <a:lstStyle/>
            <a:p>
              <a:pPr defTabSz="914492" fontAlgn="auto">
                <a:spcBef>
                  <a:spcPts val="0"/>
                </a:spcBef>
                <a:spcAft>
                  <a:spcPts val="0"/>
                </a:spcAft>
                <a:defRPr/>
              </a:pPr>
              <a:endParaRPr lang="zh-CN" altLang="en-US" kern="0" dirty="0">
                <a:solidFill>
                  <a:prstClr val="white"/>
                </a:solidFill>
                <a:latin typeface="Calibri"/>
                <a:ea typeface="宋体"/>
              </a:endParaRPr>
            </a:p>
          </p:txBody>
        </p:sp>
        <p:sp>
          <p:nvSpPr>
            <p:cNvPr id="40" name="TextBox 39"/>
            <p:cNvSpPr txBox="1"/>
            <p:nvPr/>
          </p:nvSpPr>
          <p:spPr>
            <a:xfrm>
              <a:off x="2085608" y="1293630"/>
              <a:ext cx="553193" cy="487897"/>
            </a:xfrm>
            <a:prstGeom prst="rect">
              <a:avLst/>
            </a:prstGeom>
            <a:noFill/>
          </p:spPr>
          <p:txBody>
            <a:bodyPr wrap="none" rtlCol="0">
              <a:spAutoFit/>
            </a:bodyPr>
            <a:lstStyle/>
            <a:p>
              <a:pPr defTabSz="914492" fontAlgn="auto">
                <a:spcBef>
                  <a:spcPts val="0"/>
                </a:spcBef>
                <a:spcAft>
                  <a:spcPts val="0"/>
                </a:spcAft>
                <a:defRPr/>
              </a:pPr>
              <a:r>
                <a:rPr lang="en-US" altLang="zh-CN" kern="0" dirty="0">
                  <a:solidFill>
                    <a:srgbClr val="FFFFFF"/>
                  </a:solidFill>
                  <a:latin typeface="Calibri"/>
                  <a:ea typeface="宋体"/>
                </a:rPr>
                <a:t>02</a:t>
              </a:r>
              <a:endParaRPr lang="zh-CN" altLang="en-US" kern="0" dirty="0">
                <a:solidFill>
                  <a:srgbClr val="FFFFFF"/>
                </a:solidFill>
                <a:latin typeface="Calibri"/>
                <a:ea typeface="宋体"/>
              </a:endParaRPr>
            </a:p>
          </p:txBody>
        </p:sp>
      </p:grpSp>
      <p:sp>
        <p:nvSpPr>
          <p:cNvPr id="41" name="矩形 7"/>
          <p:cNvSpPr/>
          <p:nvPr/>
        </p:nvSpPr>
        <p:spPr>
          <a:xfrm>
            <a:off x="2829786" y="3228277"/>
            <a:ext cx="2819400" cy="524108"/>
          </a:xfrm>
          <a:custGeom>
            <a:avLst/>
            <a:gdLst>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0 w 4176464"/>
              <a:gd name="connsiteY4" fmla="*/ 0 h 620759"/>
              <a:gd name="connsiteX0" fmla="*/ 8404 w 4184868"/>
              <a:gd name="connsiteY0" fmla="*/ 0 h 620759"/>
              <a:gd name="connsiteX1" fmla="*/ 4184868 w 4184868"/>
              <a:gd name="connsiteY1" fmla="*/ 0 h 620759"/>
              <a:gd name="connsiteX2" fmla="*/ 4184868 w 4184868"/>
              <a:gd name="connsiteY2" fmla="*/ 620759 h 620759"/>
              <a:gd name="connsiteX3" fmla="*/ 8404 w 4184868"/>
              <a:gd name="connsiteY3" fmla="*/ 620759 h 620759"/>
              <a:gd name="connsiteX4" fmla="*/ 0 w 4184868"/>
              <a:gd name="connsiteY4" fmla="*/ 287258 h 620759"/>
              <a:gd name="connsiteX5" fmla="*/ 8404 w 4184868"/>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89716 w 4176464"/>
              <a:gd name="connsiteY4" fmla="*/ 28725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61141 w 4176464"/>
              <a:gd name="connsiteY4" fmla="*/ 30630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22392 w 4176464"/>
              <a:gd name="connsiteY4" fmla="*/ 306307 h 620759"/>
              <a:gd name="connsiteX5" fmla="*/ 0 w 4176464"/>
              <a:gd name="connsiteY5" fmla="*/ 0 h 620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6464" h="620759">
                <a:moveTo>
                  <a:pt x="0" y="0"/>
                </a:moveTo>
                <a:lnTo>
                  <a:pt x="4176464" y="0"/>
                </a:lnTo>
                <a:lnTo>
                  <a:pt x="4176464" y="620759"/>
                </a:lnTo>
                <a:lnTo>
                  <a:pt x="0" y="620759"/>
                </a:lnTo>
                <a:lnTo>
                  <a:pt x="122392" y="306307"/>
                </a:lnTo>
                <a:lnTo>
                  <a:pt x="0" y="0"/>
                </a:lnTo>
                <a:close/>
              </a:path>
            </a:pathLst>
          </a:custGeom>
          <a:noFill/>
          <a:ln w="25400" cap="flat" cmpd="sng" algn="ctr">
            <a:noFill/>
            <a:prstDash val="solid"/>
          </a:ln>
          <a:effectLst/>
        </p:spPr>
        <p:txBody>
          <a:bodyPr lIns="91449" tIns="45724" rIns="91449" bIns="45724" rtlCol="0" anchor="ctr"/>
          <a:lstStyle/>
          <a:p>
            <a:pPr algn="l" defTabSz="914492" fontAlgn="auto">
              <a:spcBef>
                <a:spcPts val="0"/>
              </a:spcBef>
              <a:spcAft>
                <a:spcPts val="0"/>
              </a:spcAft>
              <a:defRPr/>
            </a:pPr>
            <a:r>
              <a:rPr lang="zh-CN" altLang="en-US" sz="2200" b="0" kern="0" dirty="0">
                <a:solidFill>
                  <a:schemeClr val="accent3">
                    <a:lumMod val="50000"/>
                  </a:schemeClr>
                </a:solidFill>
                <a:latin typeface="微软雅黑" pitchFamily="34" charset="-122"/>
                <a:ea typeface="微软雅黑" pitchFamily="34" charset="-122"/>
              </a:rPr>
              <a:t>研究内容与技术方案</a:t>
            </a:r>
          </a:p>
        </p:txBody>
      </p:sp>
      <p:grpSp>
        <p:nvGrpSpPr>
          <p:cNvPr id="42" name="组合 41"/>
          <p:cNvGrpSpPr/>
          <p:nvPr/>
        </p:nvGrpSpPr>
        <p:grpSpPr>
          <a:xfrm>
            <a:off x="2331247" y="3316524"/>
            <a:ext cx="460019" cy="396623"/>
            <a:chOff x="2051142" y="1275606"/>
            <a:chExt cx="607778" cy="523947"/>
          </a:xfrm>
        </p:grpSpPr>
        <p:sp>
          <p:nvSpPr>
            <p:cNvPr id="43" name="六边形 42"/>
            <p:cNvSpPr/>
            <p:nvPr/>
          </p:nvSpPr>
          <p:spPr>
            <a:xfrm>
              <a:off x="2051142" y="1275606"/>
              <a:ext cx="607778" cy="523947"/>
            </a:xfrm>
            <a:prstGeom prst="hexagon">
              <a:avLst/>
            </a:prstGeom>
            <a:solidFill>
              <a:srgbClr val="0067B4"/>
            </a:solidFill>
            <a:ln w="25400" cap="flat" cmpd="sng" algn="ctr">
              <a:noFill/>
              <a:prstDash val="solid"/>
            </a:ln>
            <a:effectLst/>
          </p:spPr>
          <p:txBody>
            <a:bodyPr rtlCol="0" anchor="ctr"/>
            <a:lstStyle/>
            <a:p>
              <a:pPr defTabSz="914492" fontAlgn="auto">
                <a:spcBef>
                  <a:spcPts val="0"/>
                </a:spcBef>
                <a:spcAft>
                  <a:spcPts val="0"/>
                </a:spcAft>
                <a:defRPr/>
              </a:pPr>
              <a:endParaRPr lang="zh-CN" altLang="en-US" kern="0" dirty="0">
                <a:solidFill>
                  <a:prstClr val="white"/>
                </a:solidFill>
                <a:latin typeface="Calibri"/>
                <a:ea typeface="宋体"/>
              </a:endParaRPr>
            </a:p>
          </p:txBody>
        </p:sp>
        <p:sp>
          <p:nvSpPr>
            <p:cNvPr id="44" name="TextBox 43"/>
            <p:cNvSpPr txBox="1"/>
            <p:nvPr/>
          </p:nvSpPr>
          <p:spPr>
            <a:xfrm>
              <a:off x="2085608" y="1293630"/>
              <a:ext cx="553193" cy="487895"/>
            </a:xfrm>
            <a:prstGeom prst="rect">
              <a:avLst/>
            </a:prstGeom>
            <a:noFill/>
          </p:spPr>
          <p:txBody>
            <a:bodyPr wrap="none" rtlCol="0">
              <a:spAutoFit/>
            </a:bodyPr>
            <a:lstStyle/>
            <a:p>
              <a:pPr defTabSz="914492" fontAlgn="auto">
                <a:spcBef>
                  <a:spcPts val="0"/>
                </a:spcBef>
                <a:spcAft>
                  <a:spcPts val="0"/>
                </a:spcAft>
                <a:defRPr/>
              </a:pPr>
              <a:r>
                <a:rPr lang="en-US" altLang="zh-CN" kern="0" dirty="0">
                  <a:solidFill>
                    <a:srgbClr val="FFFFFF"/>
                  </a:solidFill>
                  <a:latin typeface="Calibri"/>
                  <a:ea typeface="宋体"/>
                </a:rPr>
                <a:t>03</a:t>
              </a:r>
              <a:endParaRPr lang="zh-CN" altLang="en-US" kern="0" dirty="0">
                <a:solidFill>
                  <a:srgbClr val="FFFFFF"/>
                </a:solidFill>
                <a:latin typeface="Calibri"/>
                <a:ea typeface="宋体"/>
              </a:endParaRPr>
            </a:p>
          </p:txBody>
        </p:sp>
      </p:grpSp>
      <p:sp>
        <p:nvSpPr>
          <p:cNvPr id="59" name="矩形 7"/>
          <p:cNvSpPr/>
          <p:nvPr/>
        </p:nvSpPr>
        <p:spPr>
          <a:xfrm>
            <a:off x="2829786" y="3713144"/>
            <a:ext cx="2819400" cy="524108"/>
          </a:xfrm>
          <a:custGeom>
            <a:avLst/>
            <a:gdLst>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0 w 4176464"/>
              <a:gd name="connsiteY4" fmla="*/ 0 h 620759"/>
              <a:gd name="connsiteX0" fmla="*/ 8404 w 4184868"/>
              <a:gd name="connsiteY0" fmla="*/ 0 h 620759"/>
              <a:gd name="connsiteX1" fmla="*/ 4184868 w 4184868"/>
              <a:gd name="connsiteY1" fmla="*/ 0 h 620759"/>
              <a:gd name="connsiteX2" fmla="*/ 4184868 w 4184868"/>
              <a:gd name="connsiteY2" fmla="*/ 620759 h 620759"/>
              <a:gd name="connsiteX3" fmla="*/ 8404 w 4184868"/>
              <a:gd name="connsiteY3" fmla="*/ 620759 h 620759"/>
              <a:gd name="connsiteX4" fmla="*/ 0 w 4184868"/>
              <a:gd name="connsiteY4" fmla="*/ 287258 h 620759"/>
              <a:gd name="connsiteX5" fmla="*/ 8404 w 4184868"/>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89716 w 4176464"/>
              <a:gd name="connsiteY4" fmla="*/ 28725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61141 w 4176464"/>
              <a:gd name="connsiteY4" fmla="*/ 30630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22392 w 4176464"/>
              <a:gd name="connsiteY4" fmla="*/ 306307 h 620759"/>
              <a:gd name="connsiteX5" fmla="*/ 0 w 4176464"/>
              <a:gd name="connsiteY5" fmla="*/ 0 h 620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6464" h="620759">
                <a:moveTo>
                  <a:pt x="0" y="0"/>
                </a:moveTo>
                <a:lnTo>
                  <a:pt x="4176464" y="0"/>
                </a:lnTo>
                <a:lnTo>
                  <a:pt x="4176464" y="620759"/>
                </a:lnTo>
                <a:lnTo>
                  <a:pt x="0" y="620759"/>
                </a:lnTo>
                <a:lnTo>
                  <a:pt x="122392" y="306307"/>
                </a:lnTo>
                <a:lnTo>
                  <a:pt x="0" y="0"/>
                </a:lnTo>
                <a:close/>
              </a:path>
            </a:pathLst>
          </a:custGeom>
          <a:noFill/>
          <a:ln w="25400" cap="flat" cmpd="sng" algn="ctr">
            <a:noFill/>
            <a:prstDash val="solid"/>
          </a:ln>
          <a:effectLst/>
        </p:spPr>
        <p:txBody>
          <a:bodyPr lIns="91449" tIns="45724" rIns="91449" bIns="45724" rtlCol="0" anchor="ctr"/>
          <a:lstStyle/>
          <a:p>
            <a:pPr algn="l" defTabSz="914492" fontAlgn="auto">
              <a:spcBef>
                <a:spcPts val="0"/>
              </a:spcBef>
              <a:spcAft>
                <a:spcPts val="0"/>
              </a:spcAft>
              <a:defRPr/>
            </a:pPr>
            <a:r>
              <a:rPr lang="zh-CN" altLang="en-US" sz="2200" b="0" kern="0" dirty="0">
                <a:solidFill>
                  <a:schemeClr val="accent3">
                    <a:lumMod val="50000"/>
                  </a:schemeClr>
                </a:solidFill>
                <a:latin typeface="微软雅黑" pitchFamily="34" charset="-122"/>
                <a:ea typeface="微软雅黑" pitchFamily="34" charset="-122"/>
              </a:rPr>
              <a:t>论文结构安排</a:t>
            </a:r>
            <a:endParaRPr lang="en-US" altLang="zh-CN" sz="2200" b="0" kern="0" dirty="0">
              <a:solidFill>
                <a:schemeClr val="accent3">
                  <a:lumMod val="50000"/>
                </a:schemeClr>
              </a:solidFill>
              <a:latin typeface="微软雅黑" pitchFamily="34" charset="-122"/>
              <a:ea typeface="微软雅黑" pitchFamily="34" charset="-122"/>
            </a:endParaRPr>
          </a:p>
        </p:txBody>
      </p:sp>
      <p:grpSp>
        <p:nvGrpSpPr>
          <p:cNvPr id="60" name="组合 59"/>
          <p:cNvGrpSpPr/>
          <p:nvPr/>
        </p:nvGrpSpPr>
        <p:grpSpPr>
          <a:xfrm>
            <a:off x="2331247" y="3764432"/>
            <a:ext cx="460019" cy="396623"/>
            <a:chOff x="2051142" y="1275606"/>
            <a:chExt cx="607778" cy="523947"/>
          </a:xfrm>
        </p:grpSpPr>
        <p:sp>
          <p:nvSpPr>
            <p:cNvPr id="61" name="六边形 60"/>
            <p:cNvSpPr/>
            <p:nvPr/>
          </p:nvSpPr>
          <p:spPr>
            <a:xfrm>
              <a:off x="2051142" y="1275606"/>
              <a:ext cx="607778" cy="523947"/>
            </a:xfrm>
            <a:prstGeom prst="hexagon">
              <a:avLst/>
            </a:prstGeom>
            <a:solidFill>
              <a:srgbClr val="0067B4"/>
            </a:solidFill>
            <a:ln w="25400" cap="flat" cmpd="sng" algn="ctr">
              <a:noFill/>
              <a:prstDash val="solid"/>
            </a:ln>
            <a:effectLst/>
          </p:spPr>
          <p:txBody>
            <a:bodyPr rtlCol="0" anchor="ctr"/>
            <a:lstStyle/>
            <a:p>
              <a:pPr defTabSz="914492" fontAlgn="auto">
                <a:spcBef>
                  <a:spcPts val="0"/>
                </a:spcBef>
                <a:spcAft>
                  <a:spcPts val="0"/>
                </a:spcAft>
                <a:defRPr/>
              </a:pPr>
              <a:endParaRPr lang="zh-CN" altLang="en-US" kern="0" dirty="0">
                <a:solidFill>
                  <a:prstClr val="white"/>
                </a:solidFill>
                <a:latin typeface="Calibri"/>
                <a:ea typeface="宋体"/>
              </a:endParaRPr>
            </a:p>
          </p:txBody>
        </p:sp>
        <p:sp>
          <p:nvSpPr>
            <p:cNvPr id="64" name="TextBox 63"/>
            <p:cNvSpPr txBox="1"/>
            <p:nvPr/>
          </p:nvSpPr>
          <p:spPr>
            <a:xfrm>
              <a:off x="2085608" y="1293630"/>
              <a:ext cx="553193" cy="487895"/>
            </a:xfrm>
            <a:prstGeom prst="rect">
              <a:avLst/>
            </a:prstGeom>
            <a:noFill/>
          </p:spPr>
          <p:txBody>
            <a:bodyPr wrap="none" rtlCol="0">
              <a:spAutoFit/>
            </a:bodyPr>
            <a:lstStyle/>
            <a:p>
              <a:pPr defTabSz="914492" fontAlgn="auto">
                <a:spcBef>
                  <a:spcPts val="0"/>
                </a:spcBef>
                <a:spcAft>
                  <a:spcPts val="0"/>
                </a:spcAft>
                <a:defRPr/>
              </a:pPr>
              <a:r>
                <a:rPr lang="en-US" altLang="zh-CN" kern="0" dirty="0">
                  <a:solidFill>
                    <a:srgbClr val="FFFFFF"/>
                  </a:solidFill>
                  <a:latin typeface="Calibri"/>
                  <a:ea typeface="宋体"/>
                </a:rPr>
                <a:t>04</a:t>
              </a:r>
              <a:endParaRPr lang="zh-CN" altLang="en-US" kern="0" dirty="0">
                <a:solidFill>
                  <a:srgbClr val="FFFFFF"/>
                </a:solidFill>
                <a:latin typeface="Calibri"/>
                <a:ea typeface="宋体"/>
              </a:endParaRPr>
            </a:p>
          </p:txBody>
        </p:sp>
      </p:grpSp>
      <p:sp>
        <p:nvSpPr>
          <p:cNvPr id="82" name="矩形 7"/>
          <p:cNvSpPr/>
          <p:nvPr/>
        </p:nvSpPr>
        <p:spPr>
          <a:xfrm>
            <a:off x="2829786" y="4167521"/>
            <a:ext cx="2819400" cy="524108"/>
          </a:xfrm>
          <a:custGeom>
            <a:avLst/>
            <a:gdLst>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0 w 4176464"/>
              <a:gd name="connsiteY4" fmla="*/ 0 h 620759"/>
              <a:gd name="connsiteX0" fmla="*/ 8404 w 4184868"/>
              <a:gd name="connsiteY0" fmla="*/ 0 h 620759"/>
              <a:gd name="connsiteX1" fmla="*/ 4184868 w 4184868"/>
              <a:gd name="connsiteY1" fmla="*/ 0 h 620759"/>
              <a:gd name="connsiteX2" fmla="*/ 4184868 w 4184868"/>
              <a:gd name="connsiteY2" fmla="*/ 620759 h 620759"/>
              <a:gd name="connsiteX3" fmla="*/ 8404 w 4184868"/>
              <a:gd name="connsiteY3" fmla="*/ 620759 h 620759"/>
              <a:gd name="connsiteX4" fmla="*/ 0 w 4184868"/>
              <a:gd name="connsiteY4" fmla="*/ 287258 h 620759"/>
              <a:gd name="connsiteX5" fmla="*/ 8404 w 4184868"/>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89716 w 4176464"/>
              <a:gd name="connsiteY4" fmla="*/ 28725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61141 w 4176464"/>
              <a:gd name="connsiteY4" fmla="*/ 30630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22392 w 4176464"/>
              <a:gd name="connsiteY4" fmla="*/ 306307 h 620759"/>
              <a:gd name="connsiteX5" fmla="*/ 0 w 4176464"/>
              <a:gd name="connsiteY5" fmla="*/ 0 h 620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6464" h="620759">
                <a:moveTo>
                  <a:pt x="0" y="0"/>
                </a:moveTo>
                <a:lnTo>
                  <a:pt x="4176464" y="0"/>
                </a:lnTo>
                <a:lnTo>
                  <a:pt x="4176464" y="620759"/>
                </a:lnTo>
                <a:lnTo>
                  <a:pt x="0" y="620759"/>
                </a:lnTo>
                <a:lnTo>
                  <a:pt x="122392" y="306307"/>
                </a:lnTo>
                <a:lnTo>
                  <a:pt x="0" y="0"/>
                </a:lnTo>
                <a:close/>
              </a:path>
            </a:pathLst>
          </a:custGeom>
          <a:noFill/>
          <a:ln w="25400" cap="flat" cmpd="sng" algn="ctr">
            <a:noFill/>
            <a:prstDash val="solid"/>
          </a:ln>
          <a:effectLst/>
        </p:spPr>
        <p:txBody>
          <a:bodyPr lIns="91449" tIns="45724" rIns="91449" bIns="45724" rtlCol="0" anchor="ctr"/>
          <a:lstStyle/>
          <a:p>
            <a:pPr algn="l" defTabSz="914492" fontAlgn="auto">
              <a:spcBef>
                <a:spcPts val="0"/>
              </a:spcBef>
              <a:spcAft>
                <a:spcPts val="0"/>
              </a:spcAft>
              <a:defRPr/>
            </a:pPr>
            <a:r>
              <a:rPr lang="zh-CN" altLang="en-US" sz="2200" b="0" kern="0" dirty="0">
                <a:solidFill>
                  <a:schemeClr val="accent3">
                    <a:lumMod val="50000"/>
                  </a:schemeClr>
                </a:solidFill>
                <a:latin typeface="微软雅黑" pitchFamily="34" charset="-122"/>
                <a:ea typeface="微软雅黑" pitchFamily="34" charset="-122"/>
              </a:rPr>
              <a:t>预期时间安排</a:t>
            </a:r>
          </a:p>
        </p:txBody>
      </p:sp>
      <p:grpSp>
        <p:nvGrpSpPr>
          <p:cNvPr id="83" name="组合 82"/>
          <p:cNvGrpSpPr/>
          <p:nvPr/>
        </p:nvGrpSpPr>
        <p:grpSpPr>
          <a:xfrm>
            <a:off x="2331247" y="4218809"/>
            <a:ext cx="460019" cy="396623"/>
            <a:chOff x="2051142" y="1275606"/>
            <a:chExt cx="607778" cy="523947"/>
          </a:xfrm>
        </p:grpSpPr>
        <p:sp>
          <p:nvSpPr>
            <p:cNvPr id="84" name="六边形 83"/>
            <p:cNvSpPr/>
            <p:nvPr/>
          </p:nvSpPr>
          <p:spPr>
            <a:xfrm>
              <a:off x="2051142" y="1275606"/>
              <a:ext cx="607778" cy="523947"/>
            </a:xfrm>
            <a:prstGeom prst="hexagon">
              <a:avLst/>
            </a:prstGeom>
            <a:solidFill>
              <a:srgbClr val="0067B4"/>
            </a:solidFill>
            <a:ln w="25400" cap="flat" cmpd="sng" algn="ctr">
              <a:noFill/>
              <a:prstDash val="solid"/>
            </a:ln>
            <a:effectLst/>
          </p:spPr>
          <p:txBody>
            <a:bodyPr rtlCol="0" anchor="ctr"/>
            <a:lstStyle/>
            <a:p>
              <a:pPr defTabSz="914492" fontAlgn="auto">
                <a:spcBef>
                  <a:spcPts val="0"/>
                </a:spcBef>
                <a:spcAft>
                  <a:spcPts val="0"/>
                </a:spcAft>
                <a:defRPr/>
              </a:pPr>
              <a:endParaRPr lang="zh-CN" altLang="en-US" kern="0" dirty="0">
                <a:solidFill>
                  <a:prstClr val="white"/>
                </a:solidFill>
                <a:latin typeface="Calibri"/>
                <a:ea typeface="宋体"/>
              </a:endParaRPr>
            </a:p>
          </p:txBody>
        </p:sp>
        <p:sp>
          <p:nvSpPr>
            <p:cNvPr id="85" name="TextBox 84"/>
            <p:cNvSpPr txBox="1"/>
            <p:nvPr/>
          </p:nvSpPr>
          <p:spPr>
            <a:xfrm>
              <a:off x="2085608" y="1293630"/>
              <a:ext cx="553193" cy="487895"/>
            </a:xfrm>
            <a:prstGeom prst="rect">
              <a:avLst/>
            </a:prstGeom>
            <a:noFill/>
          </p:spPr>
          <p:txBody>
            <a:bodyPr wrap="none" rtlCol="0">
              <a:spAutoFit/>
            </a:bodyPr>
            <a:lstStyle/>
            <a:p>
              <a:pPr defTabSz="914492" fontAlgn="auto">
                <a:spcBef>
                  <a:spcPts val="0"/>
                </a:spcBef>
                <a:spcAft>
                  <a:spcPts val="0"/>
                </a:spcAft>
                <a:defRPr/>
              </a:pPr>
              <a:r>
                <a:rPr lang="en-US" altLang="zh-CN" kern="0" dirty="0">
                  <a:solidFill>
                    <a:srgbClr val="FFFFFF"/>
                  </a:solidFill>
                  <a:latin typeface="Calibri"/>
                  <a:ea typeface="宋体"/>
                </a:rPr>
                <a:t>05</a:t>
              </a:r>
              <a:endParaRPr lang="zh-CN" altLang="en-US" kern="0" dirty="0">
                <a:solidFill>
                  <a:srgbClr val="FFFFFF"/>
                </a:solidFill>
                <a:latin typeface="Calibri"/>
                <a:ea typeface="宋体"/>
              </a:endParaRPr>
            </a:p>
          </p:txBody>
        </p:sp>
      </p:grpSp>
      <p:sp>
        <p:nvSpPr>
          <p:cNvPr id="86" name="矩形 7"/>
          <p:cNvSpPr/>
          <p:nvPr/>
        </p:nvSpPr>
        <p:spPr>
          <a:xfrm>
            <a:off x="2829786" y="4620979"/>
            <a:ext cx="2819400" cy="524108"/>
          </a:xfrm>
          <a:custGeom>
            <a:avLst/>
            <a:gdLst>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0 w 4176464"/>
              <a:gd name="connsiteY4" fmla="*/ 0 h 620759"/>
              <a:gd name="connsiteX0" fmla="*/ 8404 w 4184868"/>
              <a:gd name="connsiteY0" fmla="*/ 0 h 620759"/>
              <a:gd name="connsiteX1" fmla="*/ 4184868 w 4184868"/>
              <a:gd name="connsiteY1" fmla="*/ 0 h 620759"/>
              <a:gd name="connsiteX2" fmla="*/ 4184868 w 4184868"/>
              <a:gd name="connsiteY2" fmla="*/ 620759 h 620759"/>
              <a:gd name="connsiteX3" fmla="*/ 8404 w 4184868"/>
              <a:gd name="connsiteY3" fmla="*/ 620759 h 620759"/>
              <a:gd name="connsiteX4" fmla="*/ 0 w 4184868"/>
              <a:gd name="connsiteY4" fmla="*/ 287258 h 620759"/>
              <a:gd name="connsiteX5" fmla="*/ 8404 w 4184868"/>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89716 w 4176464"/>
              <a:gd name="connsiteY4" fmla="*/ 28725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61141 w 4176464"/>
              <a:gd name="connsiteY4" fmla="*/ 30630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22392 w 4176464"/>
              <a:gd name="connsiteY4" fmla="*/ 306307 h 620759"/>
              <a:gd name="connsiteX5" fmla="*/ 0 w 4176464"/>
              <a:gd name="connsiteY5" fmla="*/ 0 h 620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6464" h="620759">
                <a:moveTo>
                  <a:pt x="0" y="0"/>
                </a:moveTo>
                <a:lnTo>
                  <a:pt x="4176464" y="0"/>
                </a:lnTo>
                <a:lnTo>
                  <a:pt x="4176464" y="620759"/>
                </a:lnTo>
                <a:lnTo>
                  <a:pt x="0" y="620759"/>
                </a:lnTo>
                <a:lnTo>
                  <a:pt x="122392" y="306307"/>
                </a:lnTo>
                <a:lnTo>
                  <a:pt x="0" y="0"/>
                </a:lnTo>
                <a:close/>
              </a:path>
            </a:pathLst>
          </a:custGeom>
          <a:noFill/>
          <a:ln w="25400" cap="flat" cmpd="sng" algn="ctr">
            <a:noFill/>
            <a:prstDash val="solid"/>
          </a:ln>
          <a:effectLst/>
        </p:spPr>
        <p:txBody>
          <a:bodyPr lIns="91449" tIns="45724" rIns="91449" bIns="45724" rtlCol="0" anchor="ctr"/>
          <a:lstStyle/>
          <a:p>
            <a:pPr algn="l" defTabSz="914492" fontAlgn="auto">
              <a:spcBef>
                <a:spcPts val="0"/>
              </a:spcBef>
              <a:spcAft>
                <a:spcPts val="0"/>
              </a:spcAft>
              <a:defRPr/>
            </a:pPr>
            <a:r>
              <a:rPr lang="zh-CN" altLang="en-US" sz="2200" b="0" kern="0" dirty="0">
                <a:solidFill>
                  <a:schemeClr val="accent3">
                    <a:lumMod val="50000"/>
                  </a:schemeClr>
                </a:solidFill>
                <a:latin typeface="微软雅黑" pitchFamily="34" charset="-122"/>
                <a:ea typeface="微软雅黑" pitchFamily="34" charset="-122"/>
              </a:rPr>
              <a:t>致    谢</a:t>
            </a:r>
          </a:p>
        </p:txBody>
      </p:sp>
      <p:grpSp>
        <p:nvGrpSpPr>
          <p:cNvPr id="87" name="组合 86"/>
          <p:cNvGrpSpPr/>
          <p:nvPr/>
        </p:nvGrpSpPr>
        <p:grpSpPr>
          <a:xfrm>
            <a:off x="2331247" y="4672267"/>
            <a:ext cx="460019" cy="396623"/>
            <a:chOff x="2051142" y="1275606"/>
            <a:chExt cx="607778" cy="523947"/>
          </a:xfrm>
        </p:grpSpPr>
        <p:sp>
          <p:nvSpPr>
            <p:cNvPr id="88" name="六边形 87"/>
            <p:cNvSpPr/>
            <p:nvPr/>
          </p:nvSpPr>
          <p:spPr>
            <a:xfrm>
              <a:off x="2051142" y="1275606"/>
              <a:ext cx="607778" cy="523947"/>
            </a:xfrm>
            <a:prstGeom prst="hexagon">
              <a:avLst/>
            </a:prstGeom>
            <a:solidFill>
              <a:srgbClr val="0067B4"/>
            </a:solidFill>
            <a:ln w="25400" cap="flat" cmpd="sng" algn="ctr">
              <a:noFill/>
              <a:prstDash val="solid"/>
            </a:ln>
            <a:effectLst/>
          </p:spPr>
          <p:txBody>
            <a:bodyPr rtlCol="0" anchor="ctr"/>
            <a:lstStyle/>
            <a:p>
              <a:pPr defTabSz="914492" fontAlgn="auto">
                <a:spcBef>
                  <a:spcPts val="0"/>
                </a:spcBef>
                <a:spcAft>
                  <a:spcPts val="0"/>
                </a:spcAft>
                <a:defRPr/>
              </a:pPr>
              <a:endParaRPr lang="zh-CN" altLang="en-US" kern="0" dirty="0">
                <a:solidFill>
                  <a:prstClr val="white"/>
                </a:solidFill>
                <a:latin typeface="Calibri"/>
                <a:ea typeface="宋体"/>
              </a:endParaRPr>
            </a:p>
          </p:txBody>
        </p:sp>
        <p:sp>
          <p:nvSpPr>
            <p:cNvPr id="89" name="TextBox 88"/>
            <p:cNvSpPr txBox="1"/>
            <p:nvPr/>
          </p:nvSpPr>
          <p:spPr>
            <a:xfrm>
              <a:off x="2085608" y="1293630"/>
              <a:ext cx="553193" cy="487895"/>
            </a:xfrm>
            <a:prstGeom prst="rect">
              <a:avLst/>
            </a:prstGeom>
            <a:noFill/>
          </p:spPr>
          <p:txBody>
            <a:bodyPr wrap="none" rtlCol="0">
              <a:spAutoFit/>
            </a:bodyPr>
            <a:lstStyle/>
            <a:p>
              <a:pPr defTabSz="914492" fontAlgn="auto">
                <a:spcBef>
                  <a:spcPts val="0"/>
                </a:spcBef>
                <a:spcAft>
                  <a:spcPts val="0"/>
                </a:spcAft>
                <a:defRPr/>
              </a:pPr>
              <a:r>
                <a:rPr lang="en-US" altLang="zh-CN" kern="0" dirty="0">
                  <a:solidFill>
                    <a:srgbClr val="FFFFFF"/>
                  </a:solidFill>
                  <a:latin typeface="Calibri"/>
                  <a:ea typeface="宋体"/>
                </a:rPr>
                <a:t>06</a:t>
              </a:r>
              <a:endParaRPr lang="zh-CN" altLang="en-US" kern="0" dirty="0">
                <a:solidFill>
                  <a:srgbClr val="FFFFFF"/>
                </a:solidFill>
                <a:latin typeface="Calibri"/>
                <a:ea typeface="宋体"/>
              </a:endParaRPr>
            </a:p>
          </p:txBody>
        </p:sp>
      </p:grpSp>
      <p:pic>
        <p:nvPicPr>
          <p:cNvPr id="32" name="Picture 28" descr="E:\熊猫PPT\00001PNG素材\底边条\分层菱形.png">
            <a:extLst>
              <a:ext uri="{FF2B5EF4-FFF2-40B4-BE49-F238E27FC236}">
                <a16:creationId xmlns:a16="http://schemas.microsoft.com/office/drawing/2014/main" id="{3C888521-BC86-4CCE-9611-DA395F07B360}"/>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95043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0" name="Picture 28">
            <a:extLst>
              <a:ext uri="{FF2B5EF4-FFF2-40B4-BE49-F238E27FC236}">
                <a16:creationId xmlns:a16="http://schemas.microsoft.com/office/drawing/2014/main" id="{5E4C5D59-2DA3-4959-B2BE-256FF79D5AB5}"/>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41" name="组合 3">
            <a:extLst>
              <a:ext uri="{FF2B5EF4-FFF2-40B4-BE49-F238E27FC236}">
                <a16:creationId xmlns:a16="http://schemas.microsoft.com/office/drawing/2014/main" id="{3422E615-F7DC-48E9-8588-DEA5043D3682}"/>
              </a:ext>
            </a:extLst>
          </p:cNvPr>
          <p:cNvGrpSpPr>
            <a:grpSpLocks/>
          </p:cNvGrpSpPr>
          <p:nvPr/>
        </p:nvGrpSpPr>
        <p:grpSpPr bwMode="auto">
          <a:xfrm>
            <a:off x="464577" y="165395"/>
            <a:ext cx="433338" cy="535447"/>
            <a:chOff x="10675" y="7633"/>
            <a:chExt cx="433171" cy="534549"/>
          </a:xfrm>
        </p:grpSpPr>
        <p:sp>
          <p:nvSpPr>
            <p:cNvPr id="42" name="圆角矩形 10">
              <a:extLst>
                <a:ext uri="{FF2B5EF4-FFF2-40B4-BE49-F238E27FC236}">
                  <a16:creationId xmlns:a16="http://schemas.microsoft.com/office/drawing/2014/main" id="{42EA4784-E3AD-41B1-9566-4ADB9CA4D7CD}"/>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43" name="图片 50">
              <a:extLst>
                <a:ext uri="{FF2B5EF4-FFF2-40B4-BE49-F238E27FC236}">
                  <a16:creationId xmlns:a16="http://schemas.microsoft.com/office/drawing/2014/main" id="{7B2B86D7-21CF-425F-9AF5-6ACF532AB06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4" name="图片 43">
            <a:extLst>
              <a:ext uri="{FF2B5EF4-FFF2-40B4-BE49-F238E27FC236}">
                <a16:creationId xmlns:a16="http://schemas.microsoft.com/office/drawing/2014/main" id="{C57ECE66-0013-45DA-BA2C-6DAD4399660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45" name="TextBox 29">
            <a:extLst>
              <a:ext uri="{FF2B5EF4-FFF2-40B4-BE49-F238E27FC236}">
                <a16:creationId xmlns:a16="http://schemas.microsoft.com/office/drawing/2014/main" id="{AD33044A-D3CD-4FD5-80ED-E084A0D821EE}"/>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研究背景与意义</a:t>
            </a:r>
          </a:p>
        </p:txBody>
      </p:sp>
      <p:sp>
        <p:nvSpPr>
          <p:cNvPr id="48" name="Rectangle 47"/>
          <p:cNvSpPr/>
          <p:nvPr/>
        </p:nvSpPr>
        <p:spPr>
          <a:xfrm>
            <a:off x="6995160" y="1444752"/>
            <a:ext cx="3794760" cy="2136123"/>
          </a:xfrm>
          <a:prstGeom prst="rect">
            <a:avLst/>
          </a:prstGeom>
          <a:noFill/>
          <a:ln w="12700">
            <a:solidFill>
              <a:srgbClr val="C2D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6995160" y="3968496"/>
            <a:ext cx="3794760" cy="2133213"/>
          </a:xfrm>
          <a:prstGeom prst="rect">
            <a:avLst/>
          </a:prstGeom>
          <a:noFill/>
          <a:ln w="12700">
            <a:solidFill>
              <a:srgbClr val="C2D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51"/>
          <p:cNvSpPr/>
          <p:nvPr/>
        </p:nvSpPr>
        <p:spPr>
          <a:xfrm>
            <a:off x="566928" y="1252728"/>
            <a:ext cx="402336" cy="402336"/>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01</a:t>
            </a:r>
          </a:p>
        </p:txBody>
      </p:sp>
      <p:sp>
        <p:nvSpPr>
          <p:cNvPr id="53" name="TextBox 52"/>
          <p:cNvSpPr txBox="1"/>
          <p:nvPr/>
        </p:nvSpPr>
        <p:spPr>
          <a:xfrm>
            <a:off x="1133856" y="1197864"/>
            <a:ext cx="5422392" cy="1005840"/>
          </a:xfrm>
          <a:prstGeom prst="rect">
            <a:avLst/>
          </a:prstGeom>
          <a:noFill/>
        </p:spPr>
        <p:txBody>
          <a:bodyPr wrap="square" lIns="0" tIns="0" rIns="0" bIns="0" anchor="t">
            <a:spAutoFit/>
          </a:bodyPr>
          <a:lstStyle/>
          <a:p>
            <a:pPr algn="l">
              <a:lnSpc>
                <a:spcPct val="128000"/>
              </a:lnSpc>
              <a:spcAft>
                <a:spcPts val="300"/>
              </a:spcAft>
            </a:pPr>
            <a:r>
              <a:rPr sz="1900" b="1" dirty="0" err="1">
                <a:solidFill>
                  <a:srgbClr val="172B4B"/>
                </a:solidFill>
                <a:latin typeface="微软雅黑"/>
                <a:ea typeface="微软雅黑"/>
              </a:rPr>
              <a:t>需求牵引</a:t>
            </a:r>
            <a:endParaRPr sz="1900" b="1" dirty="0">
              <a:solidFill>
                <a:srgbClr val="172B4B"/>
              </a:solidFill>
              <a:latin typeface="微软雅黑"/>
              <a:ea typeface="微软雅黑"/>
            </a:endParaRPr>
          </a:p>
          <a:p>
            <a:pPr algn="l">
              <a:lnSpc>
                <a:spcPct val="128000"/>
              </a:lnSpc>
              <a:spcAft>
                <a:spcPts val="300"/>
              </a:spcAft>
            </a:pPr>
            <a:r>
              <a:rPr sz="1700" b="0" dirty="0" err="1">
                <a:solidFill>
                  <a:srgbClr val="333F4F"/>
                </a:solidFill>
                <a:latin typeface="微软雅黑"/>
                <a:ea typeface="微软雅黑"/>
              </a:rPr>
              <a:t>全球约</a:t>
            </a:r>
            <a:r>
              <a:rPr sz="1700" b="0" dirty="0">
                <a:solidFill>
                  <a:srgbClr val="333F4F"/>
                </a:solidFill>
                <a:latin typeface="微软雅黑"/>
                <a:ea typeface="微软雅黑"/>
              </a:rPr>
              <a:t> 80% </a:t>
            </a:r>
            <a:r>
              <a:rPr sz="1700" b="0" dirty="0" err="1">
                <a:solidFill>
                  <a:srgbClr val="333F4F"/>
                </a:solidFill>
                <a:latin typeface="微软雅黑"/>
                <a:ea typeface="微软雅黑"/>
              </a:rPr>
              <a:t>货物贸易量经海运完成，航行安全与海事监管对船舶自动跟踪提出更高要求</a:t>
            </a:r>
            <a:r>
              <a:rPr sz="1700" b="0" dirty="0">
                <a:solidFill>
                  <a:srgbClr val="333F4F"/>
                </a:solidFill>
                <a:latin typeface="微软雅黑"/>
                <a:ea typeface="微软雅黑"/>
              </a:rPr>
              <a:t>。</a:t>
            </a:r>
          </a:p>
        </p:txBody>
      </p:sp>
      <p:sp>
        <p:nvSpPr>
          <p:cNvPr id="54" name="Rounded Rectangle 53"/>
          <p:cNvSpPr/>
          <p:nvPr/>
        </p:nvSpPr>
        <p:spPr>
          <a:xfrm>
            <a:off x="566928" y="2478024"/>
            <a:ext cx="402336" cy="402336"/>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02</a:t>
            </a:r>
          </a:p>
        </p:txBody>
      </p:sp>
      <p:sp>
        <p:nvSpPr>
          <p:cNvPr id="55" name="TextBox 54"/>
          <p:cNvSpPr txBox="1"/>
          <p:nvPr/>
        </p:nvSpPr>
        <p:spPr>
          <a:xfrm>
            <a:off x="1133856" y="2423160"/>
            <a:ext cx="5422392" cy="1050609"/>
          </a:xfrm>
          <a:prstGeom prst="rect">
            <a:avLst/>
          </a:prstGeom>
          <a:noFill/>
        </p:spPr>
        <p:txBody>
          <a:bodyPr wrap="square" lIns="0" tIns="0" rIns="0" bIns="0" anchor="t">
            <a:spAutoFit/>
          </a:bodyPr>
          <a:lstStyle/>
          <a:p>
            <a:pPr algn="l">
              <a:lnSpc>
                <a:spcPct val="128000"/>
              </a:lnSpc>
              <a:spcAft>
                <a:spcPts val="300"/>
              </a:spcAft>
            </a:pPr>
            <a:r>
              <a:rPr lang="zh-CN" altLang="en-US" sz="1900" b="1" dirty="0">
                <a:solidFill>
                  <a:srgbClr val="172B4B"/>
                </a:solidFill>
                <a:latin typeface="微软雅黑"/>
                <a:ea typeface="微软雅黑"/>
              </a:rPr>
              <a:t>漏检</a:t>
            </a:r>
            <a:r>
              <a:rPr lang="zh-CN" altLang="en-US" sz="1900" dirty="0">
                <a:solidFill>
                  <a:srgbClr val="172B4B"/>
                </a:solidFill>
                <a:latin typeface="微软雅黑"/>
                <a:ea typeface="微软雅黑"/>
              </a:rPr>
              <a:t>误</a:t>
            </a:r>
            <a:r>
              <a:rPr lang="zh-CN" altLang="en-US" sz="1900" b="1" dirty="0">
                <a:solidFill>
                  <a:srgbClr val="172B4B"/>
                </a:solidFill>
                <a:latin typeface="微软雅黑"/>
                <a:ea typeface="微软雅黑"/>
              </a:rPr>
              <a:t>检</a:t>
            </a:r>
            <a:endParaRPr sz="1900" b="1" dirty="0">
              <a:solidFill>
                <a:srgbClr val="172B4B"/>
              </a:solidFill>
              <a:latin typeface="微软雅黑"/>
              <a:ea typeface="微软雅黑"/>
            </a:endParaRPr>
          </a:p>
          <a:p>
            <a:pPr algn="l">
              <a:lnSpc>
                <a:spcPct val="128000"/>
              </a:lnSpc>
              <a:spcAft>
                <a:spcPts val="300"/>
              </a:spcAft>
            </a:pPr>
            <a:r>
              <a:rPr sz="1700" b="0" dirty="0" err="1">
                <a:solidFill>
                  <a:srgbClr val="333F4F"/>
                </a:solidFill>
                <a:latin typeface="微软雅黑"/>
                <a:ea typeface="微软雅黑"/>
              </a:rPr>
              <a:t>海面反光</a:t>
            </a:r>
            <a:r>
              <a:rPr sz="1700" b="0" dirty="0">
                <a:solidFill>
                  <a:srgbClr val="333F4F"/>
                </a:solidFill>
                <a:latin typeface="微软雅黑"/>
                <a:ea typeface="微软雅黑"/>
              </a:rPr>
              <a:t>、</a:t>
            </a:r>
            <a:r>
              <a:rPr lang="zh-CN" altLang="en-US" sz="1700" b="0" dirty="0">
                <a:solidFill>
                  <a:srgbClr val="333F4F"/>
                </a:solidFill>
                <a:latin typeface="微软雅黑"/>
                <a:ea typeface="微软雅黑"/>
              </a:rPr>
              <a:t>黄昏</a:t>
            </a:r>
            <a:r>
              <a:rPr sz="1700" b="0" dirty="0" err="1">
                <a:solidFill>
                  <a:srgbClr val="333F4F"/>
                </a:solidFill>
                <a:latin typeface="微软雅黑"/>
                <a:ea typeface="微软雅黑"/>
              </a:rPr>
              <a:t>导致漏检误检；目标交汇与遮挡引发身份切换、轨迹碎片</a:t>
            </a:r>
            <a:r>
              <a:rPr sz="1700" b="0" dirty="0">
                <a:solidFill>
                  <a:srgbClr val="333F4F"/>
                </a:solidFill>
                <a:latin typeface="微软雅黑"/>
                <a:ea typeface="微软雅黑"/>
              </a:rPr>
              <a:t>。</a:t>
            </a:r>
          </a:p>
        </p:txBody>
      </p:sp>
      <p:sp>
        <p:nvSpPr>
          <p:cNvPr id="56" name="Rounded Rectangle 55"/>
          <p:cNvSpPr/>
          <p:nvPr/>
        </p:nvSpPr>
        <p:spPr>
          <a:xfrm>
            <a:off x="566928" y="3703320"/>
            <a:ext cx="402336" cy="402336"/>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03</a:t>
            </a:r>
          </a:p>
        </p:txBody>
      </p:sp>
      <p:sp>
        <p:nvSpPr>
          <p:cNvPr id="57" name="TextBox 56"/>
          <p:cNvSpPr txBox="1"/>
          <p:nvPr/>
        </p:nvSpPr>
        <p:spPr>
          <a:xfrm>
            <a:off x="1133856" y="3648456"/>
            <a:ext cx="5422392" cy="1005840"/>
          </a:xfrm>
          <a:prstGeom prst="rect">
            <a:avLst/>
          </a:prstGeom>
          <a:noFill/>
        </p:spPr>
        <p:txBody>
          <a:bodyPr wrap="square" lIns="0" tIns="0" rIns="0" bIns="0" anchor="t">
            <a:spAutoFit/>
          </a:bodyPr>
          <a:lstStyle/>
          <a:p>
            <a:pPr algn="l">
              <a:lnSpc>
                <a:spcPct val="128000"/>
              </a:lnSpc>
              <a:spcAft>
                <a:spcPts val="300"/>
              </a:spcAft>
            </a:pPr>
            <a:r>
              <a:rPr sz="1900" b="1" dirty="0" err="1">
                <a:solidFill>
                  <a:srgbClr val="172B4B"/>
                </a:solidFill>
                <a:latin typeface="微软雅黑"/>
                <a:ea typeface="微软雅黑"/>
              </a:rPr>
              <a:t>模态互补</a:t>
            </a:r>
            <a:endParaRPr sz="1900" b="1" dirty="0">
              <a:solidFill>
                <a:srgbClr val="172B4B"/>
              </a:solidFill>
              <a:latin typeface="微软雅黑"/>
              <a:ea typeface="微软雅黑"/>
            </a:endParaRPr>
          </a:p>
          <a:p>
            <a:pPr algn="l">
              <a:lnSpc>
                <a:spcPct val="128000"/>
              </a:lnSpc>
              <a:spcAft>
                <a:spcPts val="300"/>
              </a:spcAft>
            </a:pPr>
            <a:r>
              <a:rPr sz="1700" b="0" dirty="0" err="1">
                <a:solidFill>
                  <a:srgbClr val="333F4F"/>
                </a:solidFill>
                <a:latin typeface="微软雅黑"/>
                <a:ea typeface="微软雅黑"/>
              </a:rPr>
              <a:t>可见光纹理丰富但夜间与恶劣天气退化；红外不依赖照明却缺少颜色与纹理细节</a:t>
            </a:r>
            <a:r>
              <a:rPr sz="1700" b="0" dirty="0">
                <a:solidFill>
                  <a:srgbClr val="333F4F"/>
                </a:solidFill>
                <a:latin typeface="微软雅黑"/>
                <a:ea typeface="微软雅黑"/>
              </a:rPr>
              <a:t>。</a:t>
            </a:r>
          </a:p>
        </p:txBody>
      </p:sp>
      <p:sp>
        <p:nvSpPr>
          <p:cNvPr id="58" name="Rounded Rectangle 57"/>
          <p:cNvSpPr/>
          <p:nvPr/>
        </p:nvSpPr>
        <p:spPr>
          <a:xfrm>
            <a:off x="566928" y="4928616"/>
            <a:ext cx="402336" cy="402336"/>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04</a:t>
            </a:r>
          </a:p>
        </p:txBody>
      </p:sp>
      <p:sp>
        <p:nvSpPr>
          <p:cNvPr id="59" name="TextBox 58"/>
          <p:cNvSpPr txBox="1"/>
          <p:nvPr/>
        </p:nvSpPr>
        <p:spPr>
          <a:xfrm>
            <a:off x="1133856" y="4873752"/>
            <a:ext cx="5422392" cy="1005840"/>
          </a:xfrm>
          <a:prstGeom prst="rect">
            <a:avLst/>
          </a:prstGeom>
          <a:noFill/>
        </p:spPr>
        <p:txBody>
          <a:bodyPr wrap="square" lIns="0" tIns="0" rIns="0" bIns="0" anchor="t">
            <a:spAutoFit/>
          </a:bodyPr>
          <a:lstStyle/>
          <a:p>
            <a:pPr algn="l">
              <a:lnSpc>
                <a:spcPct val="128000"/>
              </a:lnSpc>
              <a:spcAft>
                <a:spcPts val="300"/>
              </a:spcAft>
            </a:pPr>
            <a:r>
              <a:rPr sz="1900" b="1" dirty="0" err="1">
                <a:solidFill>
                  <a:srgbClr val="172B4B"/>
                </a:solidFill>
                <a:latin typeface="微软雅黑"/>
                <a:ea typeface="微软雅黑"/>
              </a:rPr>
              <a:t>研究空白</a:t>
            </a:r>
            <a:endParaRPr sz="1900" b="1" dirty="0">
              <a:solidFill>
                <a:srgbClr val="172B4B"/>
              </a:solidFill>
              <a:latin typeface="微软雅黑"/>
              <a:ea typeface="微软雅黑"/>
            </a:endParaRPr>
          </a:p>
          <a:p>
            <a:pPr algn="l">
              <a:lnSpc>
                <a:spcPct val="128000"/>
              </a:lnSpc>
              <a:spcAft>
                <a:spcPts val="300"/>
              </a:spcAft>
            </a:pPr>
            <a:r>
              <a:rPr sz="1700" b="0" dirty="0" err="1">
                <a:solidFill>
                  <a:srgbClr val="333F4F"/>
                </a:solidFill>
                <a:latin typeface="微软雅黑"/>
                <a:ea typeface="微软雅黑"/>
              </a:rPr>
              <a:t>双模态研究多集中于图像融合与单目标跟踪，面向多目标身份维持的工作仍然有限</a:t>
            </a:r>
            <a:r>
              <a:rPr sz="1700" b="0" dirty="0">
                <a:solidFill>
                  <a:srgbClr val="333F4F"/>
                </a:solidFill>
                <a:latin typeface="微软雅黑"/>
                <a:ea typeface="微软雅黑"/>
              </a:rPr>
              <a:t>。</a:t>
            </a:r>
          </a:p>
        </p:txBody>
      </p:sp>
      <p:pic>
        <p:nvPicPr>
          <p:cNvPr id="4" name="图片 3" descr="海上的风景">
            <a:extLst>
              <a:ext uri="{FF2B5EF4-FFF2-40B4-BE49-F238E27FC236}">
                <a16:creationId xmlns:a16="http://schemas.microsoft.com/office/drawing/2014/main" id="{86D2D8EA-7D8D-2AE7-E318-B6FA336DAD4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976961" y="1446322"/>
            <a:ext cx="3794760" cy="2134553"/>
          </a:xfrm>
          <a:prstGeom prst="rect">
            <a:avLst/>
          </a:prstGeom>
        </p:spPr>
      </p:pic>
      <p:pic>
        <p:nvPicPr>
          <p:cNvPr id="6" name="图片 5" descr="海上有艘船&#10;&#10;描述已自动生成">
            <a:extLst>
              <a:ext uri="{FF2B5EF4-FFF2-40B4-BE49-F238E27FC236}">
                <a16:creationId xmlns:a16="http://schemas.microsoft.com/office/drawing/2014/main" id="{BBF6DAE9-AE89-6F2E-4EB9-DED415ECB2C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995160" y="3965586"/>
            <a:ext cx="3797551" cy="2136123"/>
          </a:xfrm>
          <a:prstGeom prst="rect">
            <a:avLst/>
          </a:prstGeom>
        </p:spPr>
      </p:pic>
    </p:spTree>
    <p:extLst>
      <p:ext uri="{BB962C8B-B14F-4D97-AF65-F5344CB8AC3E}">
        <p14:creationId xmlns:p14="http://schemas.microsoft.com/office/powerpoint/2010/main" val="23350698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28">
            <a:extLst>
              <a:ext uri="{FF2B5EF4-FFF2-40B4-BE49-F238E27FC236}">
                <a16:creationId xmlns:a16="http://schemas.microsoft.com/office/drawing/2014/main" id="{04613769-CB50-461D-9765-024E88D6593D}"/>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57" name="组合 3">
            <a:extLst>
              <a:ext uri="{FF2B5EF4-FFF2-40B4-BE49-F238E27FC236}">
                <a16:creationId xmlns:a16="http://schemas.microsoft.com/office/drawing/2014/main" id="{A0389DDF-DCCE-498F-8BBE-475E4068BBE4}"/>
              </a:ext>
            </a:extLst>
          </p:cNvPr>
          <p:cNvGrpSpPr>
            <a:grpSpLocks/>
          </p:cNvGrpSpPr>
          <p:nvPr/>
        </p:nvGrpSpPr>
        <p:grpSpPr bwMode="auto">
          <a:xfrm>
            <a:off x="464577" y="165395"/>
            <a:ext cx="433338" cy="535447"/>
            <a:chOff x="10675" y="7633"/>
            <a:chExt cx="433171" cy="534549"/>
          </a:xfrm>
        </p:grpSpPr>
        <p:sp>
          <p:nvSpPr>
            <p:cNvPr id="58" name="圆角矩形 10">
              <a:extLst>
                <a:ext uri="{FF2B5EF4-FFF2-40B4-BE49-F238E27FC236}">
                  <a16:creationId xmlns:a16="http://schemas.microsoft.com/office/drawing/2014/main" id="{D04A9FD7-3F0F-4E76-B3E7-2AAAA7500262}"/>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59" name="图片 50">
              <a:extLst>
                <a:ext uri="{FF2B5EF4-FFF2-40B4-BE49-F238E27FC236}">
                  <a16:creationId xmlns:a16="http://schemas.microsoft.com/office/drawing/2014/main" id="{DD4EC5A1-E586-4862-8E7D-86EEDB4BB8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0" name="图片 59">
            <a:extLst>
              <a:ext uri="{FF2B5EF4-FFF2-40B4-BE49-F238E27FC236}">
                <a16:creationId xmlns:a16="http://schemas.microsoft.com/office/drawing/2014/main" id="{27BD5E15-0935-4140-BEAB-C1BBD88AC28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61" name="TextBox 29">
            <a:extLst>
              <a:ext uri="{FF2B5EF4-FFF2-40B4-BE49-F238E27FC236}">
                <a16:creationId xmlns:a16="http://schemas.microsoft.com/office/drawing/2014/main" id="{C03061E2-1374-4B1B-BB24-6757C7E277BC}"/>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a:solidFill>
                  <a:schemeClr val="bg1"/>
                </a:solidFill>
                <a:effectLst>
                  <a:outerShdw blurRad="38100" dist="38100" dir="2700000" algn="tl">
                    <a:srgbClr val="C0C0C0"/>
                  </a:outerShdw>
                </a:effectLst>
                <a:latin typeface="微软雅黑" pitchFamily="34" charset="-122"/>
                <a:ea typeface="微软雅黑" pitchFamily="34" charset="-122"/>
              </a:rPr>
              <a:t>总体</a:t>
            </a:r>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技术架构</a:t>
            </a:r>
          </a:p>
        </p:txBody>
      </p:sp>
      <p:sp>
        <p:nvSpPr>
          <p:cNvPr id="62" name="TextBox 61"/>
          <p:cNvSpPr txBox="1"/>
          <p:nvPr/>
        </p:nvSpPr>
        <p:spPr>
          <a:xfrm>
            <a:off x="566928" y="1152144"/>
            <a:ext cx="10378440" cy="667042"/>
          </a:xfrm>
          <a:prstGeom prst="rect">
            <a:avLst/>
          </a:prstGeom>
          <a:noFill/>
        </p:spPr>
        <p:txBody>
          <a:bodyPr wrap="square" lIns="0" tIns="0" rIns="0" bIns="0" anchor="t">
            <a:spAutoFit/>
          </a:bodyPr>
          <a:lstStyle/>
          <a:p>
            <a:pPr algn="l">
              <a:lnSpc>
                <a:spcPct val="130000"/>
              </a:lnSpc>
              <a:spcAft>
                <a:spcPts val="600"/>
              </a:spcAft>
            </a:pPr>
            <a:r>
              <a:rPr sz="1800" b="1" dirty="0" err="1">
                <a:solidFill>
                  <a:srgbClr val="172B4B"/>
                </a:solidFill>
                <a:latin typeface="微软雅黑"/>
                <a:ea typeface="微软雅黑"/>
              </a:rPr>
              <a:t>总体思路</a:t>
            </a:r>
            <a:r>
              <a:rPr sz="1800" b="1" dirty="0">
                <a:solidFill>
                  <a:srgbClr val="172B4B"/>
                </a:solidFill>
                <a:latin typeface="微软雅黑"/>
                <a:ea typeface="微软雅黑"/>
              </a:rPr>
              <a:t>：</a:t>
            </a:r>
            <a:r>
              <a:rPr lang="zh-CN" altLang="en-US" sz="1700" b="0" dirty="0">
                <a:solidFill>
                  <a:srgbClr val="333F4F"/>
                </a:solidFill>
                <a:latin typeface="微软雅黑"/>
                <a:ea typeface="微软雅黑"/>
              </a:rPr>
              <a:t>构建可见光红外数据集，按</a:t>
            </a:r>
            <a:r>
              <a:rPr sz="1700" b="0" dirty="0">
                <a:solidFill>
                  <a:srgbClr val="333F4F"/>
                </a:solidFill>
                <a:latin typeface="微软雅黑"/>
                <a:ea typeface="微软雅黑"/>
              </a:rPr>
              <a:t>“</a:t>
            </a:r>
            <a:r>
              <a:rPr sz="1700" b="0" dirty="0" err="1">
                <a:solidFill>
                  <a:srgbClr val="333F4F"/>
                </a:solidFill>
                <a:latin typeface="微软雅黑"/>
                <a:ea typeface="微软雅黑"/>
              </a:rPr>
              <a:t>检测后跟踪</a:t>
            </a:r>
            <a:r>
              <a:rPr sz="1700" b="0" dirty="0">
                <a:solidFill>
                  <a:srgbClr val="333F4F"/>
                </a:solidFill>
                <a:latin typeface="微软雅黑"/>
                <a:ea typeface="微软雅黑"/>
              </a:rPr>
              <a:t> — </a:t>
            </a:r>
            <a:r>
              <a:rPr sz="1700" b="0" dirty="0" err="1">
                <a:solidFill>
                  <a:srgbClr val="333F4F"/>
                </a:solidFill>
                <a:latin typeface="微软雅黑"/>
                <a:ea typeface="微软雅黑"/>
              </a:rPr>
              <a:t>联合检测与身份嵌入</a:t>
            </a:r>
            <a:r>
              <a:rPr sz="1700" b="0" dirty="0">
                <a:solidFill>
                  <a:srgbClr val="333F4F"/>
                </a:solidFill>
                <a:latin typeface="微软雅黑"/>
                <a:ea typeface="微软雅黑"/>
              </a:rPr>
              <a:t> — </a:t>
            </a:r>
            <a:r>
              <a:rPr sz="1700" b="0" dirty="0" err="1">
                <a:solidFill>
                  <a:srgbClr val="333F4F"/>
                </a:solidFill>
                <a:latin typeface="微软雅黑"/>
                <a:ea typeface="微软雅黑"/>
              </a:rPr>
              <a:t>联合检测跟踪”三条技术路线递进展开</a:t>
            </a:r>
            <a:endParaRPr sz="1700" b="0" dirty="0">
              <a:solidFill>
                <a:srgbClr val="333F4F"/>
              </a:solidFill>
              <a:latin typeface="微软雅黑"/>
              <a:ea typeface="微软雅黑"/>
            </a:endParaRPr>
          </a:p>
        </p:txBody>
      </p:sp>
      <p:sp>
        <p:nvSpPr>
          <p:cNvPr id="63" name="Rounded Rectangle 62"/>
          <p:cNvSpPr/>
          <p:nvPr/>
        </p:nvSpPr>
        <p:spPr>
          <a:xfrm>
            <a:off x="548640" y="2029968"/>
            <a:ext cx="4983480" cy="1755648"/>
          </a:xfrm>
          <a:prstGeom prst="roundRect">
            <a:avLst>
              <a:gd name="adj" fmla="val 6000"/>
            </a:avLst>
          </a:prstGeom>
          <a:solidFill>
            <a:srgbClr val="F2F7FC"/>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endParaRPr/>
          </a:p>
        </p:txBody>
      </p:sp>
      <p:sp>
        <p:nvSpPr>
          <p:cNvPr id="64" name="Rounded Rectangle 63"/>
          <p:cNvSpPr/>
          <p:nvPr/>
        </p:nvSpPr>
        <p:spPr>
          <a:xfrm>
            <a:off x="786384" y="2322576"/>
            <a:ext cx="420624" cy="420624"/>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01</a:t>
            </a:r>
          </a:p>
        </p:txBody>
      </p:sp>
      <p:sp>
        <p:nvSpPr>
          <p:cNvPr id="65" name="TextBox 64"/>
          <p:cNvSpPr txBox="1"/>
          <p:nvPr/>
        </p:nvSpPr>
        <p:spPr>
          <a:xfrm>
            <a:off x="1371600" y="2286000"/>
            <a:ext cx="3950208" cy="1371600"/>
          </a:xfrm>
          <a:prstGeom prst="rect">
            <a:avLst/>
          </a:prstGeom>
          <a:noFill/>
        </p:spPr>
        <p:txBody>
          <a:bodyPr wrap="square" lIns="0" tIns="0" rIns="0" bIns="0" anchor="t">
            <a:spAutoFit/>
          </a:bodyPr>
          <a:lstStyle/>
          <a:p>
            <a:pPr algn="l">
              <a:lnSpc>
                <a:spcPct val="126000"/>
              </a:lnSpc>
              <a:spcAft>
                <a:spcPts val="300"/>
              </a:spcAft>
            </a:pPr>
            <a:r>
              <a:rPr sz="1750" b="1" dirty="0" err="1">
                <a:solidFill>
                  <a:srgbClr val="172B4B"/>
                </a:solidFill>
                <a:latin typeface="微软雅黑"/>
                <a:ea typeface="微软雅黑"/>
              </a:rPr>
              <a:t>可见光</a:t>
            </a:r>
            <a:r>
              <a:rPr sz="1750" b="1" dirty="0">
                <a:solidFill>
                  <a:srgbClr val="172B4B"/>
                </a:solidFill>
                <a:latin typeface="微软雅黑"/>
                <a:ea typeface="微软雅黑"/>
              </a:rPr>
              <a:t>—</a:t>
            </a:r>
            <a:r>
              <a:rPr sz="1750" b="1" dirty="0" err="1">
                <a:solidFill>
                  <a:srgbClr val="172B4B"/>
                </a:solidFill>
                <a:latin typeface="微软雅黑"/>
                <a:ea typeface="微软雅黑"/>
              </a:rPr>
              <a:t>红外船舶数据集构建</a:t>
            </a:r>
            <a:endParaRPr sz="1750" b="1" dirty="0">
              <a:solidFill>
                <a:srgbClr val="172B4B"/>
              </a:solidFill>
              <a:latin typeface="微软雅黑"/>
              <a:ea typeface="微软雅黑"/>
            </a:endParaRPr>
          </a:p>
          <a:p>
            <a:pPr algn="l">
              <a:lnSpc>
                <a:spcPct val="126000"/>
              </a:lnSpc>
              <a:spcAft>
                <a:spcPts val="300"/>
              </a:spcAft>
            </a:pPr>
            <a:r>
              <a:rPr sz="1550" b="0" dirty="0" err="1">
                <a:solidFill>
                  <a:srgbClr val="333F4F"/>
                </a:solidFill>
                <a:latin typeface="微软雅黑"/>
                <a:ea typeface="微软雅黑"/>
              </a:rPr>
              <a:t>整理双模态船舶视频并核对时空配准，用</a:t>
            </a:r>
            <a:r>
              <a:rPr sz="1550" b="0" dirty="0">
                <a:solidFill>
                  <a:srgbClr val="333F4F"/>
                </a:solidFill>
                <a:latin typeface="微软雅黑"/>
                <a:ea typeface="微软雅黑"/>
              </a:rPr>
              <a:t> CVAT </a:t>
            </a:r>
            <a:r>
              <a:rPr sz="1550" b="0" dirty="0" err="1">
                <a:solidFill>
                  <a:srgbClr val="333F4F"/>
                </a:solidFill>
                <a:latin typeface="微软雅黑"/>
                <a:ea typeface="微软雅黑"/>
              </a:rPr>
              <a:t>标注边界框、类别与跨帧</a:t>
            </a:r>
            <a:r>
              <a:rPr sz="1550" b="0" dirty="0">
                <a:solidFill>
                  <a:srgbClr val="333F4F"/>
                </a:solidFill>
                <a:latin typeface="微软雅黑"/>
                <a:ea typeface="微软雅黑"/>
              </a:rPr>
              <a:t> Track </a:t>
            </a:r>
            <a:r>
              <a:rPr sz="1550" b="0" dirty="0" err="1">
                <a:solidFill>
                  <a:srgbClr val="333F4F"/>
                </a:solidFill>
                <a:latin typeface="微软雅黑"/>
                <a:ea typeface="微软雅黑"/>
              </a:rPr>
              <a:t>ID，按独立序列划分数据集</a:t>
            </a:r>
            <a:r>
              <a:rPr sz="1550" b="0" dirty="0">
                <a:solidFill>
                  <a:srgbClr val="333F4F"/>
                </a:solidFill>
                <a:latin typeface="微软雅黑"/>
                <a:ea typeface="微软雅黑"/>
              </a:rPr>
              <a:t>。</a:t>
            </a:r>
          </a:p>
        </p:txBody>
      </p:sp>
      <p:sp>
        <p:nvSpPr>
          <p:cNvPr id="66" name="Rounded Rectangle 65"/>
          <p:cNvSpPr/>
          <p:nvPr/>
        </p:nvSpPr>
        <p:spPr>
          <a:xfrm>
            <a:off x="5989320" y="2029968"/>
            <a:ext cx="4983480" cy="1755648"/>
          </a:xfrm>
          <a:prstGeom prst="roundRect">
            <a:avLst>
              <a:gd name="adj" fmla="val 6000"/>
            </a:avLst>
          </a:prstGeom>
          <a:solidFill>
            <a:srgbClr val="F2F7FC"/>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endParaRPr/>
          </a:p>
        </p:txBody>
      </p:sp>
      <p:sp>
        <p:nvSpPr>
          <p:cNvPr id="67" name="Rounded Rectangle 66"/>
          <p:cNvSpPr/>
          <p:nvPr/>
        </p:nvSpPr>
        <p:spPr>
          <a:xfrm>
            <a:off x="6227064" y="2322576"/>
            <a:ext cx="420624" cy="420624"/>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02</a:t>
            </a:r>
          </a:p>
        </p:txBody>
      </p:sp>
      <p:sp>
        <p:nvSpPr>
          <p:cNvPr id="68" name="TextBox 67"/>
          <p:cNvSpPr txBox="1"/>
          <p:nvPr/>
        </p:nvSpPr>
        <p:spPr>
          <a:xfrm>
            <a:off x="6812280" y="2286000"/>
            <a:ext cx="3950208" cy="1371600"/>
          </a:xfrm>
          <a:prstGeom prst="rect">
            <a:avLst/>
          </a:prstGeom>
          <a:noFill/>
        </p:spPr>
        <p:txBody>
          <a:bodyPr wrap="square" lIns="0" tIns="0" rIns="0" bIns="0" anchor="t">
            <a:spAutoFit/>
          </a:bodyPr>
          <a:lstStyle/>
          <a:p>
            <a:pPr algn="l">
              <a:lnSpc>
                <a:spcPct val="126000"/>
              </a:lnSpc>
              <a:spcAft>
                <a:spcPts val="300"/>
              </a:spcAft>
            </a:pPr>
            <a:r>
              <a:rPr sz="1750" b="1">
                <a:solidFill>
                  <a:srgbClr val="172B4B"/>
                </a:solidFill>
                <a:latin typeface="微软雅黑"/>
                <a:ea typeface="微软雅黑"/>
              </a:rPr>
              <a:t>检测后跟踪算法研究</a:t>
            </a:r>
          </a:p>
          <a:p>
            <a:pPr algn="l">
              <a:lnSpc>
                <a:spcPct val="126000"/>
              </a:lnSpc>
              <a:spcAft>
                <a:spcPts val="300"/>
              </a:spcAft>
            </a:pPr>
            <a:r>
              <a:rPr sz="1550" b="0">
                <a:solidFill>
                  <a:srgbClr val="333F4F"/>
                </a:solidFill>
                <a:latin typeface="微软雅黑"/>
                <a:ea typeface="微软雅黑"/>
              </a:rPr>
              <a:t>以 ByteTrack 为基线，研究红外与可见光检测结果在检测框融合、置信度协同与数据关联阶段的利用方式。</a:t>
            </a:r>
          </a:p>
        </p:txBody>
      </p:sp>
      <p:sp>
        <p:nvSpPr>
          <p:cNvPr id="69" name="Rounded Rectangle 68"/>
          <p:cNvSpPr/>
          <p:nvPr/>
        </p:nvSpPr>
        <p:spPr>
          <a:xfrm>
            <a:off x="548640" y="3950208"/>
            <a:ext cx="4983480" cy="1755648"/>
          </a:xfrm>
          <a:prstGeom prst="roundRect">
            <a:avLst>
              <a:gd name="adj" fmla="val 6000"/>
            </a:avLst>
          </a:prstGeom>
          <a:solidFill>
            <a:srgbClr val="F2F7FC"/>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endParaRPr/>
          </a:p>
        </p:txBody>
      </p:sp>
      <p:sp>
        <p:nvSpPr>
          <p:cNvPr id="70" name="Rounded Rectangle 69"/>
          <p:cNvSpPr/>
          <p:nvPr/>
        </p:nvSpPr>
        <p:spPr>
          <a:xfrm>
            <a:off x="786384" y="4242816"/>
            <a:ext cx="420624" cy="420624"/>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03</a:t>
            </a:r>
          </a:p>
        </p:txBody>
      </p:sp>
      <p:sp>
        <p:nvSpPr>
          <p:cNvPr id="71" name="TextBox 70"/>
          <p:cNvSpPr txBox="1"/>
          <p:nvPr/>
        </p:nvSpPr>
        <p:spPr>
          <a:xfrm>
            <a:off x="1371600" y="4206240"/>
            <a:ext cx="3950208" cy="1371600"/>
          </a:xfrm>
          <a:prstGeom prst="rect">
            <a:avLst/>
          </a:prstGeom>
          <a:noFill/>
        </p:spPr>
        <p:txBody>
          <a:bodyPr wrap="square" lIns="0" tIns="0" rIns="0" bIns="0" anchor="t">
            <a:spAutoFit/>
          </a:bodyPr>
          <a:lstStyle/>
          <a:p>
            <a:pPr algn="l">
              <a:lnSpc>
                <a:spcPct val="126000"/>
              </a:lnSpc>
              <a:spcAft>
                <a:spcPts val="300"/>
              </a:spcAft>
            </a:pPr>
            <a:r>
              <a:rPr sz="1750" b="1">
                <a:solidFill>
                  <a:srgbClr val="172B4B"/>
                </a:solidFill>
                <a:latin typeface="微软雅黑"/>
                <a:ea typeface="微软雅黑"/>
              </a:rPr>
              <a:t>联合检测与身份嵌入算法研究</a:t>
            </a:r>
          </a:p>
          <a:p>
            <a:pPr algn="l">
              <a:lnSpc>
                <a:spcPct val="126000"/>
              </a:lnSpc>
              <a:spcAft>
                <a:spcPts val="300"/>
              </a:spcAft>
            </a:pPr>
            <a:r>
              <a:rPr sz="1550" b="0">
                <a:solidFill>
                  <a:srgbClr val="333F4F"/>
                </a:solidFill>
                <a:latin typeface="微软雅黑"/>
                <a:ea typeface="微软雅黑"/>
              </a:rPr>
              <a:t>以 FairMOT 为基线，研究外观特征在船舶交汇、遮挡情况下减少身份切换、维持轨迹连续性的作用。</a:t>
            </a:r>
          </a:p>
        </p:txBody>
      </p:sp>
      <p:sp>
        <p:nvSpPr>
          <p:cNvPr id="72" name="Rounded Rectangle 71"/>
          <p:cNvSpPr/>
          <p:nvPr/>
        </p:nvSpPr>
        <p:spPr>
          <a:xfrm>
            <a:off x="5989320" y="3950208"/>
            <a:ext cx="4983480" cy="1755648"/>
          </a:xfrm>
          <a:prstGeom prst="roundRect">
            <a:avLst>
              <a:gd name="adj" fmla="val 6000"/>
            </a:avLst>
          </a:prstGeom>
          <a:solidFill>
            <a:srgbClr val="F2F7FC"/>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endParaRPr/>
          </a:p>
        </p:txBody>
      </p:sp>
      <p:sp>
        <p:nvSpPr>
          <p:cNvPr id="73" name="Rounded Rectangle 72"/>
          <p:cNvSpPr/>
          <p:nvPr/>
        </p:nvSpPr>
        <p:spPr>
          <a:xfrm>
            <a:off x="6227064" y="4242816"/>
            <a:ext cx="420624" cy="420624"/>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04</a:t>
            </a:r>
          </a:p>
        </p:txBody>
      </p:sp>
      <p:sp>
        <p:nvSpPr>
          <p:cNvPr id="74" name="TextBox 73"/>
          <p:cNvSpPr txBox="1"/>
          <p:nvPr/>
        </p:nvSpPr>
        <p:spPr>
          <a:xfrm>
            <a:off x="6812280" y="4206240"/>
            <a:ext cx="3950208" cy="1371600"/>
          </a:xfrm>
          <a:prstGeom prst="rect">
            <a:avLst/>
          </a:prstGeom>
          <a:noFill/>
        </p:spPr>
        <p:txBody>
          <a:bodyPr wrap="square" lIns="0" tIns="0" rIns="0" bIns="0" anchor="t">
            <a:spAutoFit/>
          </a:bodyPr>
          <a:lstStyle/>
          <a:p>
            <a:pPr algn="l">
              <a:lnSpc>
                <a:spcPct val="126000"/>
              </a:lnSpc>
              <a:spcAft>
                <a:spcPts val="300"/>
              </a:spcAft>
            </a:pPr>
            <a:r>
              <a:rPr sz="1750" b="1" dirty="0" err="1">
                <a:solidFill>
                  <a:srgbClr val="172B4B"/>
                </a:solidFill>
                <a:latin typeface="微软雅黑"/>
                <a:ea typeface="微软雅黑"/>
              </a:rPr>
              <a:t>联合检测跟踪算法研究</a:t>
            </a:r>
            <a:endParaRPr sz="1750" b="1" dirty="0">
              <a:solidFill>
                <a:srgbClr val="172B4B"/>
              </a:solidFill>
              <a:latin typeface="微软雅黑"/>
              <a:ea typeface="微软雅黑"/>
            </a:endParaRPr>
          </a:p>
          <a:p>
            <a:pPr algn="l">
              <a:lnSpc>
                <a:spcPct val="126000"/>
              </a:lnSpc>
              <a:spcAft>
                <a:spcPts val="300"/>
              </a:spcAft>
            </a:pPr>
            <a:r>
              <a:rPr sz="1550" b="0" dirty="0">
                <a:solidFill>
                  <a:srgbClr val="333F4F"/>
                </a:solidFill>
                <a:latin typeface="微软雅黑"/>
                <a:ea typeface="微软雅黑"/>
              </a:rPr>
              <a:t>以 MOTR </a:t>
            </a:r>
            <a:r>
              <a:rPr sz="1550" b="0" dirty="0" err="1">
                <a:solidFill>
                  <a:srgbClr val="333F4F"/>
                </a:solidFill>
                <a:latin typeface="微软雅黑"/>
                <a:ea typeface="微软雅黑"/>
              </a:rPr>
              <a:t>为基线，引入双模态特征融合模块，研究双模态特征对轨迹查询更新与目标身份保持的影响</a:t>
            </a:r>
            <a:r>
              <a:rPr sz="1550" b="0" dirty="0">
                <a:solidFill>
                  <a:srgbClr val="333F4F"/>
                </a:solidFill>
                <a:latin typeface="微软雅黑"/>
                <a:ea typeface="微软雅黑"/>
              </a:rPr>
              <a:t>。</a:t>
            </a:r>
          </a:p>
        </p:txBody>
      </p:sp>
    </p:spTree>
    <p:extLst>
      <p:ext uri="{BB962C8B-B14F-4D97-AF65-F5344CB8AC3E}">
        <p14:creationId xmlns:p14="http://schemas.microsoft.com/office/powerpoint/2010/main" val="15529139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28">
            <a:extLst>
              <a:ext uri="{FF2B5EF4-FFF2-40B4-BE49-F238E27FC236}">
                <a16:creationId xmlns:a16="http://schemas.microsoft.com/office/drawing/2014/main" id="{04613769-CB50-461D-9765-024E88D6593D}"/>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57" name="组合 3">
            <a:extLst>
              <a:ext uri="{FF2B5EF4-FFF2-40B4-BE49-F238E27FC236}">
                <a16:creationId xmlns:a16="http://schemas.microsoft.com/office/drawing/2014/main" id="{A0389DDF-DCCE-498F-8BBE-475E4068BBE4}"/>
              </a:ext>
            </a:extLst>
          </p:cNvPr>
          <p:cNvGrpSpPr>
            <a:grpSpLocks/>
          </p:cNvGrpSpPr>
          <p:nvPr/>
        </p:nvGrpSpPr>
        <p:grpSpPr bwMode="auto">
          <a:xfrm>
            <a:off x="464577" y="165395"/>
            <a:ext cx="433338" cy="535447"/>
            <a:chOff x="10675" y="7633"/>
            <a:chExt cx="433171" cy="534549"/>
          </a:xfrm>
        </p:grpSpPr>
        <p:sp>
          <p:nvSpPr>
            <p:cNvPr id="58" name="圆角矩形 10">
              <a:extLst>
                <a:ext uri="{FF2B5EF4-FFF2-40B4-BE49-F238E27FC236}">
                  <a16:creationId xmlns:a16="http://schemas.microsoft.com/office/drawing/2014/main" id="{D04A9FD7-3F0F-4E76-B3E7-2AAAA7500262}"/>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59" name="图片 50">
              <a:extLst>
                <a:ext uri="{FF2B5EF4-FFF2-40B4-BE49-F238E27FC236}">
                  <a16:creationId xmlns:a16="http://schemas.microsoft.com/office/drawing/2014/main" id="{DD4EC5A1-E586-4862-8E7D-86EEDB4BB8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0" name="图片 59">
            <a:extLst>
              <a:ext uri="{FF2B5EF4-FFF2-40B4-BE49-F238E27FC236}">
                <a16:creationId xmlns:a16="http://schemas.microsoft.com/office/drawing/2014/main" id="{27BD5E15-0935-4140-BEAB-C1BBD88AC28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61" name="TextBox 29">
            <a:extLst>
              <a:ext uri="{FF2B5EF4-FFF2-40B4-BE49-F238E27FC236}">
                <a16:creationId xmlns:a16="http://schemas.microsoft.com/office/drawing/2014/main" id="{C03061E2-1374-4B1B-BB24-6757C7E277BC}"/>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数据集构建</a:t>
            </a:r>
          </a:p>
        </p:txBody>
      </p:sp>
      <p:pic>
        <p:nvPicPr>
          <p:cNvPr id="2" name="图片 1">
            <a:extLst>
              <a:ext uri="{FF2B5EF4-FFF2-40B4-BE49-F238E27FC236}">
                <a16:creationId xmlns:a16="http://schemas.microsoft.com/office/drawing/2014/main" id="{EFCC27C2-8CE5-95CD-3CE8-2F5F3E9B2A3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39020" y="1401813"/>
            <a:ext cx="5274310" cy="2889250"/>
          </a:xfrm>
          <a:prstGeom prst="rect">
            <a:avLst/>
          </a:prstGeom>
        </p:spPr>
      </p:pic>
      <p:pic>
        <p:nvPicPr>
          <p:cNvPr id="3" name="图片 2">
            <a:extLst>
              <a:ext uri="{FF2B5EF4-FFF2-40B4-BE49-F238E27FC236}">
                <a16:creationId xmlns:a16="http://schemas.microsoft.com/office/drawing/2014/main" id="{4379411F-24F4-FCEA-770E-CE288DDB9FE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013074" y="1401813"/>
            <a:ext cx="5274310" cy="2927985"/>
          </a:xfrm>
          <a:prstGeom prst="rect">
            <a:avLst/>
          </a:prstGeom>
        </p:spPr>
      </p:pic>
      <p:sp>
        <p:nvSpPr>
          <p:cNvPr id="4" name="文本框 3">
            <a:extLst>
              <a:ext uri="{FF2B5EF4-FFF2-40B4-BE49-F238E27FC236}">
                <a16:creationId xmlns:a16="http://schemas.microsoft.com/office/drawing/2014/main" id="{9E633937-B2FE-8ADF-0483-2B857E65D3A1}"/>
              </a:ext>
            </a:extLst>
          </p:cNvPr>
          <p:cNvSpPr txBox="1"/>
          <p:nvPr/>
        </p:nvSpPr>
        <p:spPr>
          <a:xfrm>
            <a:off x="2671206" y="4818991"/>
            <a:ext cx="6178075" cy="758093"/>
          </a:xfrm>
          <a:prstGeom prst="rect">
            <a:avLst/>
          </a:prstGeom>
          <a:noFill/>
        </p:spPr>
        <p:txBody>
          <a:bodyPr wrap="square" rtlCol="0">
            <a:spAutoFit/>
          </a:bodyPr>
          <a:lstStyle/>
          <a:p>
            <a:pPr algn="l">
              <a:lnSpc>
                <a:spcPct val="126000"/>
              </a:lnSpc>
              <a:spcAft>
                <a:spcPts val="300"/>
              </a:spcAft>
            </a:pPr>
            <a:r>
              <a:rPr lang="zh-CN" altLang="en-US" sz="1800" b="0" dirty="0">
                <a:solidFill>
                  <a:srgbClr val="333F4F"/>
                </a:solidFill>
                <a:latin typeface="微软雅黑"/>
                <a:ea typeface="微软雅黑"/>
              </a:rPr>
              <a:t>用 </a:t>
            </a:r>
            <a:r>
              <a:rPr lang="en-US" altLang="zh-CN" sz="1800" b="0" dirty="0">
                <a:solidFill>
                  <a:srgbClr val="333F4F"/>
                </a:solidFill>
                <a:latin typeface="微软雅黑"/>
                <a:ea typeface="微软雅黑"/>
              </a:rPr>
              <a:t>CVAT </a:t>
            </a:r>
            <a:r>
              <a:rPr lang="zh-CN" altLang="en-US" sz="1800" b="0" dirty="0">
                <a:solidFill>
                  <a:srgbClr val="333F4F"/>
                </a:solidFill>
                <a:latin typeface="微软雅黑"/>
                <a:ea typeface="微软雅黑"/>
              </a:rPr>
              <a:t>标注边界框、类别与跨帧 </a:t>
            </a:r>
            <a:r>
              <a:rPr lang="en-US" altLang="zh-CN" sz="1800" b="0" dirty="0">
                <a:solidFill>
                  <a:srgbClr val="333F4F"/>
                </a:solidFill>
                <a:latin typeface="微软雅黑"/>
                <a:ea typeface="微软雅黑"/>
              </a:rPr>
              <a:t>Track ID</a:t>
            </a:r>
            <a:r>
              <a:rPr lang="zh-CN" altLang="en-US" sz="1800" b="0" dirty="0">
                <a:solidFill>
                  <a:srgbClr val="333F4F"/>
                </a:solidFill>
                <a:latin typeface="微软雅黑"/>
                <a:ea typeface="微软雅黑"/>
              </a:rPr>
              <a:t>，按独立序列划分数据集。</a:t>
            </a:r>
          </a:p>
        </p:txBody>
      </p:sp>
    </p:spTree>
    <p:extLst>
      <p:ext uri="{BB962C8B-B14F-4D97-AF65-F5344CB8AC3E}">
        <p14:creationId xmlns:p14="http://schemas.microsoft.com/office/powerpoint/2010/main" val="5954827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28">
            <a:extLst>
              <a:ext uri="{FF2B5EF4-FFF2-40B4-BE49-F238E27FC236}">
                <a16:creationId xmlns:a16="http://schemas.microsoft.com/office/drawing/2014/main" id="{04613769-CB50-461D-9765-024E88D6593D}"/>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57" name="组合 3">
            <a:extLst>
              <a:ext uri="{FF2B5EF4-FFF2-40B4-BE49-F238E27FC236}">
                <a16:creationId xmlns:a16="http://schemas.microsoft.com/office/drawing/2014/main" id="{A0389DDF-DCCE-498F-8BBE-475E4068BBE4}"/>
              </a:ext>
            </a:extLst>
          </p:cNvPr>
          <p:cNvGrpSpPr>
            <a:grpSpLocks/>
          </p:cNvGrpSpPr>
          <p:nvPr/>
        </p:nvGrpSpPr>
        <p:grpSpPr bwMode="auto">
          <a:xfrm>
            <a:off x="464577" y="165395"/>
            <a:ext cx="433338" cy="535447"/>
            <a:chOff x="10675" y="7633"/>
            <a:chExt cx="433171" cy="534549"/>
          </a:xfrm>
        </p:grpSpPr>
        <p:sp>
          <p:nvSpPr>
            <p:cNvPr id="58" name="圆角矩形 10">
              <a:extLst>
                <a:ext uri="{FF2B5EF4-FFF2-40B4-BE49-F238E27FC236}">
                  <a16:creationId xmlns:a16="http://schemas.microsoft.com/office/drawing/2014/main" id="{D04A9FD7-3F0F-4E76-B3E7-2AAAA7500262}"/>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59" name="图片 50">
              <a:extLst>
                <a:ext uri="{FF2B5EF4-FFF2-40B4-BE49-F238E27FC236}">
                  <a16:creationId xmlns:a16="http://schemas.microsoft.com/office/drawing/2014/main" id="{DD4EC5A1-E586-4862-8E7D-86EEDB4BB8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0" name="图片 59">
            <a:extLst>
              <a:ext uri="{FF2B5EF4-FFF2-40B4-BE49-F238E27FC236}">
                <a16:creationId xmlns:a16="http://schemas.microsoft.com/office/drawing/2014/main" id="{27BD5E15-0935-4140-BEAB-C1BBD88AC28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61" name="TextBox 29">
            <a:extLst>
              <a:ext uri="{FF2B5EF4-FFF2-40B4-BE49-F238E27FC236}">
                <a16:creationId xmlns:a16="http://schemas.microsoft.com/office/drawing/2014/main" id="{C03061E2-1374-4B1B-BB24-6757C7E277BC}"/>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数据集构建</a:t>
            </a:r>
          </a:p>
        </p:txBody>
      </p:sp>
      <p:pic>
        <p:nvPicPr>
          <p:cNvPr id="5" name="图片 4">
            <a:extLst>
              <a:ext uri="{FF2B5EF4-FFF2-40B4-BE49-F238E27FC236}">
                <a16:creationId xmlns:a16="http://schemas.microsoft.com/office/drawing/2014/main" id="{E8897BDE-3CB0-9EFC-2C19-291DA3EF1579}"/>
              </a:ext>
            </a:extLst>
          </p:cNvPr>
          <p:cNvPicPr>
            <a:picLocks noChangeAspect="1"/>
          </p:cNvPicPr>
          <p:nvPr/>
        </p:nvPicPr>
        <p:blipFill>
          <a:blip r:embed="rId7"/>
          <a:stretch>
            <a:fillRect/>
          </a:stretch>
        </p:blipFill>
        <p:spPr>
          <a:xfrm>
            <a:off x="853192" y="1487487"/>
            <a:ext cx="5277849" cy="3200400"/>
          </a:xfrm>
          <a:prstGeom prst="rect">
            <a:avLst/>
          </a:prstGeom>
        </p:spPr>
      </p:pic>
      <p:sp>
        <p:nvSpPr>
          <p:cNvPr id="3" name="文本框 2">
            <a:extLst>
              <a:ext uri="{FF2B5EF4-FFF2-40B4-BE49-F238E27FC236}">
                <a16:creationId xmlns:a16="http://schemas.microsoft.com/office/drawing/2014/main" id="{90B767D0-CFCD-CC16-DC48-C9C9D41561AD}"/>
              </a:ext>
            </a:extLst>
          </p:cNvPr>
          <p:cNvSpPr txBox="1"/>
          <p:nvPr/>
        </p:nvSpPr>
        <p:spPr>
          <a:xfrm>
            <a:off x="6628696" y="3770003"/>
            <a:ext cx="4038600" cy="369332"/>
          </a:xfrm>
          <a:prstGeom prst="rect">
            <a:avLst/>
          </a:prstGeom>
          <a:noFill/>
        </p:spPr>
        <p:txBody>
          <a:bodyPr wrap="square">
            <a:spAutoFit/>
          </a:bodyPr>
          <a:lstStyle/>
          <a:p>
            <a:r>
              <a:rPr lang="zh-CN" altLang="en-US" sz="1800" b="0" dirty="0">
                <a:solidFill>
                  <a:srgbClr val="333F4F"/>
                </a:solidFill>
                <a:latin typeface="微软雅黑"/>
                <a:ea typeface="微软雅黑"/>
              </a:rPr>
              <a:t>整理双模态船舶视频并配准</a:t>
            </a:r>
            <a:endParaRPr lang="zh-CN" altLang="en-US" dirty="0"/>
          </a:p>
        </p:txBody>
      </p:sp>
      <p:sp>
        <p:nvSpPr>
          <p:cNvPr id="2" name="TextBox 65">
            <a:extLst>
              <a:ext uri="{FF2B5EF4-FFF2-40B4-BE49-F238E27FC236}">
                <a16:creationId xmlns:a16="http://schemas.microsoft.com/office/drawing/2014/main" id="{841CF838-9F17-0CF2-AB5B-CA41A34F2B44}"/>
              </a:ext>
            </a:extLst>
          </p:cNvPr>
          <p:cNvSpPr txBox="1"/>
          <p:nvPr/>
        </p:nvSpPr>
        <p:spPr>
          <a:xfrm>
            <a:off x="6888395" y="2407140"/>
            <a:ext cx="3559588" cy="303032"/>
          </a:xfrm>
          <a:prstGeom prst="rect">
            <a:avLst/>
          </a:prstGeom>
          <a:noFill/>
        </p:spPr>
        <p:txBody>
          <a:bodyPr wrap="square" lIns="0" tIns="0" rIns="0" bIns="0" anchor="t">
            <a:spAutoFit/>
          </a:bodyPr>
          <a:lstStyle/>
          <a:p>
            <a:pPr algn="l">
              <a:lnSpc>
                <a:spcPct val="128000"/>
              </a:lnSpc>
              <a:spcAft>
                <a:spcPts val="300"/>
              </a:spcAft>
            </a:pPr>
            <a:r>
              <a:rPr sz="1700" b="0" dirty="0" err="1">
                <a:solidFill>
                  <a:srgbClr val="333F4F"/>
                </a:solidFill>
                <a:latin typeface="微软雅黑"/>
                <a:ea typeface="微软雅黑"/>
              </a:rPr>
              <a:t>红外与可见光存在空间配准偏差</a:t>
            </a:r>
            <a:endParaRPr sz="1700" b="0" dirty="0">
              <a:solidFill>
                <a:srgbClr val="333F4F"/>
              </a:solidFill>
              <a:latin typeface="微软雅黑"/>
              <a:ea typeface="微软雅黑"/>
            </a:endParaRPr>
          </a:p>
        </p:txBody>
      </p:sp>
    </p:spTree>
    <p:extLst>
      <p:ext uri="{BB962C8B-B14F-4D97-AF65-F5344CB8AC3E}">
        <p14:creationId xmlns:p14="http://schemas.microsoft.com/office/powerpoint/2010/main" val="17549292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28">
            <a:extLst>
              <a:ext uri="{FF2B5EF4-FFF2-40B4-BE49-F238E27FC236}">
                <a16:creationId xmlns:a16="http://schemas.microsoft.com/office/drawing/2014/main" id="{04613769-CB50-461D-9765-024E88D6593D}"/>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57" name="组合 3">
            <a:extLst>
              <a:ext uri="{FF2B5EF4-FFF2-40B4-BE49-F238E27FC236}">
                <a16:creationId xmlns:a16="http://schemas.microsoft.com/office/drawing/2014/main" id="{A0389DDF-DCCE-498F-8BBE-475E4068BBE4}"/>
              </a:ext>
            </a:extLst>
          </p:cNvPr>
          <p:cNvGrpSpPr>
            <a:grpSpLocks/>
          </p:cNvGrpSpPr>
          <p:nvPr/>
        </p:nvGrpSpPr>
        <p:grpSpPr bwMode="auto">
          <a:xfrm>
            <a:off x="464577" y="165395"/>
            <a:ext cx="433338" cy="535447"/>
            <a:chOff x="10675" y="7633"/>
            <a:chExt cx="433171" cy="534549"/>
          </a:xfrm>
        </p:grpSpPr>
        <p:sp>
          <p:nvSpPr>
            <p:cNvPr id="58" name="圆角矩形 10">
              <a:extLst>
                <a:ext uri="{FF2B5EF4-FFF2-40B4-BE49-F238E27FC236}">
                  <a16:creationId xmlns:a16="http://schemas.microsoft.com/office/drawing/2014/main" id="{D04A9FD7-3F0F-4E76-B3E7-2AAAA7500262}"/>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59" name="图片 50">
              <a:extLst>
                <a:ext uri="{FF2B5EF4-FFF2-40B4-BE49-F238E27FC236}">
                  <a16:creationId xmlns:a16="http://schemas.microsoft.com/office/drawing/2014/main" id="{DD4EC5A1-E586-4862-8E7D-86EEDB4BB8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0" name="图片 59">
            <a:extLst>
              <a:ext uri="{FF2B5EF4-FFF2-40B4-BE49-F238E27FC236}">
                <a16:creationId xmlns:a16="http://schemas.microsoft.com/office/drawing/2014/main" id="{27BD5E15-0935-4140-BEAB-C1BBD88AC28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61" name="TextBox 29">
            <a:extLst>
              <a:ext uri="{FF2B5EF4-FFF2-40B4-BE49-F238E27FC236}">
                <a16:creationId xmlns:a16="http://schemas.microsoft.com/office/drawing/2014/main" id="{C03061E2-1374-4B1B-BB24-6757C7E277BC}"/>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检测后跟踪</a:t>
            </a:r>
          </a:p>
        </p:txBody>
      </p:sp>
      <p:sp>
        <p:nvSpPr>
          <p:cNvPr id="3" name="文本框 2">
            <a:extLst>
              <a:ext uri="{FF2B5EF4-FFF2-40B4-BE49-F238E27FC236}">
                <a16:creationId xmlns:a16="http://schemas.microsoft.com/office/drawing/2014/main" id="{99D3F1CF-28F8-210B-B7CA-CC1164A5EBCB}"/>
              </a:ext>
            </a:extLst>
          </p:cNvPr>
          <p:cNvSpPr txBox="1"/>
          <p:nvPr/>
        </p:nvSpPr>
        <p:spPr>
          <a:xfrm>
            <a:off x="8046244" y="3137455"/>
            <a:ext cx="3147079" cy="369332"/>
          </a:xfrm>
          <a:prstGeom prst="rect">
            <a:avLst/>
          </a:prstGeom>
          <a:noFill/>
        </p:spPr>
        <p:txBody>
          <a:bodyPr wrap="none" rtlCol="0">
            <a:spAutoFit/>
          </a:bodyPr>
          <a:lstStyle/>
          <a:p>
            <a:r>
              <a:rPr lang="zh-CN" altLang="en-US" dirty="0"/>
              <a:t>选择</a:t>
            </a:r>
            <a:r>
              <a:rPr lang="en-US" altLang="zh-CN" dirty="0" err="1"/>
              <a:t>ByteTrack</a:t>
            </a:r>
            <a:r>
              <a:rPr lang="zh-CN" altLang="en-US" dirty="0"/>
              <a:t>作为基线算法</a:t>
            </a:r>
          </a:p>
        </p:txBody>
      </p:sp>
      <p:graphicFrame>
        <p:nvGraphicFramePr>
          <p:cNvPr id="4" name="表格 3">
            <a:extLst>
              <a:ext uri="{FF2B5EF4-FFF2-40B4-BE49-F238E27FC236}">
                <a16:creationId xmlns:a16="http://schemas.microsoft.com/office/drawing/2014/main" id="{E3ECF522-E6A3-7CF4-3510-582BC86A299A}"/>
              </a:ext>
            </a:extLst>
          </p:cNvPr>
          <p:cNvGraphicFramePr>
            <a:graphicFrameLocks noGrp="1"/>
          </p:cNvGraphicFramePr>
          <p:nvPr>
            <p:extLst>
              <p:ext uri="{D42A27DB-BD31-4B8C-83A1-F6EECF244321}">
                <p14:modId xmlns:p14="http://schemas.microsoft.com/office/powerpoint/2010/main" val="4238774311"/>
              </p:ext>
            </p:extLst>
          </p:nvPr>
        </p:nvGraphicFramePr>
        <p:xfrm>
          <a:off x="498045" y="1639887"/>
          <a:ext cx="7288800" cy="3733800"/>
        </p:xfrm>
        <a:graphic>
          <a:graphicData uri="http://schemas.openxmlformats.org/drawingml/2006/table">
            <a:tbl>
              <a:tblPr firstCol="1">
                <a:tableStyleId>{5C22544A-7EE6-4342-B048-85BDC9FD1C3A}</a:tableStyleId>
              </a:tblPr>
              <a:tblGrid>
                <a:gridCol w="1822200">
                  <a:extLst>
                    <a:ext uri="{9D8B030D-6E8A-4147-A177-3AD203B41FA5}">
                      <a16:colId xmlns:a16="http://schemas.microsoft.com/office/drawing/2014/main" val="1750087875"/>
                    </a:ext>
                  </a:extLst>
                </a:gridCol>
                <a:gridCol w="1822200">
                  <a:extLst>
                    <a:ext uri="{9D8B030D-6E8A-4147-A177-3AD203B41FA5}">
                      <a16:colId xmlns:a16="http://schemas.microsoft.com/office/drawing/2014/main" val="1189715279"/>
                    </a:ext>
                  </a:extLst>
                </a:gridCol>
                <a:gridCol w="1822200">
                  <a:extLst>
                    <a:ext uri="{9D8B030D-6E8A-4147-A177-3AD203B41FA5}">
                      <a16:colId xmlns:a16="http://schemas.microsoft.com/office/drawing/2014/main" val="1575439809"/>
                    </a:ext>
                  </a:extLst>
                </a:gridCol>
                <a:gridCol w="1822200">
                  <a:extLst>
                    <a:ext uri="{9D8B030D-6E8A-4147-A177-3AD203B41FA5}">
                      <a16:colId xmlns:a16="http://schemas.microsoft.com/office/drawing/2014/main" val="2468247559"/>
                    </a:ext>
                  </a:extLst>
                </a:gridCol>
              </a:tblGrid>
              <a:tr h="933450">
                <a:tc>
                  <a:txBody>
                    <a:bodyPr/>
                    <a:lstStyle/>
                    <a:p>
                      <a:pPr algn="ctr">
                        <a:lnSpc>
                          <a:spcPct val="120000"/>
                        </a:lnSpc>
                        <a:spcAft>
                          <a:spcPts val="600"/>
                        </a:spcAft>
                      </a:pPr>
                      <a:r>
                        <a:rPr lang="zh-CN" sz="1600" b="1" kern="0">
                          <a:solidFill>
                            <a:srgbClr val="FFFFFF"/>
                          </a:solidFill>
                          <a:effectLst/>
                          <a:latin typeface="微软雅黑"/>
                          <a:cs typeface="微软雅黑"/>
                        </a:rPr>
                        <a:t>方法</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T="27432" marB="27432"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172B4B"/>
                    </a:solidFill>
                  </a:tcPr>
                </a:tc>
                <a:tc>
                  <a:txBody>
                    <a:bodyPr/>
                    <a:lstStyle/>
                    <a:p>
                      <a:pPr algn="ctr">
                        <a:lnSpc>
                          <a:spcPct val="120000"/>
                        </a:lnSpc>
                        <a:spcAft>
                          <a:spcPts val="800"/>
                        </a:spcAft>
                      </a:pPr>
                      <a:r>
                        <a:rPr lang="en-US" sz="1600" b="1" kern="0">
                          <a:solidFill>
                            <a:srgbClr val="FFFFFF"/>
                          </a:solidFill>
                          <a:effectLst/>
                          <a:latin typeface="微软雅黑"/>
                          <a:cs typeface="微软雅黑"/>
                        </a:rPr>
                        <a:t>HOTA/%</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T="27432" marB="27432"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172B4B"/>
                    </a:solidFill>
                  </a:tcPr>
                </a:tc>
                <a:tc>
                  <a:txBody>
                    <a:bodyPr/>
                    <a:lstStyle/>
                    <a:p>
                      <a:pPr algn="ctr">
                        <a:lnSpc>
                          <a:spcPct val="120000"/>
                        </a:lnSpc>
                        <a:spcAft>
                          <a:spcPts val="800"/>
                        </a:spcAft>
                      </a:pPr>
                      <a:r>
                        <a:rPr lang="en-US" sz="1600" b="1" kern="0">
                          <a:solidFill>
                            <a:srgbClr val="FFFFFF"/>
                          </a:solidFill>
                          <a:effectLst/>
                          <a:latin typeface="微软雅黑"/>
                          <a:cs typeface="微软雅黑"/>
                        </a:rPr>
                        <a:t>MOTA/%</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T="27432" marB="27432"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172B4B"/>
                    </a:solidFill>
                  </a:tcPr>
                </a:tc>
                <a:tc>
                  <a:txBody>
                    <a:bodyPr/>
                    <a:lstStyle/>
                    <a:p>
                      <a:pPr algn="ctr">
                        <a:lnSpc>
                          <a:spcPct val="120000"/>
                        </a:lnSpc>
                        <a:spcAft>
                          <a:spcPts val="800"/>
                        </a:spcAft>
                      </a:pPr>
                      <a:r>
                        <a:rPr lang="en-US" sz="1600" b="1" kern="0">
                          <a:solidFill>
                            <a:srgbClr val="FFFFFF"/>
                          </a:solidFill>
                          <a:effectLst/>
                          <a:latin typeface="微软雅黑"/>
                          <a:cs typeface="微软雅黑"/>
                        </a:rPr>
                        <a:t>IDF1/%</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T="27432" marB="27432"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172B4B"/>
                    </a:solidFill>
                  </a:tcPr>
                </a:tc>
                <a:extLst>
                  <a:ext uri="{0D108BD9-81ED-4DB2-BD59-A6C34878D82A}">
                    <a16:rowId xmlns:a16="http://schemas.microsoft.com/office/drawing/2014/main" val="4053644652"/>
                  </a:ext>
                </a:extLst>
              </a:tr>
              <a:tr h="933450">
                <a:tc>
                  <a:txBody>
                    <a:bodyPr/>
                    <a:lstStyle/>
                    <a:p>
                      <a:pPr algn="ctr">
                        <a:lnSpc>
                          <a:spcPct val="120000"/>
                        </a:lnSpc>
                        <a:spcAft>
                          <a:spcPts val="800"/>
                        </a:spcAft>
                      </a:pPr>
                      <a:r>
                        <a:rPr lang="en-US" sz="1450" b="1" kern="0">
                          <a:solidFill>
                            <a:srgbClr val="1F3864"/>
                          </a:solidFill>
                          <a:effectLst/>
                          <a:latin typeface="微软雅黑"/>
                          <a:cs typeface="微软雅黑"/>
                        </a:rPr>
                        <a:t>SORT</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T="27432" marB="27432"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tc>
                  <a:txBody>
                    <a:bodyPr/>
                    <a:lstStyle/>
                    <a:p>
                      <a:pPr algn="ctr">
                        <a:lnSpc>
                          <a:spcPct val="120000"/>
                        </a:lnSpc>
                        <a:spcAft>
                          <a:spcPts val="800"/>
                        </a:spcAft>
                      </a:pPr>
                      <a:r>
                        <a:rPr lang="en-US" sz="1450" b="0" kern="0" dirty="0">
                          <a:solidFill>
                            <a:srgbClr val="333F4F"/>
                          </a:solidFill>
                          <a:effectLst/>
                          <a:latin typeface="微软雅黑"/>
                          <a:cs typeface="微软雅黑"/>
                        </a:rPr>
                        <a:t>53.57</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T="27432" marB="27432"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tc>
                  <a:txBody>
                    <a:bodyPr/>
                    <a:lstStyle/>
                    <a:p>
                      <a:pPr algn="ctr">
                        <a:lnSpc>
                          <a:spcPct val="120000"/>
                        </a:lnSpc>
                        <a:spcAft>
                          <a:spcPts val="800"/>
                        </a:spcAft>
                      </a:pPr>
                      <a:r>
                        <a:rPr lang="en-US" sz="1450" b="0" kern="0">
                          <a:solidFill>
                            <a:srgbClr val="333F4F"/>
                          </a:solidFill>
                          <a:effectLst/>
                          <a:latin typeface="微软雅黑"/>
                          <a:cs typeface="微软雅黑"/>
                        </a:rPr>
                        <a:t>37.56</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T="27432" marB="27432"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tc>
                  <a:txBody>
                    <a:bodyPr/>
                    <a:lstStyle/>
                    <a:p>
                      <a:pPr algn="ctr">
                        <a:lnSpc>
                          <a:spcPct val="120000"/>
                        </a:lnSpc>
                        <a:spcAft>
                          <a:spcPts val="800"/>
                        </a:spcAft>
                      </a:pPr>
                      <a:r>
                        <a:rPr lang="en-US" sz="1450" b="0" kern="0">
                          <a:solidFill>
                            <a:srgbClr val="333F4F"/>
                          </a:solidFill>
                          <a:effectLst/>
                          <a:latin typeface="微软雅黑"/>
                          <a:cs typeface="微软雅黑"/>
                        </a:rPr>
                        <a:t>63.51</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T="27432" marB="27432"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extLst>
                  <a:ext uri="{0D108BD9-81ED-4DB2-BD59-A6C34878D82A}">
                    <a16:rowId xmlns:a16="http://schemas.microsoft.com/office/drawing/2014/main" val="411666979"/>
                  </a:ext>
                </a:extLst>
              </a:tr>
              <a:tr h="933450">
                <a:tc>
                  <a:txBody>
                    <a:bodyPr/>
                    <a:lstStyle/>
                    <a:p>
                      <a:pPr algn="ctr">
                        <a:lnSpc>
                          <a:spcPct val="120000"/>
                        </a:lnSpc>
                        <a:spcAft>
                          <a:spcPts val="800"/>
                        </a:spcAft>
                      </a:pPr>
                      <a:r>
                        <a:rPr lang="en-US" sz="1450" b="1" kern="0">
                          <a:solidFill>
                            <a:srgbClr val="1F3864"/>
                          </a:solidFill>
                          <a:effectLst/>
                          <a:latin typeface="微软雅黑"/>
                          <a:cs typeface="微软雅黑"/>
                        </a:rPr>
                        <a:t>OC-SORT</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T="27432" marB="27432"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2F7FC"/>
                    </a:solidFill>
                  </a:tcPr>
                </a:tc>
                <a:tc>
                  <a:txBody>
                    <a:bodyPr/>
                    <a:lstStyle/>
                    <a:p>
                      <a:pPr algn="ctr">
                        <a:lnSpc>
                          <a:spcPct val="120000"/>
                        </a:lnSpc>
                        <a:spcAft>
                          <a:spcPts val="800"/>
                        </a:spcAft>
                      </a:pPr>
                      <a:r>
                        <a:rPr lang="en-US" sz="1450" b="0" kern="0" dirty="0">
                          <a:solidFill>
                            <a:srgbClr val="333F4F"/>
                          </a:solidFill>
                          <a:effectLst/>
                          <a:latin typeface="微软雅黑"/>
                          <a:cs typeface="微软雅黑"/>
                        </a:rPr>
                        <a:t>48.60</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T="27432" marB="27432"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2F7FC"/>
                    </a:solidFill>
                  </a:tcPr>
                </a:tc>
                <a:tc>
                  <a:txBody>
                    <a:bodyPr/>
                    <a:lstStyle/>
                    <a:p>
                      <a:pPr algn="ctr">
                        <a:lnSpc>
                          <a:spcPct val="120000"/>
                        </a:lnSpc>
                        <a:spcAft>
                          <a:spcPts val="800"/>
                        </a:spcAft>
                      </a:pPr>
                      <a:r>
                        <a:rPr lang="en-US" sz="1450" b="0" kern="0">
                          <a:solidFill>
                            <a:srgbClr val="333F4F"/>
                          </a:solidFill>
                          <a:effectLst/>
                          <a:latin typeface="微软雅黑"/>
                          <a:cs typeface="微软雅黑"/>
                        </a:rPr>
                        <a:t>11.77</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T="27432" marB="27432"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2F7FC"/>
                    </a:solidFill>
                  </a:tcPr>
                </a:tc>
                <a:tc>
                  <a:txBody>
                    <a:bodyPr/>
                    <a:lstStyle/>
                    <a:p>
                      <a:pPr algn="ctr">
                        <a:lnSpc>
                          <a:spcPct val="120000"/>
                        </a:lnSpc>
                        <a:spcAft>
                          <a:spcPts val="800"/>
                        </a:spcAft>
                      </a:pPr>
                      <a:r>
                        <a:rPr lang="en-US" sz="1450" b="0" kern="0">
                          <a:solidFill>
                            <a:srgbClr val="333F4F"/>
                          </a:solidFill>
                          <a:effectLst/>
                          <a:latin typeface="微软雅黑"/>
                          <a:cs typeface="微软雅黑"/>
                        </a:rPr>
                        <a:t>54.18</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T="27432" marB="27432"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2F7FC"/>
                    </a:solidFill>
                  </a:tcPr>
                </a:tc>
                <a:extLst>
                  <a:ext uri="{0D108BD9-81ED-4DB2-BD59-A6C34878D82A}">
                    <a16:rowId xmlns:a16="http://schemas.microsoft.com/office/drawing/2014/main" val="1453263315"/>
                  </a:ext>
                </a:extLst>
              </a:tr>
              <a:tr h="933450">
                <a:tc>
                  <a:txBody>
                    <a:bodyPr/>
                    <a:lstStyle/>
                    <a:p>
                      <a:pPr algn="ctr">
                        <a:lnSpc>
                          <a:spcPct val="120000"/>
                        </a:lnSpc>
                        <a:spcAft>
                          <a:spcPts val="800"/>
                        </a:spcAft>
                      </a:pPr>
                      <a:r>
                        <a:rPr lang="en-US" sz="1450" b="1" kern="0" dirty="0" err="1">
                          <a:solidFill>
                            <a:srgbClr val="1F3864"/>
                          </a:solidFill>
                          <a:effectLst/>
                          <a:latin typeface="微软雅黑"/>
                          <a:cs typeface="微软雅黑"/>
                        </a:rPr>
                        <a:t>ByteTrack</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T="27432" marB="27432"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tc>
                  <a:txBody>
                    <a:bodyPr/>
                    <a:lstStyle/>
                    <a:p>
                      <a:pPr algn="ctr">
                        <a:lnSpc>
                          <a:spcPct val="120000"/>
                        </a:lnSpc>
                        <a:spcAft>
                          <a:spcPts val="800"/>
                        </a:spcAft>
                      </a:pPr>
                      <a:r>
                        <a:rPr lang="en-US" sz="1450" b="0" kern="0">
                          <a:solidFill>
                            <a:srgbClr val="333F4F"/>
                          </a:solidFill>
                          <a:effectLst/>
                          <a:latin typeface="微软雅黑"/>
                          <a:cs typeface="微软雅黑"/>
                        </a:rPr>
                        <a:t>58.27</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T="27432" marB="27432"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tc>
                  <a:txBody>
                    <a:bodyPr/>
                    <a:lstStyle/>
                    <a:p>
                      <a:pPr algn="ctr">
                        <a:lnSpc>
                          <a:spcPct val="120000"/>
                        </a:lnSpc>
                        <a:spcAft>
                          <a:spcPts val="800"/>
                        </a:spcAft>
                      </a:pPr>
                      <a:r>
                        <a:rPr lang="en-US" sz="1450" b="0" kern="0">
                          <a:solidFill>
                            <a:srgbClr val="333F4F"/>
                          </a:solidFill>
                          <a:effectLst/>
                          <a:latin typeface="微软雅黑"/>
                          <a:cs typeface="微软雅黑"/>
                        </a:rPr>
                        <a:t>43.50</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T="27432" marB="27432"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tc>
                  <a:txBody>
                    <a:bodyPr/>
                    <a:lstStyle/>
                    <a:p>
                      <a:pPr algn="ctr">
                        <a:lnSpc>
                          <a:spcPct val="120000"/>
                        </a:lnSpc>
                        <a:spcAft>
                          <a:spcPts val="800"/>
                        </a:spcAft>
                      </a:pPr>
                      <a:r>
                        <a:rPr lang="en-US" sz="1450" b="0" kern="0" dirty="0">
                          <a:solidFill>
                            <a:srgbClr val="333F4F"/>
                          </a:solidFill>
                          <a:effectLst/>
                          <a:latin typeface="微软雅黑"/>
                          <a:cs typeface="微软雅黑"/>
                        </a:rPr>
                        <a:t>66.39</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T="27432" marB="27432"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extLst>
                  <a:ext uri="{0D108BD9-81ED-4DB2-BD59-A6C34878D82A}">
                    <a16:rowId xmlns:a16="http://schemas.microsoft.com/office/drawing/2014/main" val="3640244905"/>
                  </a:ext>
                </a:extLst>
              </a:tr>
            </a:tbl>
          </a:graphicData>
        </a:graphic>
      </p:graphicFrame>
    </p:spTree>
    <p:extLst>
      <p:ext uri="{BB962C8B-B14F-4D97-AF65-F5344CB8AC3E}">
        <p14:creationId xmlns:p14="http://schemas.microsoft.com/office/powerpoint/2010/main" val="1608713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Picture 28">
            <a:extLst>
              <a:ext uri="{FF2B5EF4-FFF2-40B4-BE49-F238E27FC236}">
                <a16:creationId xmlns:a16="http://schemas.microsoft.com/office/drawing/2014/main" id="{054B3F82-9E9E-495D-B051-EC67ADFA0392}"/>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44" name="组合 3">
            <a:extLst>
              <a:ext uri="{FF2B5EF4-FFF2-40B4-BE49-F238E27FC236}">
                <a16:creationId xmlns:a16="http://schemas.microsoft.com/office/drawing/2014/main" id="{912C391C-D6B2-45CD-99BD-5E96651F55AD}"/>
              </a:ext>
            </a:extLst>
          </p:cNvPr>
          <p:cNvGrpSpPr>
            <a:grpSpLocks/>
          </p:cNvGrpSpPr>
          <p:nvPr/>
        </p:nvGrpSpPr>
        <p:grpSpPr bwMode="auto">
          <a:xfrm>
            <a:off x="464577" y="165395"/>
            <a:ext cx="433338" cy="535447"/>
            <a:chOff x="10675" y="7633"/>
            <a:chExt cx="433171" cy="534549"/>
          </a:xfrm>
        </p:grpSpPr>
        <p:sp>
          <p:nvSpPr>
            <p:cNvPr id="45" name="圆角矩形 10">
              <a:extLst>
                <a:ext uri="{FF2B5EF4-FFF2-40B4-BE49-F238E27FC236}">
                  <a16:creationId xmlns:a16="http://schemas.microsoft.com/office/drawing/2014/main" id="{EA97013C-2911-4524-BC71-E4D9DF9620EC}"/>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46" name="图片 50">
              <a:extLst>
                <a:ext uri="{FF2B5EF4-FFF2-40B4-BE49-F238E27FC236}">
                  <a16:creationId xmlns:a16="http://schemas.microsoft.com/office/drawing/2014/main" id="{0EFB0B1F-1947-414E-A427-DC24E90746F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7" name="图片 46">
            <a:extLst>
              <a:ext uri="{FF2B5EF4-FFF2-40B4-BE49-F238E27FC236}">
                <a16:creationId xmlns:a16="http://schemas.microsoft.com/office/drawing/2014/main" id="{85CAADC6-ADCB-44BE-B64A-EB8CDC23341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48" name="TextBox 29">
            <a:extLst>
              <a:ext uri="{FF2B5EF4-FFF2-40B4-BE49-F238E27FC236}">
                <a16:creationId xmlns:a16="http://schemas.microsoft.com/office/drawing/2014/main" id="{522475C8-BB36-467D-AE0F-FA1ACCBEE9C0}"/>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双模态检测协同的 ByteTrack 改进</a:t>
            </a:r>
          </a:p>
        </p:txBody>
      </p:sp>
      <p:sp>
        <p:nvSpPr>
          <p:cNvPr id="63" name="Rounded Rectangle 62"/>
          <p:cNvSpPr/>
          <p:nvPr/>
        </p:nvSpPr>
        <p:spPr>
          <a:xfrm>
            <a:off x="548640" y="2560320"/>
            <a:ext cx="4983480" cy="1572768"/>
          </a:xfrm>
          <a:prstGeom prst="roundRect">
            <a:avLst>
              <a:gd name="adj" fmla="val 6000"/>
            </a:avLst>
          </a:prstGeom>
          <a:solidFill>
            <a:srgbClr val="F2F7FC"/>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endParaRPr/>
          </a:p>
        </p:txBody>
      </p:sp>
      <p:sp>
        <p:nvSpPr>
          <p:cNvPr id="64" name="Rounded Rectangle 63"/>
          <p:cNvSpPr/>
          <p:nvPr/>
        </p:nvSpPr>
        <p:spPr>
          <a:xfrm>
            <a:off x="786384" y="2834639"/>
            <a:ext cx="420624" cy="420624"/>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01</a:t>
            </a:r>
          </a:p>
        </p:txBody>
      </p:sp>
      <p:sp>
        <p:nvSpPr>
          <p:cNvPr id="65" name="TextBox 64"/>
          <p:cNvSpPr txBox="1"/>
          <p:nvPr/>
        </p:nvSpPr>
        <p:spPr>
          <a:xfrm>
            <a:off x="1371600" y="2798063"/>
            <a:ext cx="3931920" cy="969561"/>
          </a:xfrm>
          <a:prstGeom prst="rect">
            <a:avLst/>
          </a:prstGeom>
          <a:noFill/>
        </p:spPr>
        <p:txBody>
          <a:bodyPr wrap="square" lIns="0" tIns="0" rIns="0" bIns="0" anchor="t">
            <a:spAutoFit/>
          </a:bodyPr>
          <a:lstStyle/>
          <a:p>
            <a:pPr algn="l">
              <a:lnSpc>
                <a:spcPct val="126000"/>
              </a:lnSpc>
              <a:spcAft>
                <a:spcPts val="300"/>
              </a:spcAft>
            </a:pPr>
            <a:r>
              <a:rPr sz="1750" b="1" dirty="0" err="1">
                <a:solidFill>
                  <a:srgbClr val="172B4B"/>
                </a:solidFill>
                <a:latin typeface="微软雅黑"/>
                <a:ea typeface="微软雅黑"/>
              </a:rPr>
              <a:t>跨模态检测框匹配与融合</a:t>
            </a:r>
            <a:endParaRPr sz="1750" b="1" dirty="0">
              <a:solidFill>
                <a:srgbClr val="172B4B"/>
              </a:solidFill>
              <a:latin typeface="微软雅黑"/>
              <a:ea typeface="微软雅黑"/>
            </a:endParaRPr>
          </a:p>
          <a:p>
            <a:pPr algn="l">
              <a:lnSpc>
                <a:spcPct val="126000"/>
              </a:lnSpc>
              <a:spcAft>
                <a:spcPts val="300"/>
              </a:spcAft>
            </a:pPr>
            <a:r>
              <a:rPr sz="1600" b="0" dirty="0">
                <a:solidFill>
                  <a:srgbClr val="333F4F"/>
                </a:solidFill>
                <a:latin typeface="微软雅黑"/>
                <a:ea typeface="微软雅黑"/>
              </a:rPr>
              <a:t>按 </a:t>
            </a:r>
            <a:r>
              <a:rPr sz="1600" b="0" dirty="0" err="1">
                <a:solidFill>
                  <a:srgbClr val="333F4F"/>
                </a:solidFill>
                <a:latin typeface="微软雅黑"/>
                <a:ea typeface="微软雅黑"/>
              </a:rPr>
              <a:t>IoU、中心距与船型匹配双模态检测框，再以各自置信度加权融合目标位置</a:t>
            </a:r>
            <a:r>
              <a:rPr sz="1600" b="0" dirty="0">
                <a:solidFill>
                  <a:srgbClr val="333F4F"/>
                </a:solidFill>
                <a:latin typeface="微软雅黑"/>
                <a:ea typeface="微软雅黑"/>
              </a:rPr>
              <a:t>。</a:t>
            </a:r>
          </a:p>
        </p:txBody>
      </p:sp>
      <p:sp>
        <p:nvSpPr>
          <p:cNvPr id="66" name="Rounded Rectangle 65"/>
          <p:cNvSpPr/>
          <p:nvPr/>
        </p:nvSpPr>
        <p:spPr>
          <a:xfrm>
            <a:off x="5989320" y="2560320"/>
            <a:ext cx="4983480" cy="1572768"/>
          </a:xfrm>
          <a:prstGeom prst="roundRect">
            <a:avLst>
              <a:gd name="adj" fmla="val 6000"/>
            </a:avLst>
          </a:prstGeom>
          <a:solidFill>
            <a:srgbClr val="F2F7FC"/>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endParaRPr/>
          </a:p>
        </p:txBody>
      </p:sp>
      <p:sp>
        <p:nvSpPr>
          <p:cNvPr id="67" name="Rounded Rectangle 66"/>
          <p:cNvSpPr/>
          <p:nvPr/>
        </p:nvSpPr>
        <p:spPr>
          <a:xfrm>
            <a:off x="6227064" y="2834639"/>
            <a:ext cx="420624" cy="420624"/>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02</a:t>
            </a:r>
          </a:p>
        </p:txBody>
      </p:sp>
      <p:sp>
        <p:nvSpPr>
          <p:cNvPr id="68" name="TextBox 67"/>
          <p:cNvSpPr txBox="1"/>
          <p:nvPr/>
        </p:nvSpPr>
        <p:spPr>
          <a:xfrm>
            <a:off x="6812280" y="2798063"/>
            <a:ext cx="3931920" cy="969561"/>
          </a:xfrm>
          <a:prstGeom prst="rect">
            <a:avLst/>
          </a:prstGeom>
          <a:noFill/>
        </p:spPr>
        <p:txBody>
          <a:bodyPr wrap="square" lIns="0" tIns="0" rIns="0" bIns="0" anchor="t">
            <a:spAutoFit/>
          </a:bodyPr>
          <a:lstStyle/>
          <a:p>
            <a:pPr algn="l">
              <a:lnSpc>
                <a:spcPct val="126000"/>
              </a:lnSpc>
              <a:spcAft>
                <a:spcPts val="300"/>
              </a:spcAft>
            </a:pPr>
            <a:r>
              <a:rPr sz="1750" b="1">
                <a:solidFill>
                  <a:srgbClr val="172B4B"/>
                </a:solidFill>
                <a:latin typeface="微软雅黑"/>
                <a:ea typeface="微软雅黑"/>
              </a:rPr>
              <a:t>双模态置信度协同修正</a:t>
            </a:r>
          </a:p>
          <a:p>
            <a:pPr algn="l">
              <a:lnSpc>
                <a:spcPct val="126000"/>
              </a:lnSpc>
              <a:spcAft>
                <a:spcPts val="300"/>
              </a:spcAft>
            </a:pPr>
            <a:r>
              <a:rPr sz="1600" b="0">
                <a:solidFill>
                  <a:srgbClr val="333F4F"/>
                </a:solidFill>
                <a:latin typeface="微软雅黑"/>
                <a:ea typeface="微软雅黑"/>
              </a:rPr>
              <a:t>引入跨模态一致性得分修正检测分数，使低照度下的弱检测获得另一模态的证据支持。</a:t>
            </a:r>
          </a:p>
        </p:txBody>
      </p:sp>
      <p:sp>
        <p:nvSpPr>
          <p:cNvPr id="69" name="Rounded Rectangle 68"/>
          <p:cNvSpPr/>
          <p:nvPr/>
        </p:nvSpPr>
        <p:spPr>
          <a:xfrm>
            <a:off x="548640" y="4315968"/>
            <a:ext cx="4983480" cy="1572768"/>
          </a:xfrm>
          <a:prstGeom prst="roundRect">
            <a:avLst>
              <a:gd name="adj" fmla="val 6000"/>
            </a:avLst>
          </a:prstGeom>
          <a:solidFill>
            <a:srgbClr val="F2F7FC"/>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endParaRPr/>
          </a:p>
        </p:txBody>
      </p:sp>
      <p:sp>
        <p:nvSpPr>
          <p:cNvPr id="70" name="Rounded Rectangle 69"/>
          <p:cNvSpPr/>
          <p:nvPr/>
        </p:nvSpPr>
        <p:spPr>
          <a:xfrm>
            <a:off x="786384" y="4590288"/>
            <a:ext cx="420624" cy="420624"/>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03</a:t>
            </a:r>
          </a:p>
        </p:txBody>
      </p:sp>
      <p:sp>
        <p:nvSpPr>
          <p:cNvPr id="71" name="TextBox 70"/>
          <p:cNvSpPr txBox="1"/>
          <p:nvPr/>
        </p:nvSpPr>
        <p:spPr>
          <a:xfrm>
            <a:off x="1371600" y="4553712"/>
            <a:ext cx="3931920" cy="969561"/>
          </a:xfrm>
          <a:prstGeom prst="rect">
            <a:avLst/>
          </a:prstGeom>
          <a:noFill/>
        </p:spPr>
        <p:txBody>
          <a:bodyPr wrap="square" lIns="0" tIns="0" rIns="0" bIns="0" anchor="t">
            <a:spAutoFit/>
          </a:bodyPr>
          <a:lstStyle/>
          <a:p>
            <a:pPr algn="l">
              <a:lnSpc>
                <a:spcPct val="126000"/>
              </a:lnSpc>
              <a:spcAft>
                <a:spcPts val="300"/>
              </a:spcAft>
            </a:pPr>
            <a:r>
              <a:rPr sz="1750" b="1">
                <a:solidFill>
                  <a:srgbClr val="172B4B"/>
                </a:solidFill>
                <a:latin typeface="微软雅黑"/>
                <a:ea typeface="微软雅黑"/>
              </a:rPr>
              <a:t>类别约束的两阶段关联</a:t>
            </a:r>
          </a:p>
          <a:p>
            <a:pPr algn="l">
              <a:lnSpc>
                <a:spcPct val="126000"/>
              </a:lnSpc>
              <a:spcAft>
                <a:spcPts val="300"/>
              </a:spcAft>
            </a:pPr>
            <a:r>
              <a:rPr sz="1600" b="0">
                <a:solidFill>
                  <a:srgbClr val="333F4F"/>
                </a:solidFill>
                <a:latin typeface="微软雅黑"/>
                <a:ea typeface="微软雅黑"/>
              </a:rPr>
              <a:t>在 IoU 运动代价上加入船型一致性软约束，降低相似船舶之间的错误关联。</a:t>
            </a:r>
          </a:p>
        </p:txBody>
      </p:sp>
      <p:sp>
        <p:nvSpPr>
          <p:cNvPr id="72" name="Rounded Rectangle 71"/>
          <p:cNvSpPr/>
          <p:nvPr/>
        </p:nvSpPr>
        <p:spPr>
          <a:xfrm>
            <a:off x="5989320" y="4315968"/>
            <a:ext cx="4983480" cy="1572768"/>
          </a:xfrm>
          <a:prstGeom prst="roundRect">
            <a:avLst>
              <a:gd name="adj" fmla="val 6000"/>
            </a:avLst>
          </a:prstGeom>
          <a:solidFill>
            <a:srgbClr val="F2F7FC"/>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endParaRPr/>
          </a:p>
        </p:txBody>
      </p:sp>
      <p:sp>
        <p:nvSpPr>
          <p:cNvPr id="73" name="Rounded Rectangle 72"/>
          <p:cNvSpPr/>
          <p:nvPr/>
        </p:nvSpPr>
        <p:spPr>
          <a:xfrm>
            <a:off x="6227064" y="4590288"/>
            <a:ext cx="420624" cy="420624"/>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04</a:t>
            </a:r>
          </a:p>
        </p:txBody>
      </p:sp>
      <p:sp>
        <p:nvSpPr>
          <p:cNvPr id="74" name="TextBox 73"/>
          <p:cNvSpPr txBox="1"/>
          <p:nvPr/>
        </p:nvSpPr>
        <p:spPr>
          <a:xfrm>
            <a:off x="6812280" y="4553712"/>
            <a:ext cx="3931920" cy="969561"/>
          </a:xfrm>
          <a:prstGeom prst="rect">
            <a:avLst/>
          </a:prstGeom>
          <a:noFill/>
        </p:spPr>
        <p:txBody>
          <a:bodyPr wrap="square" lIns="0" tIns="0" rIns="0" bIns="0" anchor="t">
            <a:spAutoFit/>
          </a:bodyPr>
          <a:lstStyle/>
          <a:p>
            <a:pPr algn="l">
              <a:lnSpc>
                <a:spcPct val="126000"/>
              </a:lnSpc>
              <a:spcAft>
                <a:spcPts val="300"/>
              </a:spcAft>
            </a:pPr>
            <a:r>
              <a:rPr lang="zh-CN" altLang="en-US" sz="1750" dirty="0">
                <a:solidFill>
                  <a:srgbClr val="172B4B"/>
                </a:solidFill>
                <a:latin typeface="微软雅黑"/>
                <a:ea typeface="微软雅黑"/>
              </a:rPr>
              <a:t>轨迹管理与输出</a:t>
            </a:r>
            <a:endParaRPr sz="1750" b="1" dirty="0">
              <a:solidFill>
                <a:srgbClr val="172B4B"/>
              </a:solidFill>
              <a:latin typeface="微软雅黑"/>
              <a:ea typeface="微软雅黑"/>
            </a:endParaRPr>
          </a:p>
          <a:p>
            <a:pPr algn="l">
              <a:lnSpc>
                <a:spcPct val="126000"/>
              </a:lnSpc>
              <a:spcAft>
                <a:spcPts val="300"/>
              </a:spcAft>
            </a:pPr>
            <a:r>
              <a:rPr lang="zh-CN" altLang="en-US" sz="1600" b="0" dirty="0">
                <a:solidFill>
                  <a:srgbClr val="333F4F"/>
                </a:solidFill>
                <a:latin typeface="微软雅黑"/>
                <a:ea typeface="微软雅黑"/>
              </a:rPr>
              <a:t>按照上述规则进行目标关联匹配，得到最终结果</a:t>
            </a:r>
            <a:endParaRPr sz="1600" b="0" dirty="0">
              <a:solidFill>
                <a:srgbClr val="333F4F"/>
              </a:solidFill>
              <a:latin typeface="微软雅黑"/>
              <a:ea typeface="微软雅黑"/>
            </a:endParaRPr>
          </a:p>
        </p:txBody>
      </p:sp>
      <p:sp>
        <p:nvSpPr>
          <p:cNvPr id="2" name="Rounded Rectangle 74">
            <a:extLst>
              <a:ext uri="{FF2B5EF4-FFF2-40B4-BE49-F238E27FC236}">
                <a16:creationId xmlns:a16="http://schemas.microsoft.com/office/drawing/2014/main" id="{6D30206F-C0B3-C591-CCBE-39353DDCD5F1}"/>
              </a:ext>
            </a:extLst>
          </p:cNvPr>
          <p:cNvSpPr/>
          <p:nvPr/>
        </p:nvSpPr>
        <p:spPr>
          <a:xfrm>
            <a:off x="365760" y="1060704"/>
            <a:ext cx="10789920" cy="1243584"/>
          </a:xfrm>
          <a:prstGeom prst="roundRect">
            <a:avLst>
              <a:gd name="adj" fmla="val 4000"/>
            </a:avLst>
          </a:prstGeom>
          <a:solidFill>
            <a:srgbClr val="FFFFFF"/>
          </a:solidFill>
          <a:ln w="1270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48">
            <a:extLst>
              <a:ext uri="{FF2B5EF4-FFF2-40B4-BE49-F238E27FC236}">
                <a16:creationId xmlns:a16="http://schemas.microsoft.com/office/drawing/2014/main" id="{9E182DFF-1592-CC39-BF4C-2F274C3D31D2}"/>
              </a:ext>
            </a:extLst>
          </p:cNvPr>
          <p:cNvSpPr/>
          <p:nvPr/>
        </p:nvSpPr>
        <p:spPr>
          <a:xfrm>
            <a:off x="502920" y="1179576"/>
            <a:ext cx="1783080" cy="457200"/>
          </a:xfrm>
          <a:prstGeom prst="roundRect">
            <a:avLst>
              <a:gd name="adj" fmla="val 16000"/>
            </a:avLst>
          </a:prstGeom>
          <a:solidFill>
            <a:srgbClr val="F1EFE8"/>
          </a:solidFill>
          <a:ln w="12700">
            <a:solidFill>
              <a:srgbClr val="959490"/>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50" b="0" dirty="0" err="1">
                <a:solidFill>
                  <a:srgbClr val="2C2C2A"/>
                </a:solidFill>
                <a:latin typeface="微软雅黑"/>
                <a:cs typeface="微软雅黑"/>
              </a:rPr>
              <a:t>可见光检测器</a:t>
            </a:r>
            <a:endParaRPr sz="1350" b="1" dirty="0">
              <a:solidFill>
                <a:srgbClr val="FFFFFF"/>
              </a:solidFill>
              <a:latin typeface="微软雅黑"/>
              <a:ea typeface="微软雅黑"/>
            </a:endParaRPr>
          </a:p>
        </p:txBody>
      </p:sp>
      <p:sp>
        <p:nvSpPr>
          <p:cNvPr id="4" name="Rounded Rectangle 49">
            <a:extLst>
              <a:ext uri="{FF2B5EF4-FFF2-40B4-BE49-F238E27FC236}">
                <a16:creationId xmlns:a16="http://schemas.microsoft.com/office/drawing/2014/main" id="{E5A701C7-9A55-7439-2E68-E4559EADC606}"/>
              </a:ext>
            </a:extLst>
          </p:cNvPr>
          <p:cNvSpPr/>
          <p:nvPr/>
        </p:nvSpPr>
        <p:spPr>
          <a:xfrm>
            <a:off x="502920" y="1728216"/>
            <a:ext cx="1783080" cy="457200"/>
          </a:xfrm>
          <a:prstGeom prst="roundRect">
            <a:avLst>
              <a:gd name="adj" fmla="val 16000"/>
            </a:avLst>
          </a:prstGeom>
          <a:solidFill>
            <a:srgbClr val="F1EFE8"/>
          </a:solidFill>
          <a:ln w="12700">
            <a:solidFill>
              <a:srgbClr val="959490"/>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50" b="0">
                <a:solidFill>
                  <a:srgbClr val="2C2C2A"/>
                </a:solidFill>
                <a:latin typeface="微软雅黑"/>
                <a:cs typeface="微软雅黑"/>
              </a:rPr>
              <a:t>红外检测器</a:t>
            </a:r>
          </a:p>
        </p:txBody>
      </p:sp>
      <p:cxnSp>
        <p:nvCxnSpPr>
          <p:cNvPr id="5" name="Connector 50">
            <a:extLst>
              <a:ext uri="{FF2B5EF4-FFF2-40B4-BE49-F238E27FC236}">
                <a16:creationId xmlns:a16="http://schemas.microsoft.com/office/drawing/2014/main" id="{E6469B93-FA4C-1BB7-798C-44EAE5573AE2}"/>
              </a:ext>
            </a:extLst>
          </p:cNvPr>
          <p:cNvCxnSpPr/>
          <p:nvPr/>
        </p:nvCxnSpPr>
        <p:spPr>
          <a:xfrm>
            <a:off x="2286000" y="1408176"/>
            <a:ext cx="146304" cy="0"/>
          </a:xfrm>
          <a:prstGeom prst="line">
            <a:avLst/>
          </a:prstGeom>
          <a:ln w="15875">
            <a:solidFill>
              <a:srgbClr val="A9A9A9"/>
            </a:solidFill>
          </a:ln>
        </p:spPr>
        <p:style>
          <a:lnRef idx="2">
            <a:schemeClr val="accent1"/>
          </a:lnRef>
          <a:fillRef idx="0">
            <a:schemeClr val="accent1"/>
          </a:fillRef>
          <a:effectRef idx="1">
            <a:schemeClr val="accent1"/>
          </a:effectRef>
          <a:fontRef idx="minor">
            <a:schemeClr val="tx1"/>
          </a:fontRef>
        </p:style>
      </p:cxnSp>
      <p:cxnSp>
        <p:nvCxnSpPr>
          <p:cNvPr id="6" name="Connector 51">
            <a:extLst>
              <a:ext uri="{FF2B5EF4-FFF2-40B4-BE49-F238E27FC236}">
                <a16:creationId xmlns:a16="http://schemas.microsoft.com/office/drawing/2014/main" id="{B5B81CDA-718B-DB2A-7379-DDBCD81688E4}"/>
              </a:ext>
            </a:extLst>
          </p:cNvPr>
          <p:cNvCxnSpPr/>
          <p:nvPr/>
        </p:nvCxnSpPr>
        <p:spPr>
          <a:xfrm>
            <a:off x="2286000" y="1956816"/>
            <a:ext cx="146304" cy="0"/>
          </a:xfrm>
          <a:prstGeom prst="line">
            <a:avLst/>
          </a:prstGeom>
          <a:ln w="15875">
            <a:solidFill>
              <a:srgbClr val="A9A9A9"/>
            </a:solidFill>
          </a:ln>
        </p:spPr>
        <p:style>
          <a:lnRef idx="2">
            <a:schemeClr val="accent1"/>
          </a:lnRef>
          <a:fillRef idx="0">
            <a:schemeClr val="accent1"/>
          </a:fillRef>
          <a:effectRef idx="1">
            <a:schemeClr val="accent1"/>
          </a:effectRef>
          <a:fontRef idx="minor">
            <a:schemeClr val="tx1"/>
          </a:fontRef>
        </p:style>
      </p:cxnSp>
      <p:cxnSp>
        <p:nvCxnSpPr>
          <p:cNvPr id="7" name="Connector 52">
            <a:extLst>
              <a:ext uri="{FF2B5EF4-FFF2-40B4-BE49-F238E27FC236}">
                <a16:creationId xmlns:a16="http://schemas.microsoft.com/office/drawing/2014/main" id="{6495AD25-88D9-1218-14CE-BA27DFC4B285}"/>
              </a:ext>
            </a:extLst>
          </p:cNvPr>
          <p:cNvCxnSpPr/>
          <p:nvPr/>
        </p:nvCxnSpPr>
        <p:spPr>
          <a:xfrm>
            <a:off x="2432304" y="1408176"/>
            <a:ext cx="0" cy="548640"/>
          </a:xfrm>
          <a:prstGeom prst="line">
            <a:avLst/>
          </a:prstGeom>
          <a:ln w="15875">
            <a:solidFill>
              <a:srgbClr val="A9A9A9"/>
            </a:solidFill>
          </a:ln>
        </p:spPr>
        <p:style>
          <a:lnRef idx="2">
            <a:schemeClr val="accent1"/>
          </a:lnRef>
          <a:fillRef idx="0">
            <a:schemeClr val="accent1"/>
          </a:fillRef>
          <a:effectRef idx="1">
            <a:schemeClr val="accent1"/>
          </a:effectRef>
          <a:fontRef idx="minor">
            <a:schemeClr val="tx1"/>
          </a:fontRef>
        </p:style>
      </p:cxnSp>
      <p:cxnSp>
        <p:nvCxnSpPr>
          <p:cNvPr id="8" name="Connector 53">
            <a:extLst>
              <a:ext uri="{FF2B5EF4-FFF2-40B4-BE49-F238E27FC236}">
                <a16:creationId xmlns:a16="http://schemas.microsoft.com/office/drawing/2014/main" id="{8C5C67C5-6D40-1426-9AE1-AA1A03DE9838}"/>
              </a:ext>
            </a:extLst>
          </p:cNvPr>
          <p:cNvCxnSpPr/>
          <p:nvPr/>
        </p:nvCxnSpPr>
        <p:spPr>
          <a:xfrm>
            <a:off x="2432304" y="1682496"/>
            <a:ext cx="128016" cy="0"/>
          </a:xfrm>
          <a:prstGeom prst="line">
            <a:avLst/>
          </a:prstGeom>
          <a:ln w="15875">
            <a:solidFill>
              <a:srgbClr val="A9A9A9"/>
            </a:solidFill>
          </a:ln>
        </p:spPr>
        <p:style>
          <a:lnRef idx="2">
            <a:schemeClr val="accent1"/>
          </a:lnRef>
          <a:fillRef idx="0">
            <a:schemeClr val="accent1"/>
          </a:fillRef>
          <a:effectRef idx="1">
            <a:schemeClr val="accent1"/>
          </a:effectRef>
          <a:fontRef idx="minor">
            <a:schemeClr val="tx1"/>
          </a:fontRef>
        </p:style>
      </p:cxnSp>
      <p:sp>
        <p:nvSpPr>
          <p:cNvPr id="9" name="Right Arrow 54">
            <a:extLst>
              <a:ext uri="{FF2B5EF4-FFF2-40B4-BE49-F238E27FC236}">
                <a16:creationId xmlns:a16="http://schemas.microsoft.com/office/drawing/2014/main" id="{F15930E4-EE29-30D6-2CB3-01F5DA4C8801}"/>
              </a:ext>
            </a:extLst>
          </p:cNvPr>
          <p:cNvSpPr/>
          <p:nvPr/>
        </p:nvSpPr>
        <p:spPr>
          <a:xfrm>
            <a:off x="2542032" y="1600200"/>
            <a:ext cx="182880" cy="164592"/>
          </a:xfrm>
          <a:prstGeom prst="rightArrow">
            <a:avLst/>
          </a:prstGeom>
          <a:solidFill>
            <a:srgbClr val="A9A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55">
            <a:extLst>
              <a:ext uri="{FF2B5EF4-FFF2-40B4-BE49-F238E27FC236}">
                <a16:creationId xmlns:a16="http://schemas.microsoft.com/office/drawing/2014/main" id="{A4BC5074-731C-3833-FBA2-9A5290D6317A}"/>
              </a:ext>
            </a:extLst>
          </p:cNvPr>
          <p:cNvSpPr/>
          <p:nvPr/>
        </p:nvSpPr>
        <p:spPr>
          <a:xfrm>
            <a:off x="2734056" y="1399032"/>
            <a:ext cx="1865376" cy="566928"/>
          </a:xfrm>
          <a:prstGeom prst="roundRect">
            <a:avLst>
              <a:gd name="adj" fmla="val 16000"/>
            </a:avLst>
          </a:prstGeom>
          <a:solidFill>
            <a:srgbClr val="E6F1FB"/>
          </a:solidFill>
          <a:ln w="12700">
            <a:solidFill>
              <a:srgbClr val="5A8DC0"/>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50" b="0">
                <a:solidFill>
                  <a:srgbClr val="042C53"/>
                </a:solidFill>
                <a:latin typeface="微软雅黑"/>
                <a:cs typeface="微软雅黑"/>
              </a:rPr>
              <a:t>跨模态框匹配与融合</a:t>
            </a:r>
          </a:p>
        </p:txBody>
      </p:sp>
      <p:sp>
        <p:nvSpPr>
          <p:cNvPr id="11" name="Right Arrow 56">
            <a:extLst>
              <a:ext uri="{FF2B5EF4-FFF2-40B4-BE49-F238E27FC236}">
                <a16:creationId xmlns:a16="http://schemas.microsoft.com/office/drawing/2014/main" id="{EA07FDCD-0459-C59D-43EA-D7D0FDAD5784}"/>
              </a:ext>
            </a:extLst>
          </p:cNvPr>
          <p:cNvSpPr/>
          <p:nvPr/>
        </p:nvSpPr>
        <p:spPr>
          <a:xfrm>
            <a:off x="4645152" y="1600200"/>
            <a:ext cx="182880" cy="164592"/>
          </a:xfrm>
          <a:prstGeom prst="rightArrow">
            <a:avLst/>
          </a:prstGeom>
          <a:solidFill>
            <a:srgbClr val="A9A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57">
            <a:extLst>
              <a:ext uri="{FF2B5EF4-FFF2-40B4-BE49-F238E27FC236}">
                <a16:creationId xmlns:a16="http://schemas.microsoft.com/office/drawing/2014/main" id="{6568EF99-1245-BC0E-339E-A7D8D7754D95}"/>
              </a:ext>
            </a:extLst>
          </p:cNvPr>
          <p:cNvSpPr/>
          <p:nvPr/>
        </p:nvSpPr>
        <p:spPr>
          <a:xfrm>
            <a:off x="4873752" y="1399032"/>
            <a:ext cx="1865376" cy="566928"/>
          </a:xfrm>
          <a:prstGeom prst="roundRect">
            <a:avLst>
              <a:gd name="adj" fmla="val 16000"/>
            </a:avLst>
          </a:prstGeom>
          <a:solidFill>
            <a:srgbClr val="E6F1FB"/>
          </a:solidFill>
          <a:ln w="12700">
            <a:solidFill>
              <a:srgbClr val="5A8DC0"/>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50" b="0">
                <a:solidFill>
                  <a:srgbClr val="042C53"/>
                </a:solidFill>
                <a:latin typeface="微软雅黑"/>
                <a:cs typeface="微软雅黑"/>
              </a:rPr>
              <a:t>双模态置信度修正</a:t>
            </a:r>
          </a:p>
        </p:txBody>
      </p:sp>
      <p:sp>
        <p:nvSpPr>
          <p:cNvPr id="13" name="Right Arrow 58">
            <a:extLst>
              <a:ext uri="{FF2B5EF4-FFF2-40B4-BE49-F238E27FC236}">
                <a16:creationId xmlns:a16="http://schemas.microsoft.com/office/drawing/2014/main" id="{F889E710-07A4-5517-13A1-BF2885468AD8}"/>
              </a:ext>
            </a:extLst>
          </p:cNvPr>
          <p:cNvSpPr/>
          <p:nvPr/>
        </p:nvSpPr>
        <p:spPr>
          <a:xfrm>
            <a:off x="6784848" y="1600200"/>
            <a:ext cx="182880" cy="164592"/>
          </a:xfrm>
          <a:prstGeom prst="rightArrow">
            <a:avLst/>
          </a:prstGeom>
          <a:solidFill>
            <a:srgbClr val="A9A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59">
            <a:extLst>
              <a:ext uri="{FF2B5EF4-FFF2-40B4-BE49-F238E27FC236}">
                <a16:creationId xmlns:a16="http://schemas.microsoft.com/office/drawing/2014/main" id="{5E14AB84-F09F-2FA7-0682-63C2F47B1A41}"/>
              </a:ext>
            </a:extLst>
          </p:cNvPr>
          <p:cNvSpPr/>
          <p:nvPr/>
        </p:nvSpPr>
        <p:spPr>
          <a:xfrm>
            <a:off x="7013448" y="1399032"/>
            <a:ext cx="1865376" cy="566928"/>
          </a:xfrm>
          <a:prstGeom prst="roundRect">
            <a:avLst>
              <a:gd name="adj" fmla="val 16000"/>
            </a:avLst>
          </a:prstGeom>
          <a:solidFill>
            <a:srgbClr val="E6F1FB"/>
          </a:solidFill>
          <a:ln w="12700">
            <a:solidFill>
              <a:srgbClr val="5A8DC0"/>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50" b="0" dirty="0" err="1">
                <a:solidFill>
                  <a:srgbClr val="042C53"/>
                </a:solidFill>
                <a:latin typeface="微软雅黑"/>
                <a:cs typeface="微软雅黑"/>
              </a:rPr>
              <a:t>两阶段关联</a:t>
            </a:r>
            <a:r>
              <a:rPr sz="1350" b="0" dirty="0">
                <a:solidFill>
                  <a:srgbClr val="042C53"/>
                </a:solidFill>
                <a:latin typeface="微软雅黑"/>
                <a:cs typeface="微软雅黑"/>
              </a:rPr>
              <a:t> + </a:t>
            </a:r>
            <a:r>
              <a:rPr sz="1350" b="0" dirty="0" err="1">
                <a:solidFill>
                  <a:srgbClr val="042C53"/>
                </a:solidFill>
                <a:latin typeface="微软雅黑"/>
                <a:cs typeface="微软雅黑"/>
              </a:rPr>
              <a:t>类别约束</a:t>
            </a:r>
            <a:endParaRPr sz="1350" b="0" dirty="0">
              <a:solidFill>
                <a:srgbClr val="1F3864"/>
              </a:solidFill>
              <a:latin typeface="微软雅黑"/>
              <a:ea typeface="微软雅黑"/>
            </a:endParaRPr>
          </a:p>
        </p:txBody>
      </p:sp>
      <p:sp>
        <p:nvSpPr>
          <p:cNvPr id="15" name="Right Arrow 60">
            <a:extLst>
              <a:ext uri="{FF2B5EF4-FFF2-40B4-BE49-F238E27FC236}">
                <a16:creationId xmlns:a16="http://schemas.microsoft.com/office/drawing/2014/main" id="{9FCB637D-177C-44E3-723A-9DC6143ABC37}"/>
              </a:ext>
            </a:extLst>
          </p:cNvPr>
          <p:cNvSpPr/>
          <p:nvPr/>
        </p:nvSpPr>
        <p:spPr>
          <a:xfrm>
            <a:off x="8924544" y="1600200"/>
            <a:ext cx="182880" cy="164592"/>
          </a:xfrm>
          <a:prstGeom prst="rightArrow">
            <a:avLst/>
          </a:prstGeom>
          <a:solidFill>
            <a:srgbClr val="A9A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61">
            <a:extLst>
              <a:ext uri="{FF2B5EF4-FFF2-40B4-BE49-F238E27FC236}">
                <a16:creationId xmlns:a16="http://schemas.microsoft.com/office/drawing/2014/main" id="{CA7C663A-2FFF-16DF-23F7-049A40FCDB0C}"/>
              </a:ext>
            </a:extLst>
          </p:cNvPr>
          <p:cNvSpPr/>
          <p:nvPr/>
        </p:nvSpPr>
        <p:spPr>
          <a:xfrm>
            <a:off x="9153144" y="1399032"/>
            <a:ext cx="1865376" cy="566928"/>
          </a:xfrm>
          <a:prstGeom prst="roundRect">
            <a:avLst>
              <a:gd name="adj" fmla="val 16000"/>
            </a:avLst>
          </a:prstGeom>
          <a:solidFill>
            <a:srgbClr val="E1F5EE"/>
          </a:solidFill>
          <a:ln w="12700">
            <a:solidFill>
              <a:srgbClr val="8DBFB2"/>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50" b="0">
                <a:solidFill>
                  <a:srgbClr val="1E4A42"/>
                </a:solidFill>
                <a:latin typeface="微软雅黑"/>
                <a:cs typeface="微软雅黑"/>
              </a:rPr>
              <a:t>轨迹管理与输出</a:t>
            </a:r>
          </a:p>
        </p:txBody>
      </p:sp>
    </p:spTree>
    <p:extLst>
      <p:ext uri="{BB962C8B-B14F-4D97-AF65-F5344CB8AC3E}">
        <p14:creationId xmlns:p14="http://schemas.microsoft.com/office/powerpoint/2010/main" val="39717050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28">
            <a:extLst>
              <a:ext uri="{FF2B5EF4-FFF2-40B4-BE49-F238E27FC236}">
                <a16:creationId xmlns:a16="http://schemas.microsoft.com/office/drawing/2014/main" id="{04613769-CB50-461D-9765-024E88D6593D}"/>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57" name="组合 3">
            <a:extLst>
              <a:ext uri="{FF2B5EF4-FFF2-40B4-BE49-F238E27FC236}">
                <a16:creationId xmlns:a16="http://schemas.microsoft.com/office/drawing/2014/main" id="{A0389DDF-DCCE-498F-8BBE-475E4068BBE4}"/>
              </a:ext>
            </a:extLst>
          </p:cNvPr>
          <p:cNvGrpSpPr>
            <a:grpSpLocks/>
          </p:cNvGrpSpPr>
          <p:nvPr/>
        </p:nvGrpSpPr>
        <p:grpSpPr bwMode="auto">
          <a:xfrm>
            <a:off x="464577" y="165395"/>
            <a:ext cx="433338" cy="535447"/>
            <a:chOff x="10675" y="7633"/>
            <a:chExt cx="433171" cy="534549"/>
          </a:xfrm>
        </p:grpSpPr>
        <p:sp>
          <p:nvSpPr>
            <p:cNvPr id="58" name="圆角矩形 10">
              <a:extLst>
                <a:ext uri="{FF2B5EF4-FFF2-40B4-BE49-F238E27FC236}">
                  <a16:creationId xmlns:a16="http://schemas.microsoft.com/office/drawing/2014/main" id="{D04A9FD7-3F0F-4E76-B3E7-2AAAA7500262}"/>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59" name="图片 50">
              <a:extLst>
                <a:ext uri="{FF2B5EF4-FFF2-40B4-BE49-F238E27FC236}">
                  <a16:creationId xmlns:a16="http://schemas.microsoft.com/office/drawing/2014/main" id="{DD4EC5A1-E586-4862-8E7D-86EEDB4BB8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0" name="图片 59">
            <a:extLst>
              <a:ext uri="{FF2B5EF4-FFF2-40B4-BE49-F238E27FC236}">
                <a16:creationId xmlns:a16="http://schemas.microsoft.com/office/drawing/2014/main" id="{27BD5E15-0935-4140-BEAB-C1BBD88AC28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61" name="TextBox 29">
            <a:extLst>
              <a:ext uri="{FF2B5EF4-FFF2-40B4-BE49-F238E27FC236}">
                <a16:creationId xmlns:a16="http://schemas.microsoft.com/office/drawing/2014/main" id="{C03061E2-1374-4B1B-BB24-6757C7E277BC}"/>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联合检测与身份嵌入</a:t>
            </a:r>
          </a:p>
        </p:txBody>
      </p:sp>
      <p:pic>
        <p:nvPicPr>
          <p:cNvPr id="3" name="图片 2">
            <a:extLst>
              <a:ext uri="{FF2B5EF4-FFF2-40B4-BE49-F238E27FC236}">
                <a16:creationId xmlns:a16="http://schemas.microsoft.com/office/drawing/2014/main" id="{BF28337E-76BC-C6DA-F636-63087E8A56AA}"/>
              </a:ext>
            </a:extLst>
          </p:cNvPr>
          <p:cNvPicPr>
            <a:picLocks noChangeAspect="1"/>
          </p:cNvPicPr>
          <p:nvPr/>
        </p:nvPicPr>
        <p:blipFill>
          <a:blip r:embed="rId7"/>
          <a:stretch>
            <a:fillRect/>
          </a:stretch>
        </p:blipFill>
        <p:spPr>
          <a:xfrm>
            <a:off x="5836444" y="1920106"/>
            <a:ext cx="4495800" cy="2530339"/>
          </a:xfrm>
          <a:prstGeom prst="rect">
            <a:avLst/>
          </a:prstGeom>
        </p:spPr>
      </p:pic>
      <p:pic>
        <p:nvPicPr>
          <p:cNvPr id="4" name="图片 3">
            <a:extLst>
              <a:ext uri="{FF2B5EF4-FFF2-40B4-BE49-F238E27FC236}">
                <a16:creationId xmlns:a16="http://schemas.microsoft.com/office/drawing/2014/main" id="{AEF838B9-3AC0-75B8-1C5A-8AD7E840994F}"/>
              </a:ext>
            </a:extLst>
          </p:cNvPr>
          <p:cNvPicPr>
            <a:picLocks noChangeAspect="1"/>
          </p:cNvPicPr>
          <p:nvPr/>
        </p:nvPicPr>
        <p:blipFill>
          <a:blip r:embed="rId8"/>
          <a:stretch>
            <a:fillRect/>
          </a:stretch>
        </p:blipFill>
        <p:spPr>
          <a:xfrm>
            <a:off x="731044" y="1944687"/>
            <a:ext cx="4566880" cy="2406366"/>
          </a:xfrm>
          <a:prstGeom prst="rect">
            <a:avLst/>
          </a:prstGeom>
        </p:spPr>
      </p:pic>
      <p:sp>
        <p:nvSpPr>
          <p:cNvPr id="6" name="文本框 5">
            <a:extLst>
              <a:ext uri="{FF2B5EF4-FFF2-40B4-BE49-F238E27FC236}">
                <a16:creationId xmlns:a16="http://schemas.microsoft.com/office/drawing/2014/main" id="{ABE135ED-52C5-9BF1-5796-548A697CE504}"/>
              </a:ext>
            </a:extLst>
          </p:cNvPr>
          <p:cNvSpPr txBox="1"/>
          <p:nvPr/>
        </p:nvSpPr>
        <p:spPr>
          <a:xfrm>
            <a:off x="3550444" y="5083411"/>
            <a:ext cx="4191000" cy="413255"/>
          </a:xfrm>
          <a:prstGeom prst="rect">
            <a:avLst/>
          </a:prstGeom>
          <a:noFill/>
        </p:spPr>
        <p:txBody>
          <a:bodyPr wrap="square">
            <a:spAutoFit/>
          </a:bodyPr>
          <a:lstStyle/>
          <a:p>
            <a:pPr algn="l">
              <a:lnSpc>
                <a:spcPct val="128000"/>
              </a:lnSpc>
              <a:spcAft>
                <a:spcPts val="300"/>
              </a:spcAft>
            </a:pPr>
            <a:r>
              <a:rPr lang="zh-CN" altLang="en-US" sz="1800" b="0" dirty="0">
                <a:solidFill>
                  <a:srgbClr val="333F4F"/>
                </a:solidFill>
                <a:latin typeface="微软雅黑"/>
                <a:ea typeface="微软雅黑"/>
              </a:rPr>
              <a:t>目标交汇及短时遮挡时身份切换频繁</a:t>
            </a:r>
          </a:p>
        </p:txBody>
      </p:sp>
    </p:spTree>
    <p:extLst>
      <p:ext uri="{BB962C8B-B14F-4D97-AF65-F5344CB8AC3E}">
        <p14:creationId xmlns:p14="http://schemas.microsoft.com/office/powerpoint/2010/main" val="38632790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28">
            <a:extLst>
              <a:ext uri="{FF2B5EF4-FFF2-40B4-BE49-F238E27FC236}">
                <a16:creationId xmlns:a16="http://schemas.microsoft.com/office/drawing/2014/main" id="{04613769-CB50-461D-9765-024E88D6593D}"/>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57" name="组合 3">
            <a:extLst>
              <a:ext uri="{FF2B5EF4-FFF2-40B4-BE49-F238E27FC236}">
                <a16:creationId xmlns:a16="http://schemas.microsoft.com/office/drawing/2014/main" id="{A0389DDF-DCCE-498F-8BBE-475E4068BBE4}"/>
              </a:ext>
            </a:extLst>
          </p:cNvPr>
          <p:cNvGrpSpPr>
            <a:grpSpLocks/>
          </p:cNvGrpSpPr>
          <p:nvPr/>
        </p:nvGrpSpPr>
        <p:grpSpPr bwMode="auto">
          <a:xfrm>
            <a:off x="464577" y="165395"/>
            <a:ext cx="433338" cy="535447"/>
            <a:chOff x="10675" y="7633"/>
            <a:chExt cx="433171" cy="534549"/>
          </a:xfrm>
        </p:grpSpPr>
        <p:sp>
          <p:nvSpPr>
            <p:cNvPr id="58" name="圆角矩形 10">
              <a:extLst>
                <a:ext uri="{FF2B5EF4-FFF2-40B4-BE49-F238E27FC236}">
                  <a16:creationId xmlns:a16="http://schemas.microsoft.com/office/drawing/2014/main" id="{D04A9FD7-3F0F-4E76-B3E7-2AAAA7500262}"/>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59" name="图片 50">
              <a:extLst>
                <a:ext uri="{FF2B5EF4-FFF2-40B4-BE49-F238E27FC236}">
                  <a16:creationId xmlns:a16="http://schemas.microsoft.com/office/drawing/2014/main" id="{DD4EC5A1-E586-4862-8E7D-86EEDB4BB8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0" name="图片 59">
            <a:extLst>
              <a:ext uri="{FF2B5EF4-FFF2-40B4-BE49-F238E27FC236}">
                <a16:creationId xmlns:a16="http://schemas.microsoft.com/office/drawing/2014/main" id="{27BD5E15-0935-4140-BEAB-C1BBD88AC28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61" name="TextBox 29">
            <a:extLst>
              <a:ext uri="{FF2B5EF4-FFF2-40B4-BE49-F238E27FC236}">
                <a16:creationId xmlns:a16="http://schemas.microsoft.com/office/drawing/2014/main" id="{C03061E2-1374-4B1B-BB24-6757C7E277BC}"/>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联合检测与身份嵌入</a:t>
            </a:r>
          </a:p>
        </p:txBody>
      </p:sp>
      <p:pic>
        <p:nvPicPr>
          <p:cNvPr id="3" name="图片 2">
            <a:extLst>
              <a:ext uri="{FF2B5EF4-FFF2-40B4-BE49-F238E27FC236}">
                <a16:creationId xmlns:a16="http://schemas.microsoft.com/office/drawing/2014/main" id="{8EEB2259-99E4-F13C-3F96-8CB29B049B79}"/>
              </a:ext>
            </a:extLst>
          </p:cNvPr>
          <p:cNvPicPr>
            <a:picLocks noChangeAspect="1"/>
          </p:cNvPicPr>
          <p:nvPr/>
        </p:nvPicPr>
        <p:blipFill>
          <a:blip r:embed="rId7"/>
          <a:stretch>
            <a:fillRect/>
          </a:stretch>
        </p:blipFill>
        <p:spPr>
          <a:xfrm>
            <a:off x="421072" y="3621087"/>
            <a:ext cx="10097481" cy="1552322"/>
          </a:xfrm>
          <a:prstGeom prst="rect">
            <a:avLst/>
          </a:prstGeom>
        </p:spPr>
      </p:pic>
      <p:pic>
        <p:nvPicPr>
          <p:cNvPr id="4" name="图片 3">
            <a:extLst>
              <a:ext uri="{FF2B5EF4-FFF2-40B4-BE49-F238E27FC236}">
                <a16:creationId xmlns:a16="http://schemas.microsoft.com/office/drawing/2014/main" id="{0EB82175-C0AF-DE02-8880-0D22C7C2F92F}"/>
              </a:ext>
            </a:extLst>
          </p:cNvPr>
          <p:cNvPicPr>
            <a:picLocks noChangeAspect="1"/>
          </p:cNvPicPr>
          <p:nvPr/>
        </p:nvPicPr>
        <p:blipFill>
          <a:blip r:embed="rId8"/>
          <a:stretch>
            <a:fillRect/>
          </a:stretch>
        </p:blipFill>
        <p:spPr>
          <a:xfrm>
            <a:off x="436079" y="1174581"/>
            <a:ext cx="10061811" cy="1961314"/>
          </a:xfrm>
          <a:prstGeom prst="rect">
            <a:avLst/>
          </a:prstGeom>
        </p:spPr>
      </p:pic>
    </p:spTree>
    <p:extLst>
      <p:ext uri="{BB962C8B-B14F-4D97-AF65-F5344CB8AC3E}">
        <p14:creationId xmlns:p14="http://schemas.microsoft.com/office/powerpoint/2010/main" val="23493684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28">
            <a:extLst>
              <a:ext uri="{FF2B5EF4-FFF2-40B4-BE49-F238E27FC236}">
                <a16:creationId xmlns:a16="http://schemas.microsoft.com/office/drawing/2014/main" id="{04613769-CB50-461D-9765-024E88D6593D}"/>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57" name="组合 3">
            <a:extLst>
              <a:ext uri="{FF2B5EF4-FFF2-40B4-BE49-F238E27FC236}">
                <a16:creationId xmlns:a16="http://schemas.microsoft.com/office/drawing/2014/main" id="{A0389DDF-DCCE-498F-8BBE-475E4068BBE4}"/>
              </a:ext>
            </a:extLst>
          </p:cNvPr>
          <p:cNvGrpSpPr>
            <a:grpSpLocks/>
          </p:cNvGrpSpPr>
          <p:nvPr/>
        </p:nvGrpSpPr>
        <p:grpSpPr bwMode="auto">
          <a:xfrm>
            <a:off x="464577" y="165395"/>
            <a:ext cx="433338" cy="535447"/>
            <a:chOff x="10675" y="7633"/>
            <a:chExt cx="433171" cy="534549"/>
          </a:xfrm>
        </p:grpSpPr>
        <p:sp>
          <p:nvSpPr>
            <p:cNvPr id="58" name="圆角矩形 10">
              <a:extLst>
                <a:ext uri="{FF2B5EF4-FFF2-40B4-BE49-F238E27FC236}">
                  <a16:creationId xmlns:a16="http://schemas.microsoft.com/office/drawing/2014/main" id="{D04A9FD7-3F0F-4E76-B3E7-2AAAA7500262}"/>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59" name="图片 50">
              <a:extLst>
                <a:ext uri="{FF2B5EF4-FFF2-40B4-BE49-F238E27FC236}">
                  <a16:creationId xmlns:a16="http://schemas.microsoft.com/office/drawing/2014/main" id="{DD4EC5A1-E586-4862-8E7D-86EEDB4BB8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0" name="图片 59">
            <a:extLst>
              <a:ext uri="{FF2B5EF4-FFF2-40B4-BE49-F238E27FC236}">
                <a16:creationId xmlns:a16="http://schemas.microsoft.com/office/drawing/2014/main" id="{27BD5E15-0935-4140-BEAB-C1BBD88AC28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61" name="TextBox 29">
            <a:extLst>
              <a:ext uri="{FF2B5EF4-FFF2-40B4-BE49-F238E27FC236}">
                <a16:creationId xmlns:a16="http://schemas.microsoft.com/office/drawing/2014/main" id="{C03061E2-1374-4B1B-BB24-6757C7E277BC}"/>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联合检测与身份嵌入</a:t>
            </a:r>
          </a:p>
        </p:txBody>
      </p:sp>
      <p:pic>
        <p:nvPicPr>
          <p:cNvPr id="3" name="Picture 225" descr="fairmot.png">
            <a:extLst>
              <a:ext uri="{FF2B5EF4-FFF2-40B4-BE49-F238E27FC236}">
                <a16:creationId xmlns:a16="http://schemas.microsoft.com/office/drawing/2014/main" id="{8B49B39A-45F6-DBE0-14F6-E1D634EFBD4A}"/>
              </a:ext>
            </a:extLst>
          </p:cNvPr>
          <p:cNvPicPr>
            <a:picLocks noChangeAspect="1"/>
          </p:cNvPicPr>
          <p:nvPr/>
        </p:nvPicPr>
        <p:blipFill>
          <a:blip r:embed="rId7"/>
          <a:stretch>
            <a:fillRect/>
          </a:stretch>
        </p:blipFill>
        <p:spPr>
          <a:xfrm>
            <a:off x="534916" y="1639887"/>
            <a:ext cx="3712463" cy="4319169"/>
          </a:xfrm>
          <a:prstGeom prst="rect">
            <a:avLst/>
          </a:prstGeom>
        </p:spPr>
      </p:pic>
      <p:sp>
        <p:nvSpPr>
          <p:cNvPr id="6" name="文本框 5">
            <a:extLst>
              <a:ext uri="{FF2B5EF4-FFF2-40B4-BE49-F238E27FC236}">
                <a16:creationId xmlns:a16="http://schemas.microsoft.com/office/drawing/2014/main" id="{F1239BDB-5DB4-FC7F-F1AB-38323F084EBD}"/>
              </a:ext>
            </a:extLst>
          </p:cNvPr>
          <p:cNvSpPr txBox="1"/>
          <p:nvPr/>
        </p:nvSpPr>
        <p:spPr>
          <a:xfrm>
            <a:off x="4785865" y="2322496"/>
            <a:ext cx="5761702" cy="2953950"/>
          </a:xfrm>
          <a:prstGeom prst="rect">
            <a:avLst/>
          </a:prstGeom>
          <a:noFill/>
        </p:spPr>
        <p:txBody>
          <a:bodyPr wrap="square">
            <a:spAutoFit/>
          </a:bodyPr>
          <a:lstStyle/>
          <a:p>
            <a:pPr indent="304800" algn="just">
              <a:lnSpc>
                <a:spcPct val="150000"/>
              </a:lnSpc>
              <a:spcAft>
                <a:spcPts val="600"/>
              </a:spcAft>
            </a:pPr>
            <a:r>
              <a:rPr lang="en-US" altLang="zh-CN" sz="1800" kern="0" dirty="0" err="1">
                <a:effectLst/>
                <a:latin typeface="Times New Roman" panose="02020603050405020304" pitchFamily="18" charset="0"/>
                <a:ea typeface="宋体" panose="02010600030101010101" pitchFamily="2" charset="-122"/>
                <a:cs typeface="Times New Roman" panose="02020603050405020304" pitchFamily="18" charset="0"/>
              </a:rPr>
              <a:t>FairMOT</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属于联合检测与身份嵌入方法，采用共享骨干网络提取图像特征，并设置检测分支和身份嵌入分支分别完成船舶位置预测与身份表示学习。检测分支输出船舶中心位置、边界框尺寸、类别和置信度，身份嵌入分支输出用于跨帧关联的身份特征。</a:t>
            </a:r>
            <a:r>
              <a:rPr lang="en-US" altLang="zh-CN" sz="1800" kern="0" dirty="0" err="1">
                <a:effectLst/>
                <a:latin typeface="Times New Roman" panose="02020603050405020304" pitchFamily="18" charset="0"/>
                <a:ea typeface="宋体" panose="02010600030101010101" pitchFamily="2" charset="-122"/>
                <a:cs typeface="Times New Roman" panose="02020603050405020304" pitchFamily="18" charset="0"/>
              </a:rPr>
              <a:t>FairMOT</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采用基于目标中心的无锚检测结构，使检测分支和身份嵌入分支能够在同一目标位置上进行特征学习。</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5250821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9" name="Picture 28">
            <a:extLst>
              <a:ext uri="{FF2B5EF4-FFF2-40B4-BE49-F238E27FC236}">
                <a16:creationId xmlns:a16="http://schemas.microsoft.com/office/drawing/2014/main" id="{F6C3B8AA-D7A4-4810-9CC0-9946AF7A7AF6}"/>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220" name="组合 3">
            <a:extLst>
              <a:ext uri="{FF2B5EF4-FFF2-40B4-BE49-F238E27FC236}">
                <a16:creationId xmlns:a16="http://schemas.microsoft.com/office/drawing/2014/main" id="{C1A47F8B-D08C-4F18-A51F-1A96CFDC64B1}"/>
              </a:ext>
            </a:extLst>
          </p:cNvPr>
          <p:cNvGrpSpPr>
            <a:grpSpLocks/>
          </p:cNvGrpSpPr>
          <p:nvPr/>
        </p:nvGrpSpPr>
        <p:grpSpPr bwMode="auto">
          <a:xfrm>
            <a:off x="464577" y="165395"/>
            <a:ext cx="433338" cy="535447"/>
            <a:chOff x="10675" y="7633"/>
            <a:chExt cx="433171" cy="534549"/>
          </a:xfrm>
        </p:grpSpPr>
        <p:sp>
          <p:nvSpPr>
            <p:cNvPr id="221" name="圆角矩形 10">
              <a:extLst>
                <a:ext uri="{FF2B5EF4-FFF2-40B4-BE49-F238E27FC236}">
                  <a16:creationId xmlns:a16="http://schemas.microsoft.com/office/drawing/2014/main" id="{030F9BA5-DEFD-4506-A01B-6561B04F2E92}"/>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222" name="图片 50">
              <a:extLst>
                <a:ext uri="{FF2B5EF4-FFF2-40B4-BE49-F238E27FC236}">
                  <a16:creationId xmlns:a16="http://schemas.microsoft.com/office/drawing/2014/main" id="{72D8A068-A9C9-43B6-A589-D691DF21DF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23" name="图片 222">
            <a:extLst>
              <a:ext uri="{FF2B5EF4-FFF2-40B4-BE49-F238E27FC236}">
                <a16:creationId xmlns:a16="http://schemas.microsoft.com/office/drawing/2014/main" id="{D6475687-6A2D-4DF3-8054-8B7FBB2283C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224" name="TextBox 29">
            <a:extLst>
              <a:ext uri="{FF2B5EF4-FFF2-40B4-BE49-F238E27FC236}">
                <a16:creationId xmlns:a16="http://schemas.microsoft.com/office/drawing/2014/main" id="{AABE9574-6F2C-4F31-A0BE-DE8F72E63EDC}"/>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双模态特征融合的 FairMOT 改进</a:t>
            </a:r>
          </a:p>
        </p:txBody>
      </p:sp>
      <p:sp>
        <p:nvSpPr>
          <p:cNvPr id="228" name="TextBox 227"/>
          <p:cNvSpPr txBox="1"/>
          <p:nvPr/>
        </p:nvSpPr>
        <p:spPr>
          <a:xfrm>
            <a:off x="843001" y="1411287"/>
            <a:ext cx="5623560" cy="548640"/>
          </a:xfrm>
          <a:prstGeom prst="rect">
            <a:avLst/>
          </a:prstGeom>
          <a:noFill/>
        </p:spPr>
        <p:txBody>
          <a:bodyPr wrap="square" lIns="0" tIns="0" rIns="0" bIns="0" anchor="t">
            <a:spAutoFit/>
          </a:bodyPr>
          <a:lstStyle/>
          <a:p>
            <a:pPr algn="l">
              <a:lnSpc>
                <a:spcPct val="130000"/>
              </a:lnSpc>
              <a:spcAft>
                <a:spcPts val="600"/>
              </a:spcAft>
            </a:pPr>
            <a:r>
              <a:rPr sz="1800" b="1" dirty="0" err="1">
                <a:solidFill>
                  <a:srgbClr val="172B4B"/>
                </a:solidFill>
                <a:latin typeface="微软雅黑"/>
                <a:ea typeface="微软雅黑"/>
              </a:rPr>
              <a:t>改进思路：</a:t>
            </a:r>
            <a:r>
              <a:rPr sz="1700" b="0" dirty="0" err="1">
                <a:solidFill>
                  <a:srgbClr val="333F4F"/>
                </a:solidFill>
                <a:latin typeface="微软雅黑"/>
                <a:ea typeface="微软雅黑"/>
              </a:rPr>
              <a:t>在共享骨干网络之前引入红外与可见光双分支编码与融合模块</a:t>
            </a:r>
            <a:r>
              <a:rPr sz="1700" b="0" dirty="0">
                <a:solidFill>
                  <a:srgbClr val="333F4F"/>
                </a:solidFill>
                <a:latin typeface="微软雅黑"/>
                <a:ea typeface="微软雅黑"/>
              </a:rPr>
              <a:t>。</a:t>
            </a:r>
          </a:p>
        </p:txBody>
      </p:sp>
      <p:sp>
        <p:nvSpPr>
          <p:cNvPr id="229" name="Rounded Rectangle 228"/>
          <p:cNvSpPr/>
          <p:nvPr/>
        </p:nvSpPr>
        <p:spPr>
          <a:xfrm>
            <a:off x="843001" y="2389695"/>
            <a:ext cx="402336" cy="402336"/>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01</a:t>
            </a:r>
          </a:p>
        </p:txBody>
      </p:sp>
      <p:sp>
        <p:nvSpPr>
          <p:cNvPr id="230" name="TextBox 229"/>
          <p:cNvSpPr txBox="1"/>
          <p:nvPr/>
        </p:nvSpPr>
        <p:spPr>
          <a:xfrm>
            <a:off x="1409929" y="2334831"/>
            <a:ext cx="5056632" cy="1005840"/>
          </a:xfrm>
          <a:prstGeom prst="rect">
            <a:avLst/>
          </a:prstGeom>
          <a:noFill/>
        </p:spPr>
        <p:txBody>
          <a:bodyPr wrap="square" lIns="0" tIns="0" rIns="0" bIns="0" anchor="t">
            <a:spAutoFit/>
          </a:bodyPr>
          <a:lstStyle/>
          <a:p>
            <a:pPr algn="l">
              <a:lnSpc>
                <a:spcPct val="128000"/>
              </a:lnSpc>
              <a:spcAft>
                <a:spcPts val="300"/>
              </a:spcAft>
            </a:pPr>
            <a:r>
              <a:rPr sz="1900" b="1" dirty="0" err="1">
                <a:solidFill>
                  <a:srgbClr val="172B4B"/>
                </a:solidFill>
                <a:latin typeface="微软雅黑"/>
                <a:ea typeface="微软雅黑"/>
              </a:rPr>
              <a:t>双分支特征编码</a:t>
            </a:r>
            <a:endParaRPr sz="1900" b="1" dirty="0">
              <a:solidFill>
                <a:srgbClr val="172B4B"/>
              </a:solidFill>
              <a:latin typeface="微软雅黑"/>
              <a:ea typeface="微软雅黑"/>
            </a:endParaRPr>
          </a:p>
          <a:p>
            <a:pPr algn="l">
              <a:lnSpc>
                <a:spcPct val="128000"/>
              </a:lnSpc>
              <a:spcAft>
                <a:spcPts val="300"/>
              </a:spcAft>
            </a:pPr>
            <a:r>
              <a:rPr sz="1700" b="0" dirty="0" err="1">
                <a:solidFill>
                  <a:srgbClr val="333F4F"/>
                </a:solidFill>
                <a:latin typeface="微软雅黑"/>
                <a:ea typeface="微软雅黑"/>
              </a:rPr>
              <a:t>红外与可见光分别编码，逐层以拼接卷积或模态门控完成跨模态特征交互</a:t>
            </a:r>
            <a:r>
              <a:rPr sz="1700" b="0" dirty="0">
                <a:solidFill>
                  <a:srgbClr val="333F4F"/>
                </a:solidFill>
                <a:latin typeface="微软雅黑"/>
                <a:ea typeface="微软雅黑"/>
              </a:rPr>
              <a:t>。</a:t>
            </a:r>
          </a:p>
        </p:txBody>
      </p:sp>
      <p:sp>
        <p:nvSpPr>
          <p:cNvPr id="231" name="Rounded Rectangle 230"/>
          <p:cNvSpPr/>
          <p:nvPr/>
        </p:nvSpPr>
        <p:spPr>
          <a:xfrm>
            <a:off x="843001" y="3688142"/>
            <a:ext cx="402336" cy="402336"/>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02</a:t>
            </a:r>
          </a:p>
        </p:txBody>
      </p:sp>
      <p:sp>
        <p:nvSpPr>
          <p:cNvPr id="232" name="TextBox 231"/>
          <p:cNvSpPr txBox="1"/>
          <p:nvPr/>
        </p:nvSpPr>
        <p:spPr>
          <a:xfrm>
            <a:off x="1409929" y="3633279"/>
            <a:ext cx="5056632" cy="1005840"/>
          </a:xfrm>
          <a:prstGeom prst="rect">
            <a:avLst/>
          </a:prstGeom>
          <a:noFill/>
        </p:spPr>
        <p:txBody>
          <a:bodyPr wrap="square" lIns="0" tIns="0" rIns="0" bIns="0" anchor="t">
            <a:spAutoFit/>
          </a:bodyPr>
          <a:lstStyle/>
          <a:p>
            <a:pPr algn="l">
              <a:lnSpc>
                <a:spcPct val="128000"/>
              </a:lnSpc>
              <a:spcAft>
                <a:spcPts val="300"/>
              </a:spcAft>
            </a:pPr>
            <a:r>
              <a:rPr sz="1900" b="1" dirty="0" err="1">
                <a:solidFill>
                  <a:srgbClr val="172B4B"/>
                </a:solidFill>
                <a:latin typeface="微软雅黑"/>
                <a:ea typeface="微软雅黑"/>
              </a:rPr>
              <a:t>检测与嵌入联合学习</a:t>
            </a:r>
            <a:endParaRPr sz="1900" b="1" dirty="0">
              <a:solidFill>
                <a:srgbClr val="172B4B"/>
              </a:solidFill>
              <a:latin typeface="微软雅黑"/>
              <a:ea typeface="微软雅黑"/>
            </a:endParaRPr>
          </a:p>
          <a:p>
            <a:pPr algn="l">
              <a:lnSpc>
                <a:spcPct val="128000"/>
              </a:lnSpc>
              <a:spcAft>
                <a:spcPts val="300"/>
              </a:spcAft>
            </a:pPr>
            <a:r>
              <a:rPr sz="1700" b="0" dirty="0" err="1">
                <a:solidFill>
                  <a:srgbClr val="333F4F"/>
                </a:solidFill>
                <a:latin typeface="微软雅黑"/>
                <a:ea typeface="微软雅黑"/>
              </a:rPr>
              <a:t>融合特征同时输入检测头与身份嵌入头，共享骨干网络减少重复计算</a:t>
            </a:r>
            <a:r>
              <a:rPr sz="1700" b="0" dirty="0">
                <a:solidFill>
                  <a:srgbClr val="333F4F"/>
                </a:solidFill>
                <a:latin typeface="微软雅黑"/>
                <a:ea typeface="微软雅黑"/>
              </a:rPr>
              <a:t>。</a:t>
            </a:r>
          </a:p>
        </p:txBody>
      </p:sp>
      <p:sp>
        <p:nvSpPr>
          <p:cNvPr id="233" name="Rounded Rectangle 232"/>
          <p:cNvSpPr/>
          <p:nvPr/>
        </p:nvSpPr>
        <p:spPr>
          <a:xfrm>
            <a:off x="843001" y="4986591"/>
            <a:ext cx="402336" cy="402336"/>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03</a:t>
            </a:r>
          </a:p>
        </p:txBody>
      </p:sp>
      <p:sp>
        <p:nvSpPr>
          <p:cNvPr id="234" name="TextBox 233"/>
          <p:cNvSpPr txBox="1"/>
          <p:nvPr/>
        </p:nvSpPr>
        <p:spPr>
          <a:xfrm>
            <a:off x="1409929" y="4931727"/>
            <a:ext cx="5056632" cy="1005840"/>
          </a:xfrm>
          <a:prstGeom prst="rect">
            <a:avLst/>
          </a:prstGeom>
          <a:noFill/>
        </p:spPr>
        <p:txBody>
          <a:bodyPr wrap="square" lIns="0" tIns="0" rIns="0" bIns="0" anchor="t">
            <a:spAutoFit/>
          </a:bodyPr>
          <a:lstStyle/>
          <a:p>
            <a:pPr algn="l">
              <a:lnSpc>
                <a:spcPct val="128000"/>
              </a:lnSpc>
              <a:spcAft>
                <a:spcPts val="300"/>
              </a:spcAft>
            </a:pPr>
            <a:r>
              <a:rPr sz="1900" b="1" dirty="0" err="1">
                <a:solidFill>
                  <a:srgbClr val="172B4B"/>
                </a:solidFill>
                <a:latin typeface="微软雅黑"/>
                <a:ea typeface="微软雅黑"/>
              </a:rPr>
              <a:t>跨模态身份一致性</a:t>
            </a:r>
            <a:endParaRPr sz="1900" b="1" dirty="0">
              <a:solidFill>
                <a:srgbClr val="172B4B"/>
              </a:solidFill>
              <a:latin typeface="微软雅黑"/>
              <a:ea typeface="微软雅黑"/>
            </a:endParaRPr>
          </a:p>
          <a:p>
            <a:pPr algn="l">
              <a:lnSpc>
                <a:spcPct val="128000"/>
              </a:lnSpc>
              <a:spcAft>
                <a:spcPts val="300"/>
              </a:spcAft>
            </a:pPr>
            <a:r>
              <a:rPr sz="1700" b="0" dirty="0" err="1">
                <a:solidFill>
                  <a:srgbClr val="333F4F"/>
                </a:solidFill>
                <a:latin typeface="微软雅黑"/>
                <a:ea typeface="微软雅黑"/>
              </a:rPr>
              <a:t>对同一船舶的双模态嵌入施加一致性约束，提升相似船型的区分能力</a:t>
            </a:r>
            <a:r>
              <a:rPr sz="1700" b="0" dirty="0">
                <a:solidFill>
                  <a:srgbClr val="333F4F"/>
                </a:solidFill>
                <a:latin typeface="微软雅黑"/>
                <a:ea typeface="微软雅黑"/>
              </a:rPr>
              <a:t>。</a:t>
            </a:r>
          </a:p>
        </p:txBody>
      </p:sp>
      <p:pic>
        <p:nvPicPr>
          <p:cNvPr id="2" name="图片 1">
            <a:extLst>
              <a:ext uri="{FF2B5EF4-FFF2-40B4-BE49-F238E27FC236}">
                <a16:creationId xmlns:a16="http://schemas.microsoft.com/office/drawing/2014/main" id="{5430CE6D-EFA0-C51A-9991-757FADEF0471}"/>
              </a:ext>
            </a:extLst>
          </p:cNvPr>
          <p:cNvPicPr>
            <a:picLocks noChangeAspect="1"/>
          </p:cNvPicPr>
          <p:nvPr/>
        </p:nvPicPr>
        <p:blipFill>
          <a:blip r:embed="rId7"/>
          <a:stretch>
            <a:fillRect/>
          </a:stretch>
        </p:blipFill>
        <p:spPr>
          <a:xfrm>
            <a:off x="6634610" y="1258887"/>
            <a:ext cx="4716014" cy="4296189"/>
          </a:xfrm>
          <a:prstGeom prst="rect">
            <a:avLst/>
          </a:prstGeom>
        </p:spPr>
      </p:pic>
    </p:spTree>
    <p:extLst>
      <p:ext uri="{BB962C8B-B14F-4D97-AF65-F5344CB8AC3E}">
        <p14:creationId xmlns:p14="http://schemas.microsoft.com/office/powerpoint/2010/main" val="38158871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28">
            <a:extLst>
              <a:ext uri="{FF2B5EF4-FFF2-40B4-BE49-F238E27FC236}">
                <a16:creationId xmlns:a16="http://schemas.microsoft.com/office/drawing/2014/main" id="{04613769-CB50-461D-9765-024E88D6593D}"/>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57" name="组合 3">
            <a:extLst>
              <a:ext uri="{FF2B5EF4-FFF2-40B4-BE49-F238E27FC236}">
                <a16:creationId xmlns:a16="http://schemas.microsoft.com/office/drawing/2014/main" id="{A0389DDF-DCCE-498F-8BBE-475E4068BBE4}"/>
              </a:ext>
            </a:extLst>
          </p:cNvPr>
          <p:cNvGrpSpPr>
            <a:grpSpLocks/>
          </p:cNvGrpSpPr>
          <p:nvPr/>
        </p:nvGrpSpPr>
        <p:grpSpPr bwMode="auto">
          <a:xfrm>
            <a:off x="464577" y="165395"/>
            <a:ext cx="433338" cy="535447"/>
            <a:chOff x="10675" y="7633"/>
            <a:chExt cx="433171" cy="534549"/>
          </a:xfrm>
        </p:grpSpPr>
        <p:sp>
          <p:nvSpPr>
            <p:cNvPr id="58" name="圆角矩形 10">
              <a:extLst>
                <a:ext uri="{FF2B5EF4-FFF2-40B4-BE49-F238E27FC236}">
                  <a16:creationId xmlns:a16="http://schemas.microsoft.com/office/drawing/2014/main" id="{D04A9FD7-3F0F-4E76-B3E7-2AAAA7500262}"/>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59" name="图片 50">
              <a:extLst>
                <a:ext uri="{FF2B5EF4-FFF2-40B4-BE49-F238E27FC236}">
                  <a16:creationId xmlns:a16="http://schemas.microsoft.com/office/drawing/2014/main" id="{DD4EC5A1-E586-4862-8E7D-86EEDB4BB8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0" name="图片 59">
            <a:extLst>
              <a:ext uri="{FF2B5EF4-FFF2-40B4-BE49-F238E27FC236}">
                <a16:creationId xmlns:a16="http://schemas.microsoft.com/office/drawing/2014/main" id="{27BD5E15-0935-4140-BEAB-C1BBD88AC28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61" name="TextBox 29">
            <a:extLst>
              <a:ext uri="{FF2B5EF4-FFF2-40B4-BE49-F238E27FC236}">
                <a16:creationId xmlns:a16="http://schemas.microsoft.com/office/drawing/2014/main" id="{C03061E2-1374-4B1B-BB24-6757C7E277BC}"/>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联合检测跟踪</a:t>
            </a:r>
          </a:p>
        </p:txBody>
      </p:sp>
      <p:sp>
        <p:nvSpPr>
          <p:cNvPr id="62" name="TextBox 61"/>
          <p:cNvSpPr txBox="1"/>
          <p:nvPr/>
        </p:nvSpPr>
        <p:spPr>
          <a:xfrm>
            <a:off x="566928" y="1005840"/>
            <a:ext cx="10378440" cy="667042"/>
          </a:xfrm>
          <a:prstGeom prst="rect">
            <a:avLst/>
          </a:prstGeom>
          <a:noFill/>
        </p:spPr>
        <p:txBody>
          <a:bodyPr wrap="square" lIns="0" tIns="0" rIns="0" bIns="0" anchor="t">
            <a:spAutoFit/>
          </a:bodyPr>
          <a:lstStyle/>
          <a:p>
            <a:pPr algn="l">
              <a:lnSpc>
                <a:spcPct val="130000"/>
              </a:lnSpc>
              <a:spcAft>
                <a:spcPts val="400"/>
              </a:spcAft>
            </a:pPr>
            <a:r>
              <a:rPr sz="1700" b="0" dirty="0">
                <a:solidFill>
                  <a:srgbClr val="333F4F"/>
                </a:solidFill>
                <a:latin typeface="微软雅黑"/>
                <a:ea typeface="微软雅黑"/>
              </a:rPr>
              <a:t>前两条路线都是“先检测、再按规则关联”，</a:t>
            </a:r>
            <a:r>
              <a:rPr sz="1700" b="0" dirty="0" err="1">
                <a:solidFill>
                  <a:srgbClr val="333F4F"/>
                </a:solidFill>
                <a:latin typeface="微软雅黑"/>
                <a:ea typeface="微软雅黑"/>
              </a:rPr>
              <a:t>关联发生在网络之外</a:t>
            </a:r>
            <a:r>
              <a:rPr sz="1700" b="0" dirty="0">
                <a:solidFill>
                  <a:srgbClr val="333F4F"/>
                </a:solidFill>
                <a:latin typeface="微软雅黑"/>
                <a:ea typeface="微软雅黑"/>
              </a:rPr>
              <a:t>；</a:t>
            </a:r>
            <a:r>
              <a:rPr lang="zh-CN" altLang="en-US" sz="1700" b="0" dirty="0">
                <a:solidFill>
                  <a:srgbClr val="333F4F"/>
                </a:solidFill>
                <a:latin typeface="微软雅黑"/>
                <a:ea typeface="微软雅黑"/>
              </a:rPr>
              <a:t>联合检测跟踪</a:t>
            </a:r>
            <a:r>
              <a:rPr sz="1700" b="0" dirty="0" err="1">
                <a:solidFill>
                  <a:srgbClr val="333F4F"/>
                </a:solidFill>
                <a:latin typeface="微软雅黑"/>
                <a:ea typeface="微软雅黑"/>
              </a:rPr>
              <a:t>把轨迹本身表示为可学习的查询，在相邻帧之间传递与更新，使检测与跟踪端到端统一建模</a:t>
            </a:r>
            <a:r>
              <a:rPr sz="1700" b="0" dirty="0">
                <a:solidFill>
                  <a:srgbClr val="333F4F"/>
                </a:solidFill>
                <a:latin typeface="微软雅黑"/>
                <a:ea typeface="微软雅黑"/>
              </a:rPr>
              <a:t>。</a:t>
            </a:r>
          </a:p>
        </p:txBody>
      </p:sp>
      <p:sp>
        <p:nvSpPr>
          <p:cNvPr id="64" name="Rounded Rectangle 63"/>
          <p:cNvSpPr/>
          <p:nvPr/>
        </p:nvSpPr>
        <p:spPr>
          <a:xfrm>
            <a:off x="548640" y="1938528"/>
            <a:ext cx="10424160" cy="1188720"/>
          </a:xfrm>
          <a:prstGeom prst="roundRect">
            <a:avLst>
              <a:gd name="adj" fmla="val 6000"/>
            </a:avLst>
          </a:prstGeom>
          <a:solidFill>
            <a:srgbClr val="FFFFFF"/>
          </a:solidFill>
          <a:ln w="1270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ounded Rectangle 64"/>
          <p:cNvSpPr/>
          <p:nvPr/>
        </p:nvSpPr>
        <p:spPr>
          <a:xfrm>
            <a:off x="914400" y="2249424"/>
            <a:ext cx="1417320" cy="566928"/>
          </a:xfrm>
          <a:prstGeom prst="roundRect">
            <a:avLst>
              <a:gd name="adj" fmla="val 18000"/>
            </a:avLst>
          </a:prstGeom>
          <a:solidFill>
            <a:srgbClr val="F1EFE8"/>
          </a:solidFill>
          <a:ln w="12700">
            <a:solidFill>
              <a:srgbClr val="959490"/>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6000"/>
              </a:lnSpc>
            </a:pPr>
            <a:r>
              <a:rPr sz="1350" b="0">
                <a:solidFill>
                  <a:srgbClr val="2C2C2A"/>
                </a:solidFill>
                <a:latin typeface="微软雅黑"/>
                <a:ea typeface="微软雅黑"/>
              </a:rPr>
              <a:t>当前帧图像</a:t>
            </a:r>
          </a:p>
        </p:txBody>
      </p:sp>
      <p:sp>
        <p:nvSpPr>
          <p:cNvPr id="66" name="Right Arrow 65"/>
          <p:cNvSpPr/>
          <p:nvPr/>
        </p:nvSpPr>
        <p:spPr>
          <a:xfrm>
            <a:off x="2423160" y="2459736"/>
            <a:ext cx="274320" cy="146304"/>
          </a:xfrm>
          <a:prstGeom prst="rightArrow">
            <a:avLst/>
          </a:prstGeom>
          <a:solidFill>
            <a:srgbClr val="A9A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ounded Rectangle 66"/>
          <p:cNvSpPr/>
          <p:nvPr/>
        </p:nvSpPr>
        <p:spPr>
          <a:xfrm>
            <a:off x="2788920" y="2249424"/>
            <a:ext cx="2103120" cy="566928"/>
          </a:xfrm>
          <a:prstGeom prst="roundRect">
            <a:avLst>
              <a:gd name="adj" fmla="val 18000"/>
            </a:avLst>
          </a:prstGeom>
          <a:solidFill>
            <a:srgbClr val="E6F1FB"/>
          </a:solidFill>
          <a:ln w="12700">
            <a:solidFill>
              <a:srgbClr val="5A8DC0"/>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6000"/>
              </a:lnSpc>
            </a:pPr>
            <a:r>
              <a:rPr sz="1350" b="0">
                <a:solidFill>
                  <a:srgbClr val="042C53"/>
                </a:solidFill>
                <a:latin typeface="微软雅黑"/>
                <a:ea typeface="微软雅黑"/>
              </a:rPr>
              <a:t>检测 + 身份嵌入</a:t>
            </a:r>
          </a:p>
        </p:txBody>
      </p:sp>
      <p:sp>
        <p:nvSpPr>
          <p:cNvPr id="68" name="Right Arrow 67"/>
          <p:cNvSpPr/>
          <p:nvPr/>
        </p:nvSpPr>
        <p:spPr>
          <a:xfrm>
            <a:off x="4983480" y="2459736"/>
            <a:ext cx="274320" cy="146304"/>
          </a:xfrm>
          <a:prstGeom prst="rightArrow">
            <a:avLst/>
          </a:prstGeom>
          <a:solidFill>
            <a:srgbClr val="A9A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ounded Rectangle 68"/>
          <p:cNvSpPr/>
          <p:nvPr/>
        </p:nvSpPr>
        <p:spPr>
          <a:xfrm>
            <a:off x="5349240" y="2249424"/>
            <a:ext cx="3520440" cy="566928"/>
          </a:xfrm>
          <a:prstGeom prst="roundRect">
            <a:avLst>
              <a:gd name="adj" fmla="val 18000"/>
            </a:avLst>
          </a:prstGeom>
          <a:solidFill>
            <a:srgbClr val="FDF2E4"/>
          </a:solidFill>
          <a:ln w="12700">
            <a:solidFill>
              <a:srgbClr val="C88F4A"/>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6000"/>
              </a:lnSpc>
            </a:pPr>
            <a:r>
              <a:rPr sz="1300" b="0" dirty="0" err="1">
                <a:solidFill>
                  <a:srgbClr val="8A4F12"/>
                </a:solidFill>
                <a:latin typeface="微软雅黑"/>
                <a:ea typeface="微软雅黑"/>
              </a:rPr>
              <a:t>人工关联规则：IoU</a:t>
            </a:r>
            <a:r>
              <a:rPr sz="1300" b="0" dirty="0">
                <a:solidFill>
                  <a:srgbClr val="8A4F12"/>
                </a:solidFill>
                <a:latin typeface="微软雅黑"/>
                <a:ea typeface="微软雅黑"/>
              </a:rPr>
              <a:t> · </a:t>
            </a:r>
            <a:r>
              <a:rPr sz="1300" b="0" dirty="0" err="1">
                <a:solidFill>
                  <a:srgbClr val="8A4F12"/>
                </a:solidFill>
                <a:latin typeface="微软雅黑"/>
                <a:ea typeface="微软雅黑"/>
              </a:rPr>
              <a:t>卡尔曼</a:t>
            </a:r>
            <a:r>
              <a:rPr lang="zh-CN" altLang="en-US" sz="1300" b="0" dirty="0">
                <a:solidFill>
                  <a:srgbClr val="8A4F12"/>
                </a:solidFill>
                <a:latin typeface="微软雅黑"/>
                <a:ea typeface="微软雅黑"/>
              </a:rPr>
              <a:t>滤波</a:t>
            </a:r>
            <a:r>
              <a:rPr sz="1300" b="0" dirty="0">
                <a:solidFill>
                  <a:srgbClr val="8A4F12"/>
                </a:solidFill>
                <a:latin typeface="微软雅黑"/>
                <a:ea typeface="微软雅黑"/>
              </a:rPr>
              <a:t>· </a:t>
            </a:r>
            <a:r>
              <a:rPr sz="1300" b="0" dirty="0" err="1">
                <a:solidFill>
                  <a:srgbClr val="8A4F12"/>
                </a:solidFill>
                <a:latin typeface="微软雅黑"/>
                <a:ea typeface="微软雅黑"/>
              </a:rPr>
              <a:t>嵌入相似度</a:t>
            </a:r>
            <a:r>
              <a:rPr sz="1300" b="0" dirty="0">
                <a:solidFill>
                  <a:srgbClr val="8A4F12"/>
                </a:solidFill>
                <a:latin typeface="微软雅黑"/>
                <a:ea typeface="微软雅黑"/>
              </a:rPr>
              <a:t> · </a:t>
            </a:r>
            <a:r>
              <a:rPr sz="1300" b="0" dirty="0" err="1">
                <a:solidFill>
                  <a:srgbClr val="8A4F12"/>
                </a:solidFill>
                <a:latin typeface="微软雅黑"/>
                <a:ea typeface="微软雅黑"/>
              </a:rPr>
              <a:t>匈牙利匹配</a:t>
            </a:r>
            <a:endParaRPr sz="1300" b="0" dirty="0">
              <a:solidFill>
                <a:srgbClr val="8A4F12"/>
              </a:solidFill>
              <a:latin typeface="微软雅黑"/>
              <a:ea typeface="微软雅黑"/>
            </a:endParaRPr>
          </a:p>
        </p:txBody>
      </p:sp>
      <p:sp>
        <p:nvSpPr>
          <p:cNvPr id="71" name="Right Arrow 70"/>
          <p:cNvSpPr/>
          <p:nvPr/>
        </p:nvSpPr>
        <p:spPr>
          <a:xfrm>
            <a:off x="8961120" y="2459736"/>
            <a:ext cx="274320" cy="146304"/>
          </a:xfrm>
          <a:prstGeom prst="rightArrow">
            <a:avLst/>
          </a:prstGeom>
          <a:solidFill>
            <a:srgbClr val="A9A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ounded Rectangle 71"/>
          <p:cNvSpPr/>
          <p:nvPr/>
        </p:nvSpPr>
        <p:spPr>
          <a:xfrm>
            <a:off x="9326880" y="2249424"/>
            <a:ext cx="1463040" cy="566928"/>
          </a:xfrm>
          <a:prstGeom prst="roundRect">
            <a:avLst>
              <a:gd name="adj" fmla="val 18000"/>
            </a:avLst>
          </a:prstGeom>
          <a:solidFill>
            <a:srgbClr val="E1F5EE"/>
          </a:solidFill>
          <a:ln w="12700">
            <a:solidFill>
              <a:srgbClr val="8DBFB2"/>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6000"/>
              </a:lnSpc>
            </a:pPr>
            <a:r>
              <a:rPr sz="1350" b="0">
                <a:solidFill>
                  <a:srgbClr val="1E4A42"/>
                </a:solidFill>
                <a:latin typeface="微软雅黑"/>
                <a:ea typeface="微软雅黑"/>
              </a:rPr>
              <a:t>轨迹输出</a:t>
            </a:r>
          </a:p>
        </p:txBody>
      </p:sp>
      <p:sp>
        <p:nvSpPr>
          <p:cNvPr id="76" name="Rounded Rectangle 75"/>
          <p:cNvSpPr/>
          <p:nvPr/>
        </p:nvSpPr>
        <p:spPr>
          <a:xfrm>
            <a:off x="137160" y="4110860"/>
            <a:ext cx="11109484" cy="1653799"/>
          </a:xfrm>
          <a:prstGeom prst="roundRect">
            <a:avLst>
              <a:gd name="adj" fmla="val 6000"/>
            </a:avLst>
          </a:prstGeom>
          <a:solidFill>
            <a:srgbClr val="FFFFFF"/>
          </a:solidFill>
          <a:ln w="1270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ounded Rectangle 76"/>
          <p:cNvSpPr/>
          <p:nvPr/>
        </p:nvSpPr>
        <p:spPr>
          <a:xfrm>
            <a:off x="457200" y="4374771"/>
            <a:ext cx="1463040" cy="658368"/>
          </a:xfrm>
          <a:prstGeom prst="roundRect">
            <a:avLst>
              <a:gd name="adj" fmla="val 18000"/>
            </a:avLst>
          </a:prstGeom>
          <a:solidFill>
            <a:srgbClr val="F1EFE8"/>
          </a:solidFill>
          <a:ln w="12700">
            <a:solidFill>
              <a:srgbClr val="959490"/>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6000"/>
              </a:lnSpc>
            </a:pPr>
            <a:r>
              <a:rPr sz="1350" b="0">
                <a:solidFill>
                  <a:srgbClr val="2C2C2A"/>
                </a:solidFill>
                <a:latin typeface="微软雅黑"/>
                <a:ea typeface="微软雅黑"/>
              </a:rPr>
              <a:t>连续帧图像</a:t>
            </a:r>
          </a:p>
        </p:txBody>
      </p:sp>
      <p:sp>
        <p:nvSpPr>
          <p:cNvPr id="78" name="Right Arrow 77"/>
          <p:cNvSpPr/>
          <p:nvPr/>
        </p:nvSpPr>
        <p:spPr>
          <a:xfrm>
            <a:off x="2011680" y="4630803"/>
            <a:ext cx="274320" cy="146304"/>
          </a:xfrm>
          <a:prstGeom prst="rightArrow">
            <a:avLst/>
          </a:prstGeom>
          <a:solidFill>
            <a:srgbClr val="A9A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ounded Rectangle 78"/>
          <p:cNvSpPr/>
          <p:nvPr/>
        </p:nvSpPr>
        <p:spPr>
          <a:xfrm>
            <a:off x="2377440" y="4374771"/>
            <a:ext cx="1874519" cy="658368"/>
          </a:xfrm>
          <a:prstGeom prst="roundRect">
            <a:avLst>
              <a:gd name="adj" fmla="val 18000"/>
            </a:avLst>
          </a:prstGeom>
          <a:solidFill>
            <a:srgbClr val="E6F1FB"/>
          </a:solidFill>
          <a:ln w="12700">
            <a:solidFill>
              <a:srgbClr val="5A8DC0"/>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6000"/>
              </a:lnSpc>
            </a:pPr>
            <a:r>
              <a:rPr sz="1350" b="0">
                <a:solidFill>
                  <a:srgbClr val="042C53"/>
                </a:solidFill>
                <a:latin typeface="微软雅黑"/>
                <a:ea typeface="微软雅黑"/>
              </a:rPr>
              <a:t>Transformer
编码器</a:t>
            </a:r>
          </a:p>
        </p:txBody>
      </p:sp>
      <p:sp>
        <p:nvSpPr>
          <p:cNvPr id="80" name="Right Arrow 79"/>
          <p:cNvSpPr/>
          <p:nvPr/>
        </p:nvSpPr>
        <p:spPr>
          <a:xfrm>
            <a:off x="4343400" y="4630803"/>
            <a:ext cx="274320" cy="146304"/>
          </a:xfrm>
          <a:prstGeom prst="rightArrow">
            <a:avLst/>
          </a:prstGeom>
          <a:solidFill>
            <a:srgbClr val="A9A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ounded Rectangle 80"/>
          <p:cNvSpPr/>
          <p:nvPr/>
        </p:nvSpPr>
        <p:spPr>
          <a:xfrm>
            <a:off x="4709160" y="4374771"/>
            <a:ext cx="1874519" cy="658368"/>
          </a:xfrm>
          <a:prstGeom prst="roundRect">
            <a:avLst>
              <a:gd name="adj" fmla="val 18000"/>
            </a:avLst>
          </a:prstGeom>
          <a:solidFill>
            <a:srgbClr val="FBEAF0"/>
          </a:solidFill>
          <a:ln w="12700">
            <a:solidFill>
              <a:srgbClr val="BE7C91"/>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6000"/>
              </a:lnSpc>
            </a:pPr>
            <a:r>
              <a:rPr sz="1350" b="0">
                <a:solidFill>
                  <a:srgbClr val="4B1528"/>
                </a:solidFill>
                <a:latin typeface="微软雅黑"/>
                <a:ea typeface="微软雅黑"/>
              </a:rPr>
              <a:t>目标查询
轨迹查询</a:t>
            </a:r>
          </a:p>
        </p:txBody>
      </p:sp>
      <p:sp>
        <p:nvSpPr>
          <p:cNvPr id="82" name="Right Arrow 81"/>
          <p:cNvSpPr/>
          <p:nvPr/>
        </p:nvSpPr>
        <p:spPr>
          <a:xfrm>
            <a:off x="6675120" y="4630803"/>
            <a:ext cx="274320" cy="146304"/>
          </a:xfrm>
          <a:prstGeom prst="rightArrow">
            <a:avLst/>
          </a:prstGeom>
          <a:solidFill>
            <a:srgbClr val="A9A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ounded Rectangle 82"/>
          <p:cNvSpPr/>
          <p:nvPr/>
        </p:nvSpPr>
        <p:spPr>
          <a:xfrm>
            <a:off x="7040880" y="4374771"/>
            <a:ext cx="1874519" cy="658368"/>
          </a:xfrm>
          <a:prstGeom prst="roundRect">
            <a:avLst>
              <a:gd name="adj" fmla="val 18000"/>
            </a:avLst>
          </a:prstGeom>
          <a:solidFill>
            <a:srgbClr val="E6F1FB"/>
          </a:solidFill>
          <a:ln w="12700">
            <a:solidFill>
              <a:srgbClr val="5A8DC0"/>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6000"/>
              </a:lnSpc>
            </a:pPr>
            <a:r>
              <a:rPr sz="1350" b="0">
                <a:solidFill>
                  <a:srgbClr val="042C53"/>
                </a:solidFill>
                <a:latin typeface="微软雅黑"/>
                <a:ea typeface="微软雅黑"/>
              </a:rPr>
              <a:t>Transformer
解码器</a:t>
            </a:r>
          </a:p>
        </p:txBody>
      </p:sp>
      <p:sp>
        <p:nvSpPr>
          <p:cNvPr id="84" name="Right Arrow 83"/>
          <p:cNvSpPr/>
          <p:nvPr/>
        </p:nvSpPr>
        <p:spPr>
          <a:xfrm>
            <a:off x="9006840" y="4630803"/>
            <a:ext cx="274320" cy="146304"/>
          </a:xfrm>
          <a:prstGeom prst="rightArrow">
            <a:avLst/>
          </a:prstGeom>
          <a:solidFill>
            <a:srgbClr val="A9A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ounded Rectangle 84"/>
          <p:cNvSpPr/>
          <p:nvPr/>
        </p:nvSpPr>
        <p:spPr>
          <a:xfrm>
            <a:off x="9372600" y="4374771"/>
            <a:ext cx="1417320" cy="658368"/>
          </a:xfrm>
          <a:prstGeom prst="roundRect">
            <a:avLst>
              <a:gd name="adj" fmla="val 18000"/>
            </a:avLst>
          </a:prstGeom>
          <a:solidFill>
            <a:srgbClr val="E1F5EE"/>
          </a:solidFill>
          <a:ln w="12700">
            <a:solidFill>
              <a:srgbClr val="8DBFB2"/>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6000"/>
              </a:lnSpc>
            </a:pPr>
            <a:r>
              <a:rPr sz="1350" b="0" dirty="0" err="1">
                <a:solidFill>
                  <a:srgbClr val="1E4A42"/>
                </a:solidFill>
                <a:latin typeface="微软雅黑"/>
                <a:ea typeface="微软雅黑"/>
              </a:rPr>
              <a:t>轨迹</a:t>
            </a:r>
            <a:r>
              <a:rPr sz="1350" b="0" dirty="0">
                <a:solidFill>
                  <a:srgbClr val="1E4A42"/>
                </a:solidFill>
                <a:latin typeface="微软雅黑"/>
                <a:ea typeface="微软雅黑"/>
              </a:rPr>
              <a:t>
</a:t>
            </a:r>
            <a:r>
              <a:rPr sz="1350" b="0" dirty="0" err="1">
                <a:solidFill>
                  <a:srgbClr val="1E4A42"/>
                </a:solidFill>
                <a:latin typeface="微软雅黑"/>
                <a:ea typeface="微软雅黑"/>
              </a:rPr>
              <a:t>直接输出</a:t>
            </a:r>
            <a:endParaRPr sz="1350" b="0" dirty="0">
              <a:solidFill>
                <a:srgbClr val="1E4A42"/>
              </a:solidFill>
              <a:latin typeface="微软雅黑"/>
              <a:ea typeface="微软雅黑"/>
            </a:endParaRPr>
          </a:p>
        </p:txBody>
      </p:sp>
      <p:cxnSp>
        <p:nvCxnSpPr>
          <p:cNvPr id="86" name="Connector 85"/>
          <p:cNvCxnSpPr/>
          <p:nvPr/>
        </p:nvCxnSpPr>
        <p:spPr>
          <a:xfrm>
            <a:off x="10076688" y="5014851"/>
            <a:ext cx="0" cy="237744"/>
          </a:xfrm>
          <a:prstGeom prst="line">
            <a:avLst/>
          </a:prstGeom>
          <a:ln w="19050">
            <a:solidFill>
              <a:srgbClr val="A9A9A9"/>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a:off x="5641848" y="5252595"/>
            <a:ext cx="4434840" cy="0"/>
          </a:xfrm>
          <a:prstGeom prst="line">
            <a:avLst/>
          </a:prstGeom>
          <a:ln w="19050">
            <a:solidFill>
              <a:srgbClr val="A9A9A9"/>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5641848" y="5161155"/>
            <a:ext cx="0" cy="91440"/>
          </a:xfrm>
          <a:prstGeom prst="line">
            <a:avLst/>
          </a:prstGeom>
          <a:ln w="19050">
            <a:solidFill>
              <a:srgbClr val="A9A9A9"/>
            </a:solidFill>
          </a:ln>
        </p:spPr>
        <p:style>
          <a:lnRef idx="2">
            <a:schemeClr val="accent1"/>
          </a:lnRef>
          <a:fillRef idx="0">
            <a:schemeClr val="accent1"/>
          </a:fillRef>
          <a:effectRef idx="1">
            <a:schemeClr val="accent1"/>
          </a:effectRef>
          <a:fontRef idx="minor">
            <a:schemeClr val="tx1"/>
          </a:fontRef>
        </p:style>
      </p:cxnSp>
      <p:sp>
        <p:nvSpPr>
          <p:cNvPr id="89" name="Isosceles Triangle 88"/>
          <p:cNvSpPr/>
          <p:nvPr/>
        </p:nvSpPr>
        <p:spPr>
          <a:xfrm>
            <a:off x="5541264" y="5014851"/>
            <a:ext cx="201168" cy="146304"/>
          </a:xfrm>
          <a:prstGeom prst="triangle">
            <a:avLst/>
          </a:prstGeom>
          <a:solidFill>
            <a:srgbClr val="A9A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5897880" y="5325747"/>
            <a:ext cx="4023360" cy="256032"/>
          </a:xfrm>
          <a:prstGeom prst="rect">
            <a:avLst/>
          </a:prstGeom>
          <a:noFill/>
        </p:spPr>
        <p:txBody>
          <a:bodyPr wrap="square" lIns="0" tIns="0" rIns="0" bIns="0" anchor="t">
            <a:spAutoFit/>
          </a:bodyPr>
          <a:lstStyle/>
          <a:p>
            <a:pPr algn="l">
              <a:lnSpc>
                <a:spcPct val="128000"/>
              </a:lnSpc>
              <a:spcAft>
                <a:spcPts val="400"/>
              </a:spcAft>
            </a:pPr>
            <a:r>
              <a:rPr sz="1250" b="0">
                <a:solidFill>
                  <a:srgbClr val="5D6D80"/>
                </a:solidFill>
                <a:latin typeface="微软雅黑"/>
                <a:ea typeface="微软雅黑"/>
              </a:rPr>
              <a:t>轨迹查询更新后传递至下一帧</a:t>
            </a:r>
          </a:p>
        </p:txBody>
      </p:sp>
      <p:sp>
        <p:nvSpPr>
          <p:cNvPr id="91" name="TextBox 90"/>
          <p:cNvSpPr txBox="1"/>
          <p:nvPr/>
        </p:nvSpPr>
        <p:spPr>
          <a:xfrm>
            <a:off x="566928" y="5797296"/>
            <a:ext cx="10378440" cy="310896"/>
          </a:xfrm>
          <a:prstGeom prst="rect">
            <a:avLst/>
          </a:prstGeom>
          <a:noFill/>
        </p:spPr>
        <p:txBody>
          <a:bodyPr wrap="square" lIns="0" tIns="0" rIns="0" bIns="0" anchor="t">
            <a:spAutoFit/>
          </a:bodyPr>
          <a:lstStyle/>
          <a:p>
            <a:pPr algn="ctr">
              <a:lnSpc>
                <a:spcPct val="128000"/>
              </a:lnSpc>
              <a:spcAft>
                <a:spcPts val="400"/>
              </a:spcAft>
            </a:pPr>
            <a:r>
              <a:rPr sz="1500" b="1" dirty="0" err="1">
                <a:solidFill>
                  <a:srgbClr val="172B4B"/>
                </a:solidFill>
                <a:latin typeface="微软雅黑"/>
                <a:ea typeface="微软雅黑"/>
              </a:rPr>
              <a:t>关联环节由网络之外的人工规则，变为网络内部可学习的轨迹查询跨帧传递</a:t>
            </a:r>
            <a:endParaRPr sz="1500" b="1" dirty="0">
              <a:solidFill>
                <a:srgbClr val="172B4B"/>
              </a:solidFill>
              <a:latin typeface="微软雅黑"/>
              <a:ea typeface="微软雅黑"/>
            </a:endParaRPr>
          </a:p>
        </p:txBody>
      </p:sp>
      <p:sp>
        <p:nvSpPr>
          <p:cNvPr id="2" name="TextBox 90">
            <a:extLst>
              <a:ext uri="{FF2B5EF4-FFF2-40B4-BE49-F238E27FC236}">
                <a16:creationId xmlns:a16="http://schemas.microsoft.com/office/drawing/2014/main" id="{DDC585A4-6ECF-821E-6699-9E73B5362A86}"/>
              </a:ext>
            </a:extLst>
          </p:cNvPr>
          <p:cNvSpPr txBox="1"/>
          <p:nvPr/>
        </p:nvSpPr>
        <p:spPr>
          <a:xfrm>
            <a:off x="4162207" y="3298779"/>
            <a:ext cx="4294306" cy="267381"/>
          </a:xfrm>
          <a:prstGeom prst="rect">
            <a:avLst/>
          </a:prstGeom>
          <a:noFill/>
        </p:spPr>
        <p:txBody>
          <a:bodyPr wrap="square" lIns="0" tIns="0" rIns="0" bIns="0" anchor="t">
            <a:spAutoFit/>
          </a:bodyPr>
          <a:lstStyle/>
          <a:p>
            <a:pPr algn="ctr">
              <a:lnSpc>
                <a:spcPct val="128000"/>
              </a:lnSpc>
              <a:spcAft>
                <a:spcPts val="400"/>
              </a:spcAft>
            </a:pPr>
            <a:r>
              <a:rPr lang="zh-CN" altLang="en-US" sz="1500" b="1" dirty="0">
                <a:solidFill>
                  <a:srgbClr val="172B4B"/>
                </a:solidFill>
                <a:latin typeface="微软雅黑"/>
                <a:ea typeface="微软雅黑"/>
              </a:rPr>
              <a:t>关联规则位于网络之外，逐帧独立匹配</a:t>
            </a:r>
          </a:p>
        </p:txBody>
      </p:sp>
    </p:spTree>
    <p:extLst>
      <p:ext uri="{BB962C8B-B14F-4D97-AF65-F5344CB8AC3E}">
        <p14:creationId xmlns:p14="http://schemas.microsoft.com/office/powerpoint/2010/main" val="10601477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28">
            <a:extLst>
              <a:ext uri="{FF2B5EF4-FFF2-40B4-BE49-F238E27FC236}">
                <a16:creationId xmlns:a16="http://schemas.microsoft.com/office/drawing/2014/main" id="{AA8179F2-28FB-421B-899C-BD128C4E31F3}"/>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33" name="组合 3">
            <a:extLst>
              <a:ext uri="{FF2B5EF4-FFF2-40B4-BE49-F238E27FC236}">
                <a16:creationId xmlns:a16="http://schemas.microsoft.com/office/drawing/2014/main" id="{E3F27028-DB63-4C26-A6E4-40AD595D4D53}"/>
              </a:ext>
            </a:extLst>
          </p:cNvPr>
          <p:cNvGrpSpPr>
            <a:grpSpLocks/>
          </p:cNvGrpSpPr>
          <p:nvPr/>
        </p:nvGrpSpPr>
        <p:grpSpPr bwMode="auto">
          <a:xfrm>
            <a:off x="464577" y="165395"/>
            <a:ext cx="433338" cy="535447"/>
            <a:chOff x="10675" y="7633"/>
            <a:chExt cx="433171" cy="534549"/>
          </a:xfrm>
        </p:grpSpPr>
        <p:sp>
          <p:nvSpPr>
            <p:cNvPr id="34" name="圆角矩形 10">
              <a:extLst>
                <a:ext uri="{FF2B5EF4-FFF2-40B4-BE49-F238E27FC236}">
                  <a16:creationId xmlns:a16="http://schemas.microsoft.com/office/drawing/2014/main" id="{BD474E94-6A31-4F2C-ABBE-C6C379A36E03}"/>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35" name="图片 50">
              <a:extLst>
                <a:ext uri="{FF2B5EF4-FFF2-40B4-BE49-F238E27FC236}">
                  <a16:creationId xmlns:a16="http://schemas.microsoft.com/office/drawing/2014/main" id="{F51ED183-BB2C-4496-AA11-6A1DA71394E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6" name="图片 35">
            <a:extLst>
              <a:ext uri="{FF2B5EF4-FFF2-40B4-BE49-F238E27FC236}">
                <a16:creationId xmlns:a16="http://schemas.microsoft.com/office/drawing/2014/main" id="{956B1C9A-3553-4F7C-8045-EEA4499D960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37" name="TextBox 29">
            <a:extLst>
              <a:ext uri="{FF2B5EF4-FFF2-40B4-BE49-F238E27FC236}">
                <a16:creationId xmlns:a16="http://schemas.microsoft.com/office/drawing/2014/main" id="{9A1459F8-8278-4383-B6F5-833527E28294}"/>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双模态轨迹查询的 MOTR 改进</a:t>
            </a:r>
          </a:p>
        </p:txBody>
      </p:sp>
      <p:sp>
        <p:nvSpPr>
          <p:cNvPr id="52" name="Rounded Rectangle 51"/>
          <p:cNvSpPr/>
          <p:nvPr/>
        </p:nvSpPr>
        <p:spPr>
          <a:xfrm>
            <a:off x="6263640" y="1234440"/>
            <a:ext cx="402336" cy="402336"/>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01</a:t>
            </a:r>
          </a:p>
        </p:txBody>
      </p:sp>
      <p:sp>
        <p:nvSpPr>
          <p:cNvPr id="53" name="TextBox 52"/>
          <p:cNvSpPr txBox="1"/>
          <p:nvPr/>
        </p:nvSpPr>
        <p:spPr>
          <a:xfrm>
            <a:off x="6830568" y="1179576"/>
            <a:ext cx="4142232" cy="1005840"/>
          </a:xfrm>
          <a:prstGeom prst="rect">
            <a:avLst/>
          </a:prstGeom>
          <a:noFill/>
        </p:spPr>
        <p:txBody>
          <a:bodyPr wrap="square" lIns="0" tIns="0" rIns="0" bIns="0" anchor="t">
            <a:spAutoFit/>
          </a:bodyPr>
          <a:lstStyle/>
          <a:p>
            <a:pPr algn="l">
              <a:lnSpc>
                <a:spcPct val="128000"/>
              </a:lnSpc>
              <a:spcAft>
                <a:spcPts val="300"/>
              </a:spcAft>
            </a:pPr>
            <a:r>
              <a:rPr sz="1850" b="1">
                <a:solidFill>
                  <a:srgbClr val="172B4B"/>
                </a:solidFill>
                <a:latin typeface="微软雅黑"/>
                <a:ea typeface="微软雅黑"/>
              </a:rPr>
              <a:t>双模态多尺度特征提取</a:t>
            </a:r>
          </a:p>
          <a:p>
            <a:pPr algn="l">
              <a:lnSpc>
                <a:spcPct val="128000"/>
              </a:lnSpc>
              <a:spcAft>
                <a:spcPts val="300"/>
              </a:spcAft>
            </a:pPr>
            <a:r>
              <a:rPr sz="1650" b="0">
                <a:solidFill>
                  <a:srgbClr val="333F4F"/>
                </a:solidFill>
                <a:latin typeface="微软雅黑"/>
                <a:ea typeface="微软雅黑"/>
              </a:rPr>
              <a:t>红外提供目标显著性，可见光提供纹理边缘，兼顾近距船舶与远距小目标。</a:t>
            </a:r>
          </a:p>
        </p:txBody>
      </p:sp>
      <p:sp>
        <p:nvSpPr>
          <p:cNvPr id="54" name="Rounded Rectangle 53"/>
          <p:cNvSpPr/>
          <p:nvPr/>
        </p:nvSpPr>
        <p:spPr>
          <a:xfrm>
            <a:off x="6263640" y="2423160"/>
            <a:ext cx="402336" cy="402336"/>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02</a:t>
            </a:r>
          </a:p>
        </p:txBody>
      </p:sp>
      <p:sp>
        <p:nvSpPr>
          <p:cNvPr id="55" name="TextBox 54"/>
          <p:cNvSpPr txBox="1"/>
          <p:nvPr/>
        </p:nvSpPr>
        <p:spPr>
          <a:xfrm>
            <a:off x="6830568" y="2368296"/>
            <a:ext cx="4142232" cy="1005840"/>
          </a:xfrm>
          <a:prstGeom prst="rect">
            <a:avLst/>
          </a:prstGeom>
          <a:noFill/>
        </p:spPr>
        <p:txBody>
          <a:bodyPr wrap="square" lIns="0" tIns="0" rIns="0" bIns="0" anchor="t">
            <a:spAutoFit/>
          </a:bodyPr>
          <a:lstStyle/>
          <a:p>
            <a:pPr algn="l">
              <a:lnSpc>
                <a:spcPct val="128000"/>
              </a:lnSpc>
              <a:spcAft>
                <a:spcPts val="300"/>
              </a:spcAft>
            </a:pPr>
            <a:r>
              <a:rPr sz="1850" b="1">
                <a:solidFill>
                  <a:srgbClr val="172B4B"/>
                </a:solidFill>
                <a:latin typeface="微软雅黑"/>
                <a:ea typeface="微软雅黑"/>
              </a:rPr>
              <a:t>跨模态注意力融合</a:t>
            </a:r>
          </a:p>
          <a:p>
            <a:pPr algn="l">
              <a:lnSpc>
                <a:spcPct val="128000"/>
              </a:lnSpc>
              <a:spcAft>
                <a:spcPts val="300"/>
              </a:spcAft>
            </a:pPr>
            <a:r>
              <a:rPr sz="1650" b="0">
                <a:solidFill>
                  <a:srgbClr val="333F4F"/>
                </a:solidFill>
                <a:latin typeface="微软雅黑"/>
                <a:ea typeface="微软雅黑"/>
              </a:rPr>
              <a:t>在对应尺度上跨模态交互，按当前帧各模态的清晰程度动态调整融合权重。</a:t>
            </a:r>
          </a:p>
        </p:txBody>
      </p:sp>
      <p:sp>
        <p:nvSpPr>
          <p:cNvPr id="56" name="Rounded Rectangle 55"/>
          <p:cNvSpPr/>
          <p:nvPr/>
        </p:nvSpPr>
        <p:spPr>
          <a:xfrm>
            <a:off x="6263640" y="3611879"/>
            <a:ext cx="402336" cy="402336"/>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03</a:t>
            </a:r>
          </a:p>
        </p:txBody>
      </p:sp>
      <p:sp>
        <p:nvSpPr>
          <p:cNvPr id="57" name="TextBox 56"/>
          <p:cNvSpPr txBox="1"/>
          <p:nvPr/>
        </p:nvSpPr>
        <p:spPr>
          <a:xfrm>
            <a:off x="6830568" y="3557016"/>
            <a:ext cx="4142232" cy="1005840"/>
          </a:xfrm>
          <a:prstGeom prst="rect">
            <a:avLst/>
          </a:prstGeom>
          <a:noFill/>
        </p:spPr>
        <p:txBody>
          <a:bodyPr wrap="square" lIns="0" tIns="0" rIns="0" bIns="0" anchor="t">
            <a:spAutoFit/>
          </a:bodyPr>
          <a:lstStyle/>
          <a:p>
            <a:pPr algn="l">
              <a:lnSpc>
                <a:spcPct val="128000"/>
              </a:lnSpc>
              <a:spcAft>
                <a:spcPts val="300"/>
              </a:spcAft>
            </a:pPr>
            <a:r>
              <a:rPr sz="1850" b="1">
                <a:solidFill>
                  <a:srgbClr val="172B4B"/>
                </a:solidFill>
                <a:latin typeface="微软雅黑"/>
                <a:ea typeface="微软雅黑"/>
              </a:rPr>
              <a:t>轨迹查询跨帧更新</a:t>
            </a:r>
          </a:p>
          <a:p>
            <a:pPr algn="l">
              <a:lnSpc>
                <a:spcPct val="128000"/>
              </a:lnSpc>
              <a:spcAft>
                <a:spcPts val="300"/>
              </a:spcAft>
            </a:pPr>
            <a:r>
              <a:rPr sz="1650" b="0">
                <a:solidFill>
                  <a:srgbClr val="333F4F"/>
                </a:solidFill>
                <a:latin typeface="微软雅黑"/>
                <a:ea typeface="微软雅黑"/>
              </a:rPr>
              <a:t>解码器以轨迹查询访问双模态融合特征，统一完成目标产生、持续与退出。</a:t>
            </a:r>
          </a:p>
        </p:txBody>
      </p:sp>
      <p:sp>
        <p:nvSpPr>
          <p:cNvPr id="58" name="Rounded Rectangle 57"/>
          <p:cNvSpPr/>
          <p:nvPr/>
        </p:nvSpPr>
        <p:spPr>
          <a:xfrm>
            <a:off x="6263640" y="4800600"/>
            <a:ext cx="402336" cy="402336"/>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04</a:t>
            </a:r>
          </a:p>
        </p:txBody>
      </p:sp>
      <p:sp>
        <p:nvSpPr>
          <p:cNvPr id="59" name="TextBox 58"/>
          <p:cNvSpPr txBox="1"/>
          <p:nvPr/>
        </p:nvSpPr>
        <p:spPr>
          <a:xfrm>
            <a:off x="6830568" y="4745736"/>
            <a:ext cx="4142232" cy="1005840"/>
          </a:xfrm>
          <a:prstGeom prst="rect">
            <a:avLst/>
          </a:prstGeom>
          <a:noFill/>
        </p:spPr>
        <p:txBody>
          <a:bodyPr wrap="square" lIns="0" tIns="0" rIns="0" bIns="0" anchor="t">
            <a:spAutoFit/>
          </a:bodyPr>
          <a:lstStyle/>
          <a:p>
            <a:pPr algn="l">
              <a:lnSpc>
                <a:spcPct val="128000"/>
              </a:lnSpc>
              <a:spcAft>
                <a:spcPts val="300"/>
              </a:spcAft>
            </a:pPr>
            <a:r>
              <a:rPr sz="1850" b="1">
                <a:solidFill>
                  <a:srgbClr val="172B4B"/>
                </a:solidFill>
                <a:latin typeface="微软雅黑"/>
                <a:ea typeface="微软雅黑"/>
              </a:rPr>
              <a:t>短期轨迹状态记忆</a:t>
            </a:r>
          </a:p>
          <a:p>
            <a:pPr algn="l">
              <a:lnSpc>
                <a:spcPct val="128000"/>
              </a:lnSpc>
              <a:spcAft>
                <a:spcPts val="300"/>
              </a:spcAft>
            </a:pPr>
            <a:r>
              <a:rPr sz="1650" b="0">
                <a:solidFill>
                  <a:srgbClr val="333F4F"/>
                </a:solidFill>
                <a:latin typeface="微软雅黑"/>
                <a:ea typeface="微软雅黑"/>
              </a:rPr>
              <a:t>为轨迹查询引入短期记忆，短时遮挡或单帧漏检时保留状态并恢复轨迹。</a:t>
            </a:r>
          </a:p>
        </p:txBody>
      </p:sp>
      <p:sp>
        <p:nvSpPr>
          <p:cNvPr id="17" name="Rounded Rectangle 59">
            <a:extLst>
              <a:ext uri="{FF2B5EF4-FFF2-40B4-BE49-F238E27FC236}">
                <a16:creationId xmlns:a16="http://schemas.microsoft.com/office/drawing/2014/main" id="{C317364D-B362-30FA-4172-34310028A973}"/>
              </a:ext>
            </a:extLst>
          </p:cNvPr>
          <p:cNvSpPr/>
          <p:nvPr/>
        </p:nvSpPr>
        <p:spPr>
          <a:xfrm>
            <a:off x="365760" y="1078992"/>
            <a:ext cx="5623560" cy="4828032"/>
          </a:xfrm>
          <a:prstGeom prst="roundRect">
            <a:avLst>
              <a:gd name="adj" fmla="val 4000"/>
            </a:avLst>
          </a:prstGeom>
          <a:solidFill>
            <a:srgbClr val="FFFFFF"/>
          </a:solidFill>
          <a:ln w="1270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37">
            <a:extLst>
              <a:ext uri="{FF2B5EF4-FFF2-40B4-BE49-F238E27FC236}">
                <a16:creationId xmlns:a16="http://schemas.microsoft.com/office/drawing/2014/main" id="{41F53C4B-5140-D20F-4EBD-2F9F10C35E14}"/>
              </a:ext>
            </a:extLst>
          </p:cNvPr>
          <p:cNvSpPr/>
          <p:nvPr/>
        </p:nvSpPr>
        <p:spPr>
          <a:xfrm>
            <a:off x="502920" y="1188720"/>
            <a:ext cx="2560320" cy="475488"/>
          </a:xfrm>
          <a:prstGeom prst="roundRect">
            <a:avLst>
              <a:gd name="adj" fmla="val 16000"/>
            </a:avLst>
          </a:prstGeom>
          <a:solidFill>
            <a:srgbClr val="F1EFE8"/>
          </a:solidFill>
          <a:ln w="12700">
            <a:solidFill>
              <a:srgbClr val="959490"/>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50" b="0">
                <a:solidFill>
                  <a:srgbClr val="2C2C2A"/>
                </a:solidFill>
                <a:latin typeface="微软雅黑"/>
                <a:cs typeface="微软雅黑"/>
              </a:rPr>
              <a:t>可见光多尺度特征</a:t>
            </a:r>
          </a:p>
        </p:txBody>
      </p:sp>
      <p:sp>
        <p:nvSpPr>
          <p:cNvPr id="19" name="Rounded Rectangle 38">
            <a:extLst>
              <a:ext uri="{FF2B5EF4-FFF2-40B4-BE49-F238E27FC236}">
                <a16:creationId xmlns:a16="http://schemas.microsoft.com/office/drawing/2014/main" id="{F9E199AD-404D-C661-88AE-1E2788194823}"/>
              </a:ext>
            </a:extLst>
          </p:cNvPr>
          <p:cNvSpPr/>
          <p:nvPr/>
        </p:nvSpPr>
        <p:spPr>
          <a:xfrm>
            <a:off x="3291839" y="1188720"/>
            <a:ext cx="2560320" cy="475488"/>
          </a:xfrm>
          <a:prstGeom prst="roundRect">
            <a:avLst>
              <a:gd name="adj" fmla="val 16000"/>
            </a:avLst>
          </a:prstGeom>
          <a:solidFill>
            <a:srgbClr val="F1EFE8"/>
          </a:solidFill>
          <a:ln w="12700">
            <a:solidFill>
              <a:srgbClr val="959490"/>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50" b="0">
                <a:solidFill>
                  <a:srgbClr val="2C2C2A"/>
                </a:solidFill>
                <a:latin typeface="微软雅黑"/>
                <a:cs typeface="微软雅黑"/>
              </a:rPr>
              <a:t>红外多尺度特征</a:t>
            </a:r>
          </a:p>
        </p:txBody>
      </p:sp>
      <p:sp>
        <p:nvSpPr>
          <p:cNvPr id="20" name="Isosceles Triangle 39">
            <a:extLst>
              <a:ext uri="{FF2B5EF4-FFF2-40B4-BE49-F238E27FC236}">
                <a16:creationId xmlns:a16="http://schemas.microsoft.com/office/drawing/2014/main" id="{8E096F42-9D59-1A39-7763-25D697114459}"/>
              </a:ext>
            </a:extLst>
          </p:cNvPr>
          <p:cNvSpPr/>
          <p:nvPr/>
        </p:nvSpPr>
        <p:spPr>
          <a:xfrm rot="10800000">
            <a:off x="3076956" y="1700784"/>
            <a:ext cx="201168" cy="146304"/>
          </a:xfrm>
          <a:prstGeom prst="triangle">
            <a:avLst/>
          </a:prstGeom>
          <a:solidFill>
            <a:srgbClr val="A9A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40">
            <a:extLst>
              <a:ext uri="{FF2B5EF4-FFF2-40B4-BE49-F238E27FC236}">
                <a16:creationId xmlns:a16="http://schemas.microsoft.com/office/drawing/2014/main" id="{9857FF9D-71F6-609C-D0ED-96C43AB25686}"/>
              </a:ext>
            </a:extLst>
          </p:cNvPr>
          <p:cNvSpPr/>
          <p:nvPr/>
        </p:nvSpPr>
        <p:spPr>
          <a:xfrm>
            <a:off x="502920" y="1883664"/>
            <a:ext cx="5349240" cy="475488"/>
          </a:xfrm>
          <a:prstGeom prst="roundRect">
            <a:avLst>
              <a:gd name="adj" fmla="val 16000"/>
            </a:avLst>
          </a:prstGeom>
          <a:solidFill>
            <a:srgbClr val="EEE9F8"/>
          </a:solidFill>
          <a:ln w="12700">
            <a:solidFill>
              <a:srgbClr val="9B8CC8"/>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50" b="0">
                <a:solidFill>
                  <a:srgbClr val="3A2A66"/>
                </a:solidFill>
                <a:latin typeface="微软雅黑"/>
                <a:cs typeface="微软雅黑"/>
              </a:rPr>
              <a:t>跨模态注意力融合（按模态清晰度加权）</a:t>
            </a:r>
          </a:p>
        </p:txBody>
      </p:sp>
      <p:sp>
        <p:nvSpPr>
          <p:cNvPr id="22" name="Isosceles Triangle 41">
            <a:extLst>
              <a:ext uri="{FF2B5EF4-FFF2-40B4-BE49-F238E27FC236}">
                <a16:creationId xmlns:a16="http://schemas.microsoft.com/office/drawing/2014/main" id="{472E44E8-DE57-7802-CF4D-9240523F5431}"/>
              </a:ext>
            </a:extLst>
          </p:cNvPr>
          <p:cNvSpPr/>
          <p:nvPr/>
        </p:nvSpPr>
        <p:spPr>
          <a:xfrm rot="10800000">
            <a:off x="3076956" y="2377440"/>
            <a:ext cx="201168" cy="146304"/>
          </a:xfrm>
          <a:prstGeom prst="triangle">
            <a:avLst/>
          </a:prstGeom>
          <a:solidFill>
            <a:srgbClr val="A9A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42">
            <a:extLst>
              <a:ext uri="{FF2B5EF4-FFF2-40B4-BE49-F238E27FC236}">
                <a16:creationId xmlns:a16="http://schemas.microsoft.com/office/drawing/2014/main" id="{C94A4313-61D6-6930-2367-539867632860}"/>
              </a:ext>
            </a:extLst>
          </p:cNvPr>
          <p:cNvSpPr/>
          <p:nvPr/>
        </p:nvSpPr>
        <p:spPr>
          <a:xfrm>
            <a:off x="502920" y="2578608"/>
            <a:ext cx="5349240" cy="475488"/>
          </a:xfrm>
          <a:prstGeom prst="roundRect">
            <a:avLst>
              <a:gd name="adj" fmla="val 16000"/>
            </a:avLst>
          </a:prstGeom>
          <a:solidFill>
            <a:srgbClr val="E6F1FB"/>
          </a:solidFill>
          <a:ln w="12700">
            <a:solidFill>
              <a:srgbClr val="5A8DC0"/>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50" b="0">
                <a:solidFill>
                  <a:srgbClr val="042C53"/>
                </a:solidFill>
                <a:latin typeface="微软雅黑"/>
                <a:cs typeface="微软雅黑"/>
              </a:rPr>
              <a:t>Transformer 编码器</a:t>
            </a:r>
          </a:p>
        </p:txBody>
      </p:sp>
      <p:sp>
        <p:nvSpPr>
          <p:cNvPr id="24" name="Isosceles Triangle 43">
            <a:extLst>
              <a:ext uri="{FF2B5EF4-FFF2-40B4-BE49-F238E27FC236}">
                <a16:creationId xmlns:a16="http://schemas.microsoft.com/office/drawing/2014/main" id="{658F2C49-9AE8-7CE7-AF28-0C2CB1DFA501}"/>
              </a:ext>
            </a:extLst>
          </p:cNvPr>
          <p:cNvSpPr/>
          <p:nvPr/>
        </p:nvSpPr>
        <p:spPr>
          <a:xfrm rot="10800000">
            <a:off x="3076956" y="3072384"/>
            <a:ext cx="201168" cy="146304"/>
          </a:xfrm>
          <a:prstGeom prst="triangle">
            <a:avLst/>
          </a:prstGeom>
          <a:solidFill>
            <a:srgbClr val="A9A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44">
            <a:extLst>
              <a:ext uri="{FF2B5EF4-FFF2-40B4-BE49-F238E27FC236}">
                <a16:creationId xmlns:a16="http://schemas.microsoft.com/office/drawing/2014/main" id="{FB939108-5A77-7F6A-3E33-3A77FDAE40D9}"/>
              </a:ext>
            </a:extLst>
          </p:cNvPr>
          <p:cNvSpPr/>
          <p:nvPr/>
        </p:nvSpPr>
        <p:spPr>
          <a:xfrm>
            <a:off x="502920" y="3273552"/>
            <a:ext cx="2560320" cy="475488"/>
          </a:xfrm>
          <a:prstGeom prst="roundRect">
            <a:avLst>
              <a:gd name="adj" fmla="val 16000"/>
            </a:avLst>
          </a:prstGeom>
          <a:solidFill>
            <a:srgbClr val="FAEEDA"/>
          </a:solidFill>
          <a:ln w="12700">
            <a:solidFill>
              <a:srgbClr val="B08D5F"/>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50" b="0">
                <a:solidFill>
                  <a:srgbClr val="412402"/>
                </a:solidFill>
                <a:latin typeface="微软雅黑"/>
                <a:cs typeface="微软雅黑"/>
              </a:rPr>
              <a:t>目标查询：发现新船舶</a:t>
            </a:r>
          </a:p>
        </p:txBody>
      </p:sp>
      <p:sp>
        <p:nvSpPr>
          <p:cNvPr id="26" name="Rounded Rectangle 45">
            <a:extLst>
              <a:ext uri="{FF2B5EF4-FFF2-40B4-BE49-F238E27FC236}">
                <a16:creationId xmlns:a16="http://schemas.microsoft.com/office/drawing/2014/main" id="{1EC8F86B-F8A0-6B89-ECB9-C0F81CCFA166}"/>
              </a:ext>
            </a:extLst>
          </p:cNvPr>
          <p:cNvSpPr/>
          <p:nvPr/>
        </p:nvSpPr>
        <p:spPr>
          <a:xfrm>
            <a:off x="3291839" y="3273552"/>
            <a:ext cx="2560320" cy="475488"/>
          </a:xfrm>
          <a:prstGeom prst="roundRect">
            <a:avLst>
              <a:gd name="adj" fmla="val 16000"/>
            </a:avLst>
          </a:prstGeom>
          <a:solidFill>
            <a:srgbClr val="FBEAF0"/>
          </a:solidFill>
          <a:ln w="12700">
            <a:solidFill>
              <a:srgbClr val="BE7C91"/>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50" b="0">
                <a:solidFill>
                  <a:srgbClr val="4B1528"/>
                </a:solidFill>
                <a:latin typeface="微软雅黑"/>
                <a:cs typeface="微软雅黑"/>
              </a:rPr>
              <a:t>轨迹查询：延续身份</a:t>
            </a:r>
          </a:p>
        </p:txBody>
      </p:sp>
      <p:sp>
        <p:nvSpPr>
          <p:cNvPr id="27" name="Isosceles Triangle 46">
            <a:extLst>
              <a:ext uri="{FF2B5EF4-FFF2-40B4-BE49-F238E27FC236}">
                <a16:creationId xmlns:a16="http://schemas.microsoft.com/office/drawing/2014/main" id="{DA99D146-6137-5AD3-22F5-8A8F1F0D95F8}"/>
              </a:ext>
            </a:extLst>
          </p:cNvPr>
          <p:cNvSpPr/>
          <p:nvPr/>
        </p:nvSpPr>
        <p:spPr>
          <a:xfrm rot="10800000">
            <a:off x="3076956" y="3767328"/>
            <a:ext cx="201168" cy="146304"/>
          </a:xfrm>
          <a:prstGeom prst="triangle">
            <a:avLst/>
          </a:prstGeom>
          <a:solidFill>
            <a:srgbClr val="A9A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47">
            <a:extLst>
              <a:ext uri="{FF2B5EF4-FFF2-40B4-BE49-F238E27FC236}">
                <a16:creationId xmlns:a16="http://schemas.microsoft.com/office/drawing/2014/main" id="{22A4BD53-C982-127B-A840-40A433D00972}"/>
              </a:ext>
            </a:extLst>
          </p:cNvPr>
          <p:cNvSpPr/>
          <p:nvPr/>
        </p:nvSpPr>
        <p:spPr>
          <a:xfrm>
            <a:off x="502920" y="3968496"/>
            <a:ext cx="5349240" cy="475488"/>
          </a:xfrm>
          <a:prstGeom prst="roundRect">
            <a:avLst>
              <a:gd name="adj" fmla="val 16000"/>
            </a:avLst>
          </a:prstGeom>
          <a:solidFill>
            <a:srgbClr val="E6F1FB"/>
          </a:solidFill>
          <a:ln w="12700">
            <a:solidFill>
              <a:srgbClr val="5A8DC0"/>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50" b="0">
                <a:solidFill>
                  <a:srgbClr val="042C53"/>
                </a:solidFill>
                <a:latin typeface="微软雅黑"/>
                <a:cs typeface="微软雅黑"/>
              </a:rPr>
              <a:t>Transformer 解码器</a:t>
            </a:r>
          </a:p>
        </p:txBody>
      </p:sp>
      <p:sp>
        <p:nvSpPr>
          <p:cNvPr id="29" name="Isosceles Triangle 48">
            <a:extLst>
              <a:ext uri="{FF2B5EF4-FFF2-40B4-BE49-F238E27FC236}">
                <a16:creationId xmlns:a16="http://schemas.microsoft.com/office/drawing/2014/main" id="{9E198C28-C356-269C-DD54-277440DE5551}"/>
              </a:ext>
            </a:extLst>
          </p:cNvPr>
          <p:cNvSpPr/>
          <p:nvPr/>
        </p:nvSpPr>
        <p:spPr>
          <a:xfrm rot="10800000">
            <a:off x="3076956" y="4462272"/>
            <a:ext cx="201168" cy="146304"/>
          </a:xfrm>
          <a:prstGeom prst="triangle">
            <a:avLst/>
          </a:prstGeom>
          <a:solidFill>
            <a:srgbClr val="A9A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49">
            <a:extLst>
              <a:ext uri="{FF2B5EF4-FFF2-40B4-BE49-F238E27FC236}">
                <a16:creationId xmlns:a16="http://schemas.microsoft.com/office/drawing/2014/main" id="{E65D9ACC-89CD-CE71-53A5-6B2D986F49D8}"/>
              </a:ext>
            </a:extLst>
          </p:cNvPr>
          <p:cNvSpPr/>
          <p:nvPr/>
        </p:nvSpPr>
        <p:spPr>
          <a:xfrm>
            <a:off x="502920" y="4663440"/>
            <a:ext cx="5349240" cy="475488"/>
          </a:xfrm>
          <a:prstGeom prst="roundRect">
            <a:avLst>
              <a:gd name="adj" fmla="val 16000"/>
            </a:avLst>
          </a:prstGeom>
          <a:solidFill>
            <a:srgbClr val="E1F5EE"/>
          </a:solidFill>
          <a:ln w="12700">
            <a:solidFill>
              <a:srgbClr val="8DBFB2"/>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50" b="0">
                <a:solidFill>
                  <a:srgbClr val="1E4A42"/>
                </a:solidFill>
                <a:latin typeface="微软雅黑"/>
                <a:cs typeface="微软雅黑"/>
              </a:rPr>
              <a:t>位置 / 类别 / 轨迹状态更新</a:t>
            </a:r>
          </a:p>
        </p:txBody>
      </p:sp>
      <p:sp>
        <p:nvSpPr>
          <p:cNvPr id="31" name="TextBox 50">
            <a:extLst>
              <a:ext uri="{FF2B5EF4-FFF2-40B4-BE49-F238E27FC236}">
                <a16:creationId xmlns:a16="http://schemas.microsoft.com/office/drawing/2014/main" id="{BE342678-D221-0F7B-5AA4-1D0207B70B05}"/>
              </a:ext>
            </a:extLst>
          </p:cNvPr>
          <p:cNvSpPr txBox="1"/>
          <p:nvPr/>
        </p:nvSpPr>
        <p:spPr>
          <a:xfrm>
            <a:off x="502920" y="5266944"/>
            <a:ext cx="5349240" cy="548640"/>
          </a:xfrm>
          <a:prstGeom prst="rect">
            <a:avLst/>
          </a:prstGeom>
          <a:noFill/>
        </p:spPr>
        <p:txBody>
          <a:bodyPr wrap="square" lIns="0" tIns="0" rIns="0" bIns="0" anchor="t">
            <a:spAutoFit/>
          </a:bodyPr>
          <a:lstStyle/>
          <a:p>
            <a:pPr algn="ctr">
              <a:lnSpc>
                <a:spcPct val="125000"/>
              </a:lnSpc>
              <a:spcAft>
                <a:spcPts val="600"/>
              </a:spcAft>
            </a:pPr>
            <a:r>
              <a:rPr sz="1300" b="0">
                <a:solidFill>
                  <a:srgbClr val="5D6D80"/>
                </a:solidFill>
                <a:latin typeface="微软雅黑"/>
                <a:cs typeface="微软雅黑"/>
              </a:rPr>
              <a:t>轨迹查询在相邻帧之间传递并更新，统一建模目标的产生、持续与退出。</a:t>
            </a:r>
          </a:p>
        </p:txBody>
      </p:sp>
    </p:spTree>
    <p:extLst>
      <p:ext uri="{BB962C8B-B14F-4D97-AF65-F5344CB8AC3E}">
        <p14:creationId xmlns:p14="http://schemas.microsoft.com/office/powerpoint/2010/main" val="16317316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 name="Picture 28">
            <a:extLst>
              <a:ext uri="{FF2B5EF4-FFF2-40B4-BE49-F238E27FC236}">
                <a16:creationId xmlns:a16="http://schemas.microsoft.com/office/drawing/2014/main" id="{B20A6AA5-5D0A-4D03-992E-0050EC4D1372}"/>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92" name="组合 3">
            <a:extLst>
              <a:ext uri="{FF2B5EF4-FFF2-40B4-BE49-F238E27FC236}">
                <a16:creationId xmlns:a16="http://schemas.microsoft.com/office/drawing/2014/main" id="{B2B74D71-2770-434C-95E7-9D7AAED5F0D2}"/>
              </a:ext>
            </a:extLst>
          </p:cNvPr>
          <p:cNvGrpSpPr>
            <a:grpSpLocks/>
          </p:cNvGrpSpPr>
          <p:nvPr/>
        </p:nvGrpSpPr>
        <p:grpSpPr bwMode="auto">
          <a:xfrm>
            <a:off x="464577" y="165395"/>
            <a:ext cx="433338" cy="535447"/>
            <a:chOff x="10675" y="7633"/>
            <a:chExt cx="433171" cy="534549"/>
          </a:xfrm>
        </p:grpSpPr>
        <p:sp>
          <p:nvSpPr>
            <p:cNvPr id="93" name="圆角矩形 10">
              <a:extLst>
                <a:ext uri="{FF2B5EF4-FFF2-40B4-BE49-F238E27FC236}">
                  <a16:creationId xmlns:a16="http://schemas.microsoft.com/office/drawing/2014/main" id="{86CFA9B6-CEED-4904-A69F-D6C255BD88CB}"/>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107" name="图片 50">
              <a:extLst>
                <a:ext uri="{FF2B5EF4-FFF2-40B4-BE49-F238E27FC236}">
                  <a16:creationId xmlns:a16="http://schemas.microsoft.com/office/drawing/2014/main" id="{ABF4CE68-D81C-4F44-A773-6CC848DBD46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08" name="图片 107">
            <a:extLst>
              <a:ext uri="{FF2B5EF4-FFF2-40B4-BE49-F238E27FC236}">
                <a16:creationId xmlns:a16="http://schemas.microsoft.com/office/drawing/2014/main" id="{8C98C7F0-2EAA-4983-B857-6B1468208DB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109" name="TextBox 29">
            <a:extLst>
              <a:ext uri="{FF2B5EF4-FFF2-40B4-BE49-F238E27FC236}">
                <a16:creationId xmlns:a16="http://schemas.microsoft.com/office/drawing/2014/main" id="{E0866055-C9C5-4447-9B7E-C5D0E1E2E880}"/>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论文结构安排</a:t>
            </a:r>
          </a:p>
        </p:txBody>
      </p:sp>
      <p:sp>
        <p:nvSpPr>
          <p:cNvPr id="111" name="Rounded Rectangle 110"/>
          <p:cNvSpPr/>
          <p:nvPr/>
        </p:nvSpPr>
        <p:spPr>
          <a:xfrm>
            <a:off x="566928" y="1645920"/>
            <a:ext cx="960120" cy="420624"/>
          </a:xfrm>
          <a:prstGeom prst="roundRect">
            <a:avLst>
              <a:gd name="adj" fmla="val 16000"/>
            </a:avLst>
          </a:prstGeom>
          <a:solidFill>
            <a:srgbClr val="172B4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400" b="1">
                <a:solidFill>
                  <a:srgbClr val="FFFFFF"/>
                </a:solidFill>
                <a:latin typeface="微软雅黑"/>
                <a:ea typeface="微软雅黑"/>
              </a:rPr>
              <a:t>第一章</a:t>
            </a:r>
          </a:p>
        </p:txBody>
      </p:sp>
      <p:sp>
        <p:nvSpPr>
          <p:cNvPr id="112" name="TextBox 111"/>
          <p:cNvSpPr txBox="1"/>
          <p:nvPr/>
        </p:nvSpPr>
        <p:spPr>
          <a:xfrm>
            <a:off x="1691640" y="1591056"/>
            <a:ext cx="9235440" cy="822960"/>
          </a:xfrm>
          <a:prstGeom prst="rect">
            <a:avLst/>
          </a:prstGeom>
          <a:noFill/>
        </p:spPr>
        <p:txBody>
          <a:bodyPr wrap="square" lIns="0" tIns="0" rIns="0" bIns="0" anchor="t">
            <a:spAutoFit/>
          </a:bodyPr>
          <a:lstStyle/>
          <a:p>
            <a:pPr algn="l">
              <a:lnSpc>
                <a:spcPct val="124000"/>
              </a:lnSpc>
              <a:spcAft>
                <a:spcPts val="0"/>
              </a:spcAft>
            </a:pPr>
            <a:r>
              <a:rPr sz="1800" b="1">
                <a:solidFill>
                  <a:srgbClr val="172B4B"/>
                </a:solidFill>
                <a:latin typeface="微软雅黑"/>
                <a:ea typeface="微软雅黑"/>
              </a:rPr>
              <a:t>绪   论</a:t>
            </a:r>
          </a:p>
          <a:p>
            <a:pPr algn="l">
              <a:lnSpc>
                <a:spcPct val="124000"/>
              </a:lnSpc>
              <a:spcAft>
                <a:spcPts val="0"/>
              </a:spcAft>
            </a:pPr>
            <a:r>
              <a:rPr sz="1550" b="0">
                <a:solidFill>
                  <a:srgbClr val="333F4F"/>
                </a:solidFill>
                <a:latin typeface="微软雅黑"/>
                <a:ea typeface="微软雅黑"/>
              </a:rPr>
              <a:t>研究背景与意义、国内外研究现状，现有方法在双模态特征利用、身份保持与跨帧状态建模上的不足。</a:t>
            </a:r>
          </a:p>
        </p:txBody>
      </p:sp>
      <p:sp>
        <p:nvSpPr>
          <p:cNvPr id="113" name="Rounded Rectangle 112"/>
          <p:cNvSpPr/>
          <p:nvPr/>
        </p:nvSpPr>
        <p:spPr>
          <a:xfrm>
            <a:off x="566928" y="2578608"/>
            <a:ext cx="960120" cy="420624"/>
          </a:xfrm>
          <a:prstGeom prst="roundRect">
            <a:avLst>
              <a:gd name="adj" fmla="val 16000"/>
            </a:avLst>
          </a:prstGeom>
          <a:solidFill>
            <a:srgbClr val="172B4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400" b="1">
                <a:solidFill>
                  <a:srgbClr val="FFFFFF"/>
                </a:solidFill>
                <a:latin typeface="微软雅黑"/>
                <a:ea typeface="微软雅黑"/>
              </a:rPr>
              <a:t>第二章</a:t>
            </a:r>
          </a:p>
        </p:txBody>
      </p:sp>
      <p:sp>
        <p:nvSpPr>
          <p:cNvPr id="114" name="TextBox 113"/>
          <p:cNvSpPr txBox="1"/>
          <p:nvPr/>
        </p:nvSpPr>
        <p:spPr>
          <a:xfrm>
            <a:off x="1691640" y="2523744"/>
            <a:ext cx="9235440" cy="822960"/>
          </a:xfrm>
          <a:prstGeom prst="rect">
            <a:avLst/>
          </a:prstGeom>
          <a:noFill/>
        </p:spPr>
        <p:txBody>
          <a:bodyPr wrap="square" lIns="0" tIns="0" rIns="0" bIns="0" anchor="t">
            <a:spAutoFit/>
          </a:bodyPr>
          <a:lstStyle/>
          <a:p>
            <a:pPr algn="l">
              <a:lnSpc>
                <a:spcPct val="124000"/>
              </a:lnSpc>
              <a:spcAft>
                <a:spcPts val="0"/>
              </a:spcAft>
            </a:pPr>
            <a:r>
              <a:rPr sz="1800" b="1">
                <a:solidFill>
                  <a:srgbClr val="172B4B"/>
                </a:solidFill>
                <a:latin typeface="微软雅黑"/>
                <a:ea typeface="微软雅黑"/>
              </a:rPr>
              <a:t>可见光—红外船舶跟踪数据集构建</a:t>
            </a:r>
          </a:p>
          <a:p>
            <a:pPr algn="l">
              <a:lnSpc>
                <a:spcPct val="124000"/>
              </a:lnSpc>
              <a:spcAft>
                <a:spcPts val="0"/>
              </a:spcAft>
            </a:pPr>
            <a:r>
              <a:rPr sz="1550" b="0">
                <a:solidFill>
                  <a:srgbClr val="333F4F"/>
                </a:solidFill>
                <a:latin typeface="微软雅黑"/>
                <a:ea typeface="微软雅黑"/>
              </a:rPr>
              <a:t>双模态帧配对、CVAT 标注与质量核验，生成检测 / 身份嵌入 / 连续帧跟踪所需格式并划分数据集。</a:t>
            </a:r>
          </a:p>
        </p:txBody>
      </p:sp>
      <p:sp>
        <p:nvSpPr>
          <p:cNvPr id="115" name="Rounded Rectangle 114"/>
          <p:cNvSpPr/>
          <p:nvPr/>
        </p:nvSpPr>
        <p:spPr>
          <a:xfrm>
            <a:off x="566928" y="3511296"/>
            <a:ext cx="960120" cy="420624"/>
          </a:xfrm>
          <a:prstGeom prst="roundRect">
            <a:avLst>
              <a:gd name="adj" fmla="val 16000"/>
            </a:avLst>
          </a:prstGeom>
          <a:solidFill>
            <a:srgbClr val="172B4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400" b="1">
                <a:solidFill>
                  <a:srgbClr val="FFFFFF"/>
                </a:solidFill>
                <a:latin typeface="微软雅黑"/>
                <a:ea typeface="微软雅黑"/>
              </a:rPr>
              <a:t>第三章</a:t>
            </a:r>
          </a:p>
        </p:txBody>
      </p:sp>
      <p:sp>
        <p:nvSpPr>
          <p:cNvPr id="116" name="TextBox 115"/>
          <p:cNvSpPr txBox="1"/>
          <p:nvPr/>
        </p:nvSpPr>
        <p:spPr>
          <a:xfrm>
            <a:off x="1691640" y="3456432"/>
            <a:ext cx="9235440" cy="822960"/>
          </a:xfrm>
          <a:prstGeom prst="rect">
            <a:avLst/>
          </a:prstGeom>
          <a:noFill/>
        </p:spPr>
        <p:txBody>
          <a:bodyPr wrap="square" lIns="0" tIns="0" rIns="0" bIns="0" anchor="t">
            <a:spAutoFit/>
          </a:bodyPr>
          <a:lstStyle/>
          <a:p>
            <a:pPr algn="l">
              <a:lnSpc>
                <a:spcPct val="124000"/>
              </a:lnSpc>
              <a:spcAft>
                <a:spcPts val="0"/>
              </a:spcAft>
            </a:pPr>
            <a:r>
              <a:rPr sz="1800" b="1">
                <a:solidFill>
                  <a:srgbClr val="172B4B"/>
                </a:solidFill>
                <a:latin typeface="微软雅黑"/>
                <a:ea typeface="微软雅黑"/>
              </a:rPr>
              <a:t>检测后跟踪算法研究</a:t>
            </a:r>
          </a:p>
          <a:p>
            <a:pPr algn="l">
              <a:lnSpc>
                <a:spcPct val="124000"/>
              </a:lnSpc>
              <a:spcAft>
                <a:spcPts val="0"/>
              </a:spcAft>
            </a:pPr>
            <a:r>
              <a:rPr sz="1550" b="0">
                <a:solidFill>
                  <a:srgbClr val="333F4F"/>
                </a:solidFill>
                <a:latin typeface="微软雅黑"/>
                <a:ea typeface="微软雅黑"/>
              </a:rPr>
              <a:t>改进 ByteTrack 支持双模态输入，研究跨模态检测框融合、置信度协同与关联代价改进。</a:t>
            </a:r>
          </a:p>
        </p:txBody>
      </p:sp>
      <p:sp>
        <p:nvSpPr>
          <p:cNvPr id="117" name="Rounded Rectangle 116"/>
          <p:cNvSpPr/>
          <p:nvPr/>
        </p:nvSpPr>
        <p:spPr>
          <a:xfrm>
            <a:off x="566928" y="4443983"/>
            <a:ext cx="960120" cy="420624"/>
          </a:xfrm>
          <a:prstGeom prst="roundRect">
            <a:avLst>
              <a:gd name="adj" fmla="val 16000"/>
            </a:avLst>
          </a:prstGeom>
          <a:solidFill>
            <a:srgbClr val="172B4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400" b="1">
                <a:solidFill>
                  <a:srgbClr val="FFFFFF"/>
                </a:solidFill>
                <a:latin typeface="微软雅黑"/>
                <a:ea typeface="微软雅黑"/>
              </a:rPr>
              <a:t>第四章</a:t>
            </a:r>
          </a:p>
        </p:txBody>
      </p:sp>
      <p:sp>
        <p:nvSpPr>
          <p:cNvPr id="118" name="TextBox 117"/>
          <p:cNvSpPr txBox="1"/>
          <p:nvPr/>
        </p:nvSpPr>
        <p:spPr>
          <a:xfrm>
            <a:off x="1691640" y="4389120"/>
            <a:ext cx="9235440" cy="822960"/>
          </a:xfrm>
          <a:prstGeom prst="rect">
            <a:avLst/>
          </a:prstGeom>
          <a:noFill/>
        </p:spPr>
        <p:txBody>
          <a:bodyPr wrap="square" lIns="0" tIns="0" rIns="0" bIns="0" anchor="t">
            <a:spAutoFit/>
          </a:bodyPr>
          <a:lstStyle/>
          <a:p>
            <a:pPr algn="l">
              <a:lnSpc>
                <a:spcPct val="124000"/>
              </a:lnSpc>
              <a:spcAft>
                <a:spcPts val="0"/>
              </a:spcAft>
            </a:pPr>
            <a:r>
              <a:rPr sz="1800" b="1">
                <a:solidFill>
                  <a:srgbClr val="172B4B"/>
                </a:solidFill>
                <a:latin typeface="微软雅黑"/>
                <a:ea typeface="微软雅黑"/>
              </a:rPr>
              <a:t>联合检测与身份嵌入算法研究</a:t>
            </a:r>
          </a:p>
          <a:p>
            <a:pPr algn="l">
              <a:lnSpc>
                <a:spcPct val="124000"/>
              </a:lnSpc>
              <a:spcAft>
                <a:spcPts val="0"/>
              </a:spcAft>
            </a:pPr>
            <a:r>
              <a:rPr sz="1550" b="0">
                <a:solidFill>
                  <a:srgbClr val="333F4F"/>
                </a:solidFill>
                <a:latin typeface="微软雅黑"/>
                <a:ea typeface="微软雅黑"/>
              </a:rPr>
              <a:t>以 FairMOT 为基线构建双分支特征提取与融合结构，研究跨模态身份一致性对相似船舶的区分作用。</a:t>
            </a:r>
          </a:p>
        </p:txBody>
      </p:sp>
      <p:sp>
        <p:nvSpPr>
          <p:cNvPr id="119" name="Rounded Rectangle 118"/>
          <p:cNvSpPr/>
          <p:nvPr/>
        </p:nvSpPr>
        <p:spPr>
          <a:xfrm>
            <a:off x="566928" y="5376672"/>
            <a:ext cx="960120" cy="420624"/>
          </a:xfrm>
          <a:prstGeom prst="roundRect">
            <a:avLst>
              <a:gd name="adj" fmla="val 16000"/>
            </a:avLst>
          </a:prstGeom>
          <a:solidFill>
            <a:srgbClr val="172B4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400" b="1">
                <a:solidFill>
                  <a:srgbClr val="FFFFFF"/>
                </a:solidFill>
                <a:latin typeface="微软雅黑"/>
                <a:ea typeface="微软雅黑"/>
              </a:rPr>
              <a:t>第五章</a:t>
            </a:r>
          </a:p>
        </p:txBody>
      </p:sp>
      <p:sp>
        <p:nvSpPr>
          <p:cNvPr id="120" name="TextBox 119"/>
          <p:cNvSpPr txBox="1"/>
          <p:nvPr/>
        </p:nvSpPr>
        <p:spPr>
          <a:xfrm>
            <a:off x="1691640" y="5321808"/>
            <a:ext cx="9235440" cy="822960"/>
          </a:xfrm>
          <a:prstGeom prst="rect">
            <a:avLst/>
          </a:prstGeom>
          <a:noFill/>
        </p:spPr>
        <p:txBody>
          <a:bodyPr wrap="square" lIns="0" tIns="0" rIns="0" bIns="0" anchor="t">
            <a:spAutoFit/>
          </a:bodyPr>
          <a:lstStyle/>
          <a:p>
            <a:pPr algn="l">
              <a:lnSpc>
                <a:spcPct val="124000"/>
              </a:lnSpc>
              <a:spcAft>
                <a:spcPts val="0"/>
              </a:spcAft>
            </a:pPr>
            <a:r>
              <a:rPr sz="1800" b="1">
                <a:solidFill>
                  <a:srgbClr val="172B4B"/>
                </a:solidFill>
                <a:latin typeface="微软雅黑"/>
                <a:ea typeface="微软雅黑"/>
              </a:rPr>
              <a:t>联合检测跟踪算法研究</a:t>
            </a:r>
          </a:p>
          <a:p>
            <a:pPr algn="l">
              <a:lnSpc>
                <a:spcPct val="124000"/>
              </a:lnSpc>
              <a:spcAft>
                <a:spcPts val="0"/>
              </a:spcAft>
            </a:pPr>
            <a:r>
              <a:rPr sz="1550" b="0">
                <a:solidFill>
                  <a:srgbClr val="333F4F"/>
                </a:solidFill>
                <a:latin typeface="微软雅黑"/>
                <a:ea typeface="微软雅黑"/>
              </a:rPr>
              <a:t>以 MOTR 为基线引入双模态融合模块，研究其对检测、轨迹查询更新与身份保持的作用。</a:t>
            </a:r>
          </a:p>
        </p:txBody>
      </p:sp>
    </p:spTree>
    <p:extLst>
      <p:ext uri="{BB962C8B-B14F-4D97-AF65-F5344CB8AC3E}">
        <p14:creationId xmlns:p14="http://schemas.microsoft.com/office/powerpoint/2010/main" val="36418681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8" name="Picture 28">
            <a:extLst>
              <a:ext uri="{FF2B5EF4-FFF2-40B4-BE49-F238E27FC236}">
                <a16:creationId xmlns:a16="http://schemas.microsoft.com/office/drawing/2014/main" id="{1899F899-27C4-401F-8F83-B04F442FFAA3}"/>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49" name="组合 3">
            <a:extLst>
              <a:ext uri="{FF2B5EF4-FFF2-40B4-BE49-F238E27FC236}">
                <a16:creationId xmlns:a16="http://schemas.microsoft.com/office/drawing/2014/main" id="{A3205597-7829-47B5-B5C0-BDF521437022}"/>
              </a:ext>
            </a:extLst>
          </p:cNvPr>
          <p:cNvGrpSpPr>
            <a:grpSpLocks/>
          </p:cNvGrpSpPr>
          <p:nvPr/>
        </p:nvGrpSpPr>
        <p:grpSpPr bwMode="auto">
          <a:xfrm>
            <a:off x="464577" y="165395"/>
            <a:ext cx="433338" cy="535447"/>
            <a:chOff x="10675" y="7633"/>
            <a:chExt cx="433171" cy="534549"/>
          </a:xfrm>
        </p:grpSpPr>
        <p:sp>
          <p:nvSpPr>
            <p:cNvPr id="50" name="圆角矩形 10">
              <a:extLst>
                <a:ext uri="{FF2B5EF4-FFF2-40B4-BE49-F238E27FC236}">
                  <a16:creationId xmlns:a16="http://schemas.microsoft.com/office/drawing/2014/main" id="{E2176DB0-A06D-48B4-9CA7-2CA474C28001}"/>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51" name="图片 50">
              <a:extLst>
                <a:ext uri="{FF2B5EF4-FFF2-40B4-BE49-F238E27FC236}">
                  <a16:creationId xmlns:a16="http://schemas.microsoft.com/office/drawing/2014/main" id="{594B5C90-D652-45A4-9F17-0DFA694B12B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2" name="图片 51">
            <a:extLst>
              <a:ext uri="{FF2B5EF4-FFF2-40B4-BE49-F238E27FC236}">
                <a16:creationId xmlns:a16="http://schemas.microsoft.com/office/drawing/2014/main" id="{8B7D880C-1E0A-4EEF-93FD-0DC01ACD9D2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53" name="TextBox 29">
            <a:extLst>
              <a:ext uri="{FF2B5EF4-FFF2-40B4-BE49-F238E27FC236}">
                <a16:creationId xmlns:a16="http://schemas.microsoft.com/office/drawing/2014/main" id="{92B53894-6DFA-42FA-9E60-EB758FF9728A}"/>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预期时间安排</a:t>
            </a:r>
          </a:p>
        </p:txBody>
      </p:sp>
      <p:graphicFrame>
        <p:nvGraphicFramePr>
          <p:cNvPr id="54" name="Table 53"/>
          <p:cNvGraphicFramePr>
            <a:graphicFrameLocks noGrp="1"/>
          </p:cNvGraphicFramePr>
          <p:nvPr/>
        </p:nvGraphicFramePr>
        <p:xfrm>
          <a:off x="548640" y="1325880"/>
          <a:ext cx="10424160" cy="4617720"/>
        </p:xfrm>
        <a:graphic>
          <a:graphicData uri="http://schemas.openxmlformats.org/drawingml/2006/table">
            <a:tbl>
              <a:tblPr>
                <a:tableStyleId>{5C22544A-7EE6-4342-B048-85BDC9FD1C3A}</a:tableStyleId>
              </a:tblPr>
              <a:tblGrid>
                <a:gridCol w="210312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5852160">
                  <a:extLst>
                    <a:ext uri="{9D8B030D-6E8A-4147-A177-3AD203B41FA5}">
                      <a16:colId xmlns:a16="http://schemas.microsoft.com/office/drawing/2014/main" val="20002"/>
                    </a:ext>
                  </a:extLst>
                </a:gridCol>
              </a:tblGrid>
              <a:tr h="457200">
                <a:tc>
                  <a:txBody>
                    <a:bodyPr/>
                    <a:lstStyle/>
                    <a:p>
                      <a:pPr algn="ctr">
                        <a:lnSpc>
                          <a:spcPct val="122000"/>
                        </a:lnSpc>
                      </a:pPr>
                      <a:r>
                        <a:rPr sz="1600" b="1">
                          <a:solidFill>
                            <a:srgbClr val="FFFFFF"/>
                          </a:solidFill>
                          <a:latin typeface="微软雅黑"/>
                          <a:ea typeface="微软雅黑"/>
                        </a:rPr>
                        <a:t>时间节点</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172B4B"/>
                    </a:solidFill>
                  </a:tcPr>
                </a:tc>
                <a:tc>
                  <a:txBody>
                    <a:bodyPr/>
                    <a:lstStyle/>
                    <a:p>
                      <a:pPr algn="ctr">
                        <a:lnSpc>
                          <a:spcPct val="122000"/>
                        </a:lnSpc>
                      </a:pPr>
                      <a:r>
                        <a:rPr sz="1600" b="1">
                          <a:solidFill>
                            <a:srgbClr val="FFFFFF"/>
                          </a:solidFill>
                          <a:latin typeface="微软雅黑"/>
                          <a:ea typeface="微软雅黑"/>
                        </a:rPr>
                        <a:t>研究阶段</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172B4B"/>
                    </a:solidFill>
                  </a:tcPr>
                </a:tc>
                <a:tc>
                  <a:txBody>
                    <a:bodyPr/>
                    <a:lstStyle/>
                    <a:p>
                      <a:pPr algn="l">
                        <a:lnSpc>
                          <a:spcPct val="122000"/>
                        </a:lnSpc>
                      </a:pPr>
                      <a:r>
                        <a:rPr sz="1600" b="1">
                          <a:solidFill>
                            <a:srgbClr val="FFFFFF"/>
                          </a:solidFill>
                          <a:latin typeface="微软雅黑"/>
                          <a:ea typeface="微软雅黑"/>
                        </a:rPr>
                        <a:t>主要工作内容</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172B4B"/>
                    </a:solidFill>
                  </a:tcPr>
                </a:tc>
                <a:extLst>
                  <a:ext uri="{0D108BD9-81ED-4DB2-BD59-A6C34878D82A}">
                    <a16:rowId xmlns:a16="http://schemas.microsoft.com/office/drawing/2014/main" val="10000"/>
                  </a:ext>
                </a:extLst>
              </a:tr>
              <a:tr h="594360">
                <a:tc>
                  <a:txBody>
                    <a:bodyPr/>
                    <a:lstStyle/>
                    <a:p>
                      <a:pPr algn="ctr">
                        <a:lnSpc>
                          <a:spcPct val="122000"/>
                        </a:lnSpc>
                      </a:pPr>
                      <a:r>
                        <a:rPr sz="1450" b="1">
                          <a:solidFill>
                            <a:srgbClr val="1F3864"/>
                          </a:solidFill>
                          <a:latin typeface="微软雅黑"/>
                          <a:ea typeface="微软雅黑"/>
                        </a:rPr>
                        <a:t>2026.08–2026.09</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tc>
                  <a:txBody>
                    <a:bodyPr/>
                    <a:lstStyle/>
                    <a:p>
                      <a:pPr algn="ctr">
                        <a:lnSpc>
                          <a:spcPct val="122000"/>
                        </a:lnSpc>
                      </a:pPr>
                      <a:r>
                        <a:rPr sz="1450" b="1">
                          <a:solidFill>
                            <a:srgbClr val="1E6FB9"/>
                          </a:solidFill>
                          <a:latin typeface="微软雅黑"/>
                          <a:ea typeface="微软雅黑"/>
                        </a:rPr>
                        <a:t>文献调研与开题</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tc>
                  <a:txBody>
                    <a:bodyPr/>
                    <a:lstStyle/>
                    <a:p>
                      <a:pPr algn="l">
                        <a:lnSpc>
                          <a:spcPct val="122000"/>
                        </a:lnSpc>
                      </a:pPr>
                      <a:r>
                        <a:rPr sz="1450" b="0">
                          <a:solidFill>
                            <a:srgbClr val="333F4F"/>
                          </a:solidFill>
                          <a:latin typeface="微软雅黑"/>
                          <a:ea typeface="微软雅黑"/>
                        </a:rPr>
                        <a:t>阅读相关文献、搜集资料，完成开题报告撰写与开题答辩</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extLst>
                  <a:ext uri="{0D108BD9-81ED-4DB2-BD59-A6C34878D82A}">
                    <a16:rowId xmlns:a16="http://schemas.microsoft.com/office/drawing/2014/main" val="10001"/>
                  </a:ext>
                </a:extLst>
              </a:tr>
              <a:tr h="594360">
                <a:tc>
                  <a:txBody>
                    <a:bodyPr/>
                    <a:lstStyle/>
                    <a:p>
                      <a:pPr algn="ctr">
                        <a:lnSpc>
                          <a:spcPct val="122000"/>
                        </a:lnSpc>
                      </a:pPr>
                      <a:r>
                        <a:rPr sz="1450" b="1">
                          <a:solidFill>
                            <a:srgbClr val="1F3864"/>
                          </a:solidFill>
                          <a:latin typeface="微软雅黑"/>
                          <a:ea typeface="微软雅黑"/>
                        </a:rPr>
                        <a:t>2026.10</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2F7FC"/>
                    </a:solidFill>
                  </a:tcPr>
                </a:tc>
                <a:tc>
                  <a:txBody>
                    <a:bodyPr/>
                    <a:lstStyle/>
                    <a:p>
                      <a:pPr algn="ctr">
                        <a:lnSpc>
                          <a:spcPct val="122000"/>
                        </a:lnSpc>
                      </a:pPr>
                      <a:r>
                        <a:rPr sz="1450" b="1">
                          <a:solidFill>
                            <a:srgbClr val="1E6FB9"/>
                          </a:solidFill>
                          <a:latin typeface="微软雅黑"/>
                          <a:ea typeface="微软雅黑"/>
                        </a:rPr>
                        <a:t>数据集构建</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2F7FC"/>
                    </a:solidFill>
                  </a:tcPr>
                </a:tc>
                <a:tc>
                  <a:txBody>
                    <a:bodyPr/>
                    <a:lstStyle/>
                    <a:p>
                      <a:pPr algn="l">
                        <a:lnSpc>
                          <a:spcPct val="122000"/>
                        </a:lnSpc>
                      </a:pPr>
                      <a:r>
                        <a:rPr sz="1450" b="0">
                          <a:solidFill>
                            <a:srgbClr val="333F4F"/>
                          </a:solidFill>
                          <a:latin typeface="微软雅黑"/>
                          <a:ea typeface="微软雅黑"/>
                        </a:rPr>
                        <a:t>整理双模态船舶序列，完成帧配对、CVAT 标注与质量核验</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2F7FC"/>
                    </a:solidFill>
                  </a:tcPr>
                </a:tc>
                <a:extLst>
                  <a:ext uri="{0D108BD9-81ED-4DB2-BD59-A6C34878D82A}">
                    <a16:rowId xmlns:a16="http://schemas.microsoft.com/office/drawing/2014/main" val="10002"/>
                  </a:ext>
                </a:extLst>
              </a:tr>
              <a:tr h="594360">
                <a:tc>
                  <a:txBody>
                    <a:bodyPr/>
                    <a:lstStyle/>
                    <a:p>
                      <a:pPr algn="ctr">
                        <a:lnSpc>
                          <a:spcPct val="122000"/>
                        </a:lnSpc>
                      </a:pPr>
                      <a:r>
                        <a:rPr sz="1450" b="1">
                          <a:solidFill>
                            <a:srgbClr val="1F3864"/>
                          </a:solidFill>
                          <a:latin typeface="微软雅黑"/>
                          <a:ea typeface="微软雅黑"/>
                        </a:rPr>
                        <a:t>2026.11–2027.03</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tc>
                  <a:txBody>
                    <a:bodyPr/>
                    <a:lstStyle/>
                    <a:p>
                      <a:pPr algn="ctr">
                        <a:lnSpc>
                          <a:spcPct val="122000"/>
                        </a:lnSpc>
                      </a:pPr>
                      <a:r>
                        <a:rPr sz="1450" b="1">
                          <a:solidFill>
                            <a:srgbClr val="1E6FB9"/>
                          </a:solidFill>
                          <a:latin typeface="微软雅黑"/>
                          <a:ea typeface="微软雅黑"/>
                        </a:rPr>
                        <a:t>检测后跟踪 TBD</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tc>
                  <a:txBody>
                    <a:bodyPr/>
                    <a:lstStyle/>
                    <a:p>
                      <a:pPr algn="l">
                        <a:lnSpc>
                          <a:spcPct val="122000"/>
                        </a:lnSpc>
                      </a:pPr>
                      <a:r>
                        <a:rPr sz="1450" b="0">
                          <a:solidFill>
                            <a:srgbClr val="333F4F"/>
                          </a:solidFill>
                          <a:latin typeface="微软雅黑"/>
                          <a:ea typeface="微软雅黑"/>
                        </a:rPr>
                        <a:t>研究检测后跟踪方法，改进 ByteTrack 基线并完成双模态消融</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extLst>
                  <a:ext uri="{0D108BD9-81ED-4DB2-BD59-A6C34878D82A}">
                    <a16:rowId xmlns:a16="http://schemas.microsoft.com/office/drawing/2014/main" val="10003"/>
                  </a:ext>
                </a:extLst>
              </a:tr>
              <a:tr h="594360">
                <a:tc>
                  <a:txBody>
                    <a:bodyPr/>
                    <a:lstStyle/>
                    <a:p>
                      <a:pPr algn="ctr">
                        <a:lnSpc>
                          <a:spcPct val="122000"/>
                        </a:lnSpc>
                      </a:pPr>
                      <a:r>
                        <a:rPr sz="1450" b="1">
                          <a:solidFill>
                            <a:srgbClr val="1F3864"/>
                          </a:solidFill>
                          <a:latin typeface="微软雅黑"/>
                          <a:ea typeface="微软雅黑"/>
                        </a:rPr>
                        <a:t>2027.04–2027.07</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2F7FC"/>
                    </a:solidFill>
                  </a:tcPr>
                </a:tc>
                <a:tc>
                  <a:txBody>
                    <a:bodyPr/>
                    <a:lstStyle/>
                    <a:p>
                      <a:pPr algn="ctr">
                        <a:lnSpc>
                          <a:spcPct val="122000"/>
                        </a:lnSpc>
                      </a:pPr>
                      <a:r>
                        <a:rPr sz="1450" b="1">
                          <a:solidFill>
                            <a:srgbClr val="1E6FB9"/>
                          </a:solidFill>
                          <a:latin typeface="微软雅黑"/>
                          <a:ea typeface="微软雅黑"/>
                        </a:rPr>
                        <a:t>联合检测与身份嵌入 JDE</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2F7FC"/>
                    </a:solidFill>
                  </a:tcPr>
                </a:tc>
                <a:tc>
                  <a:txBody>
                    <a:bodyPr/>
                    <a:lstStyle/>
                    <a:p>
                      <a:pPr algn="l">
                        <a:lnSpc>
                          <a:spcPct val="122000"/>
                        </a:lnSpc>
                      </a:pPr>
                      <a:r>
                        <a:rPr sz="1450" b="0">
                          <a:solidFill>
                            <a:srgbClr val="333F4F"/>
                          </a:solidFill>
                          <a:latin typeface="微软雅黑"/>
                          <a:ea typeface="微软雅黑"/>
                        </a:rPr>
                        <a:t>复现 FairMOT 基线，完成双分支融合与跨模态一致性实验</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2F7FC"/>
                    </a:solidFill>
                  </a:tcPr>
                </a:tc>
                <a:extLst>
                  <a:ext uri="{0D108BD9-81ED-4DB2-BD59-A6C34878D82A}">
                    <a16:rowId xmlns:a16="http://schemas.microsoft.com/office/drawing/2014/main" val="10004"/>
                  </a:ext>
                </a:extLst>
              </a:tr>
              <a:tr h="594360">
                <a:tc>
                  <a:txBody>
                    <a:bodyPr/>
                    <a:lstStyle/>
                    <a:p>
                      <a:pPr algn="ctr">
                        <a:lnSpc>
                          <a:spcPct val="122000"/>
                        </a:lnSpc>
                      </a:pPr>
                      <a:r>
                        <a:rPr sz="1450" b="1">
                          <a:solidFill>
                            <a:srgbClr val="1F3864"/>
                          </a:solidFill>
                          <a:latin typeface="微软雅黑"/>
                          <a:ea typeface="微软雅黑"/>
                        </a:rPr>
                        <a:t>2027.08–2027.11</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tc>
                  <a:txBody>
                    <a:bodyPr/>
                    <a:lstStyle/>
                    <a:p>
                      <a:pPr algn="ctr">
                        <a:lnSpc>
                          <a:spcPct val="122000"/>
                        </a:lnSpc>
                      </a:pPr>
                      <a:r>
                        <a:rPr sz="1450" b="1">
                          <a:solidFill>
                            <a:srgbClr val="1E6FB9"/>
                          </a:solidFill>
                          <a:latin typeface="微软雅黑"/>
                          <a:ea typeface="微软雅黑"/>
                        </a:rPr>
                        <a:t>联合检测跟踪 JDT</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tc>
                  <a:txBody>
                    <a:bodyPr/>
                    <a:lstStyle/>
                    <a:p>
                      <a:pPr algn="l">
                        <a:lnSpc>
                          <a:spcPct val="122000"/>
                        </a:lnSpc>
                      </a:pPr>
                      <a:r>
                        <a:rPr sz="1450" b="0">
                          <a:solidFill>
                            <a:srgbClr val="333F4F"/>
                          </a:solidFill>
                          <a:latin typeface="微软雅黑"/>
                          <a:ea typeface="微软雅黑"/>
                        </a:rPr>
                        <a:t>改进 MOTR，研究双模态特征对轨迹查询更新的作用</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extLst>
                  <a:ext uri="{0D108BD9-81ED-4DB2-BD59-A6C34878D82A}">
                    <a16:rowId xmlns:a16="http://schemas.microsoft.com/office/drawing/2014/main" val="10005"/>
                  </a:ext>
                </a:extLst>
              </a:tr>
              <a:tr h="594360">
                <a:tc>
                  <a:txBody>
                    <a:bodyPr/>
                    <a:lstStyle/>
                    <a:p>
                      <a:pPr algn="ctr">
                        <a:lnSpc>
                          <a:spcPct val="122000"/>
                        </a:lnSpc>
                      </a:pPr>
                      <a:r>
                        <a:rPr sz="1450" b="1">
                          <a:solidFill>
                            <a:srgbClr val="1F3864"/>
                          </a:solidFill>
                          <a:latin typeface="微软雅黑"/>
                          <a:ea typeface="微软雅黑"/>
                        </a:rPr>
                        <a:t>2027.12</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2F7FC"/>
                    </a:solidFill>
                  </a:tcPr>
                </a:tc>
                <a:tc>
                  <a:txBody>
                    <a:bodyPr/>
                    <a:lstStyle/>
                    <a:p>
                      <a:pPr algn="ctr">
                        <a:lnSpc>
                          <a:spcPct val="122000"/>
                        </a:lnSpc>
                      </a:pPr>
                      <a:r>
                        <a:rPr sz="1450" b="1">
                          <a:solidFill>
                            <a:srgbClr val="1E6FB9"/>
                          </a:solidFill>
                          <a:latin typeface="微软雅黑"/>
                          <a:ea typeface="微软雅黑"/>
                        </a:rPr>
                        <a:t>结果汇总</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2F7FC"/>
                    </a:solidFill>
                  </a:tcPr>
                </a:tc>
                <a:tc>
                  <a:txBody>
                    <a:bodyPr/>
                    <a:lstStyle/>
                    <a:p>
                      <a:pPr algn="l">
                        <a:lnSpc>
                          <a:spcPct val="122000"/>
                        </a:lnSpc>
                      </a:pPr>
                      <a:r>
                        <a:rPr sz="1450" b="0">
                          <a:solidFill>
                            <a:srgbClr val="333F4F"/>
                          </a:solidFill>
                          <a:latin typeface="微软雅黑"/>
                          <a:ea typeface="微软雅黑"/>
                        </a:rPr>
                        <a:t>汇总三类范式的对比、消融与典型序列分析结果，整理图表</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2F7FC"/>
                    </a:solidFill>
                  </a:tcPr>
                </a:tc>
                <a:extLst>
                  <a:ext uri="{0D108BD9-81ED-4DB2-BD59-A6C34878D82A}">
                    <a16:rowId xmlns:a16="http://schemas.microsoft.com/office/drawing/2014/main" val="10006"/>
                  </a:ext>
                </a:extLst>
              </a:tr>
              <a:tr h="594360">
                <a:tc>
                  <a:txBody>
                    <a:bodyPr/>
                    <a:lstStyle/>
                    <a:p>
                      <a:pPr algn="ctr">
                        <a:lnSpc>
                          <a:spcPct val="122000"/>
                        </a:lnSpc>
                      </a:pPr>
                      <a:r>
                        <a:rPr sz="1450" b="1">
                          <a:solidFill>
                            <a:srgbClr val="1F3864"/>
                          </a:solidFill>
                          <a:latin typeface="微软雅黑"/>
                          <a:ea typeface="微软雅黑"/>
                        </a:rPr>
                        <a:t>2028.01–2028.03</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tc>
                  <a:txBody>
                    <a:bodyPr/>
                    <a:lstStyle/>
                    <a:p>
                      <a:pPr algn="ctr">
                        <a:lnSpc>
                          <a:spcPct val="122000"/>
                        </a:lnSpc>
                      </a:pPr>
                      <a:r>
                        <a:rPr sz="1450" b="1">
                          <a:solidFill>
                            <a:srgbClr val="1E6FB9"/>
                          </a:solidFill>
                          <a:latin typeface="微软雅黑"/>
                          <a:ea typeface="微软雅黑"/>
                        </a:rPr>
                        <a:t>撰写与答辩</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tc>
                  <a:txBody>
                    <a:bodyPr/>
                    <a:lstStyle/>
                    <a:p>
                      <a:pPr algn="l">
                        <a:lnSpc>
                          <a:spcPct val="122000"/>
                        </a:lnSpc>
                      </a:pPr>
                      <a:r>
                        <a:rPr sz="1450" b="0">
                          <a:solidFill>
                            <a:srgbClr val="333F4F"/>
                          </a:solidFill>
                          <a:latin typeface="微软雅黑"/>
                          <a:ea typeface="微软雅黑"/>
                        </a:rPr>
                        <a:t>整理研究成果，撰写学位论文，准备论文送审与答辩</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57553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Picture 3">
            <a:extLst>
              <a:ext uri="{FF2B5EF4-FFF2-40B4-BE49-F238E27FC236}">
                <a16:creationId xmlns:a16="http://schemas.microsoft.com/office/drawing/2014/main" id="{69488D88-7688-449E-A14E-B235D7567F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6244" y="3011487"/>
            <a:ext cx="4953000" cy="4953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759744" y="1910695"/>
            <a:ext cx="5295900" cy="1938992"/>
          </a:xfrm>
          <a:prstGeom prst="rect">
            <a:avLst/>
          </a:prstGeom>
          <a:noFill/>
        </p:spPr>
        <p:txBody>
          <a:bodyPr wrap="square" rtlCol="0">
            <a:spAutoFit/>
          </a:bodyPr>
          <a:lstStyle/>
          <a:p>
            <a:pPr algn="l"/>
            <a:r>
              <a:rPr lang="zh-CN" altLang="en-US" sz="6000" dirty="0">
                <a:solidFill>
                  <a:srgbClr val="0067B4"/>
                </a:solidFill>
                <a:latin typeface="微软雅黑" panose="020B0503020204020204" pitchFamily="34" charset="-122"/>
                <a:ea typeface="微软雅黑" panose="020B0503020204020204" pitchFamily="34" charset="-122"/>
              </a:rPr>
              <a:t>感谢聆听</a:t>
            </a:r>
            <a:endParaRPr lang="en-US" altLang="zh-CN" sz="6000" dirty="0">
              <a:solidFill>
                <a:srgbClr val="0067B4"/>
              </a:solidFill>
              <a:latin typeface="微软雅黑" panose="020B0503020204020204" pitchFamily="34" charset="-122"/>
              <a:ea typeface="微软雅黑" panose="020B0503020204020204" pitchFamily="34" charset="-122"/>
            </a:endParaRPr>
          </a:p>
          <a:p>
            <a:pPr algn="l"/>
            <a:r>
              <a:rPr lang="zh-CN" altLang="en-US" sz="6000" dirty="0">
                <a:solidFill>
                  <a:srgbClr val="0067B4"/>
                </a:solidFill>
                <a:latin typeface="微软雅黑" panose="020B0503020204020204" pitchFamily="34" charset="-122"/>
                <a:ea typeface="微软雅黑" panose="020B0503020204020204" pitchFamily="34" charset="-122"/>
              </a:rPr>
              <a:t>敬请指正</a:t>
            </a:r>
            <a:endParaRPr lang="en-US" altLang="zh-CN" sz="6000" dirty="0">
              <a:solidFill>
                <a:srgbClr val="0067B4"/>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1493044" y="4897377"/>
            <a:ext cx="6667500" cy="400110"/>
          </a:xfrm>
          <a:prstGeom prst="rect">
            <a:avLst/>
          </a:prstGeom>
          <a:noFill/>
        </p:spPr>
        <p:txBody>
          <a:bodyPr wrap="square" rtlCol="0">
            <a:spAutoFit/>
          </a:bodyPr>
          <a:lstStyle/>
          <a:p>
            <a:pPr algn="l"/>
            <a:r>
              <a:rPr lang="zh-CN" altLang="en-US" sz="1800" dirty="0">
                <a:latin typeface="微软雅黑" panose="020B0503020204020204" pitchFamily="34" charset="-122"/>
                <a:ea typeface="微软雅黑" panose="020B0503020204020204" pitchFamily="34" charset="-122"/>
              </a:rPr>
              <a:t>汇报人：曹志博          2026 年 9 月</a:t>
            </a:r>
            <a:endParaRPr lang="zh-CN" altLang="en-US" sz="2000" dirty="0">
              <a:latin typeface="微软雅黑" panose="020B0503020204020204" pitchFamily="34" charset="-122"/>
              <a:ea typeface="微软雅黑" panose="020B0503020204020204" pitchFamily="34" charset="-122"/>
            </a:endParaRPr>
          </a:p>
        </p:txBody>
      </p:sp>
      <p:pic>
        <p:nvPicPr>
          <p:cNvPr id="7" name="Picture 2">
            <a:extLst>
              <a:ext uri="{FF2B5EF4-FFF2-40B4-BE49-F238E27FC236}">
                <a16:creationId xmlns:a16="http://schemas.microsoft.com/office/drawing/2014/main" id="{9629EA57-F056-46FC-9D3A-DA61560E01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0244" y="268287"/>
            <a:ext cx="6072642" cy="594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48766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Template"/>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主管人员">
  <a:themeElements>
    <a:clrScheme name="1111">
      <a:dk1>
        <a:sysClr val="windowText" lastClr="000000"/>
      </a:dk1>
      <a:lt1>
        <a:sysClr val="window" lastClr="FFFFFF"/>
      </a:lt1>
      <a:dk2>
        <a:srgbClr val="2F5897"/>
      </a:dk2>
      <a:lt2>
        <a:srgbClr val="E4E9EF"/>
      </a:lt2>
      <a:accent1>
        <a:srgbClr val="172B4B"/>
      </a:accent1>
      <a:accent2>
        <a:srgbClr val="FFC000"/>
      </a:accent2>
      <a:accent3>
        <a:srgbClr val="7F7F7F"/>
      </a:accent3>
      <a:accent4>
        <a:srgbClr val="FFFFFF"/>
      </a:accent4>
      <a:accent5>
        <a:srgbClr val="FFFFFF"/>
      </a:accent5>
      <a:accent6>
        <a:srgbClr val="FFFFFF"/>
      </a:accent6>
      <a:hlink>
        <a:srgbClr val="FFFFFF"/>
      </a:hlink>
      <a:folHlink>
        <a:srgbClr val="B2B2B2"/>
      </a:folHlink>
    </a:clrScheme>
    <a:fontScheme name="主管人员">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主管人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9616</TotalTime>
  <Words>695</Words>
  <Application>Microsoft Office PowerPoint</Application>
  <PresentationFormat>自定义</PresentationFormat>
  <Paragraphs>200</Paragraphs>
  <Slides>17</Slides>
  <Notes>17</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17</vt:i4>
      </vt:variant>
    </vt:vector>
  </HeadingPairs>
  <TitlesOfParts>
    <vt:vector size="25" baseType="lpstr">
      <vt:lpstr>等线</vt:lpstr>
      <vt:lpstr>微软雅黑</vt:lpstr>
      <vt:lpstr>Times New Roman</vt:lpstr>
      <vt:lpstr>Courier New</vt:lpstr>
      <vt:lpstr>Impact</vt:lpstr>
      <vt:lpstr>Arial</vt:lpstr>
      <vt:lpstr>Calibri</vt:lpstr>
      <vt:lpstr>主管人员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大侠素材铺</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志博 曹</cp:lastModifiedBy>
  <cp:revision>1001</cp:revision>
  <dcterms:created xsi:type="dcterms:W3CDTF">2004-08-26T06:30:40Z</dcterms:created>
  <dcterms:modified xsi:type="dcterms:W3CDTF">2026-09-17T06:05:20Z</dcterms:modified>
</cp:coreProperties>
</file>